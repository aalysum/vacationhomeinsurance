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045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Good morning, members of the panel. This is a Vacation Home Insurance Platform: ASP.NET Core 8 microservices, an Angular 18 frontend and a governed Gemini AI claims assistant, built for holiday homes in the Indian market.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Traditional platforms treat holiday homes like suburban dwellings. They sit empty for months, sit in catastrophe zones, need custom underwriting, and adjusters waste hours on long contractor bills, which causes bottlenecks and overpayment leakage.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Our solution automates quotes for low and medium risks in seconds, gives high-risk homes an underwriter queue, enforces line-item claim adjudication, protects against fraud, and gives adjusters a private Gemini assistant with zero settlement authority.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Database-per-service across five bounded contexts. Public traffic goes only through Ocelot with CORS and Polly. Services call each other directly using 5-minute internal service JWTs. Snapshots freeze contract data at every transition.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ASP.NET Core 8 and Angular 18 with Standalone Components and Signals. EF Core gives check constraints and rowversion concurrency. Ocelot and Polly provide resilience. Identity, JWT and TOTP secure access. PdfSharp renders policy certificates, PdfPig feeds the RAG index, and the official Google GenAI SDK talks to Gemini.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If the panel asks what really makes this stand out: as software it uses standard modern technologies, but as an insurtech product it solves three multi-million-rupee problems. First, vacation home economics. Second, zero claim leakage. Third, governed AI rather than uncontrolled AI. And it stays up during a cyclone surge.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Panel question: isn't this just CRUD with an insurance theme? No. A CRUD app reads and writes rows without domain rules. Ours is an actuarial state machine: risk math splits quotes into straight-through processing or underwriter review, snapshots enforce contractual immutability, sub-limit encumbrance stops overpayment, and rowversion, token rotation and governed RAG secure and govern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Quote turnaround drops from days to under two seconds for standard homes. Adjuster evidence review drops from nearly an hour to four seconds. Financial leakage is eliminated because code enforces hard mathematical caps per coverage item, and duplicates and retroactive disputes are designed out.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Steps 1–2: customer registers and adds a ₹1.5 Crore Goa villa. Steps 3–4: Comprehensive Protection; the engine scores 60 points, Medium risk, a 30-day quote of ₹94,510 per year: ₹75,000 × 1.25 + ₹425 mandatory + ₹335 optional. Step 5: idempotent payment, policy issued, PdfSharp certificate. Step 6: cyclone claim passes the guards. Steps 7–8: admin assigns Priya, who queries Gemini. Step 9: line-item approvals. Step 10: UTR recorded, Paid, Closed.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 built a defense-in-depth perimeter: single-use refresh rotation neutralizes token theft, rowversion prevents lost updates, and unvetted Claims Managers get a restricted 10-minute token until an Admin approves them. For claims, the debounce, same-day duplicate lock and magic-byte inspection stop duplicates and disguised malware.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Gemini on Vertex AI is a governed co-pilot, not a replacement for the adjuster. PdfPig extracts the estimate, embeddings and cosine similarity retrieve relevant passages, and Gemini answers with bracketed citations in under four seconds. ClaimAiAssistantService has no IClaimRepository, so it has no write access to the database, and the system prompt forbids financial commitments.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 will show both sides: the customer creating a property, receiving a real-time quote, paying and downloading the policy PDF while we trigger fraud guards; then the Claims Manager using Gemini, approving per-coverage payouts and closing the claim.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Close by restating the four takeaways, then invite questions. Ready answer for 'isn't this just CRUD?': it is an actuarial state machine with risk math, snapshot immutability, sub-limit encumbrance and governed AI.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C1D40"/>
        </a:solidFill>
        <a:effectLst/>
      </p:bgPr>
    </p:bg>
    <p:spTree>
      <p:nvGrpSpPr>
        <p:cNvPr id="1" name=""/>
        <p:cNvGrpSpPr/>
        <p:nvPr/>
      </p:nvGrpSpPr>
      <p:grpSpPr>
        <a:xfrm>
          <a:off x="0" y="0"/>
          <a:ext cx="0" cy="0"/>
          <a:chOff x="0" y="0"/>
          <a:chExt cx="0" cy="0"/>
        </a:xfrm>
      </p:grpSpPr>
      <p:sp>
        <p:nvSpPr>
          <p:cNvPr id="2" name="Shape 0"/>
          <p:cNvSpPr/>
          <p:nvPr/>
        </p:nvSpPr>
        <p:spPr>
          <a:xfrm>
            <a:off x="6035040" y="-765243"/>
            <a:ext cx="3840480" cy="6692630"/>
          </a:xfrm>
          <a:prstGeom prst="ellipse">
            <a:avLst/>
          </a:prstGeom>
          <a:solidFill>
            <a:srgbClr val="5E1230"/>
          </a:solidFill>
          <a:ln w="12700">
            <a:solidFill>
              <a:srgbClr val="5E1230"/>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6812280" y="1234440"/>
            <a:ext cx="2286000" cy="2286000"/>
          </a:xfrm>
          <a:prstGeom prst="rect">
            <a:avLst/>
          </a:prstGeom>
        </p:spPr>
      </p:pic>
      <p:sp>
        <p:nvSpPr>
          <p:cNvPr id="4" name="Text 1"/>
          <p:cNvSpPr txBox="1"/>
          <p:nvPr/>
        </p:nvSpPr>
        <p:spPr>
          <a:xfrm>
            <a:off x="548640" y="1097280"/>
            <a:ext cx="5486400" cy="274320"/>
          </a:xfrm>
          <a:prstGeom prst="rect">
            <a:avLst/>
          </a:prstGeom>
          <a:noFill/>
          <a:ln/>
        </p:spPr>
        <p:txBody>
          <a:bodyPr wrap="square" lIns="0" tIns="0" rIns="0" bIns="0" rtlCol="0" anchor="t"/>
          <a:lstStyle/>
          <a:p>
            <a:pPr marL="0" indent="0">
              <a:buNone/>
            </a:pPr>
            <a:r>
              <a:rPr lang="en-US" sz="1100" b="1" kern="0" spc="300" dirty="0">
                <a:solidFill>
                  <a:srgbClr val="EBCFDA"/>
                </a:solidFill>
                <a:latin typeface="Calibri" pitchFamily="34" charset="0"/>
                <a:ea typeface="Calibri" pitchFamily="34" charset="-122"/>
                <a:cs typeface="Calibri" pitchFamily="34" charset="-120"/>
              </a:rPr>
              <a:t>ENTERPRISE INSURTECH | .NET 8 &amp; ANGULAR 18</a:t>
            </a:r>
            <a:endParaRPr lang="en-US" sz="1100" dirty="0"/>
          </a:p>
        </p:txBody>
      </p:sp>
      <p:sp>
        <p:nvSpPr>
          <p:cNvPr id="5" name="Text 2"/>
          <p:cNvSpPr txBox="1"/>
          <p:nvPr/>
        </p:nvSpPr>
        <p:spPr>
          <a:xfrm>
            <a:off x="548640" y="1508760"/>
            <a:ext cx="5486400" cy="702013"/>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SecureSphere</a:t>
            </a:r>
          </a:p>
          <a:p>
            <a:endParaRPr lang="en-US" sz="1100" dirty="0">
              <a:solidFill>
                <a:schemeClr val="bg1">
                  <a:lumMod val="95000"/>
                </a:schemeClr>
              </a:solidFill>
              <a:latin typeface="Aptos"/>
            </a:endParaRPr>
          </a:p>
          <a:p>
            <a:r>
              <a:rPr lang="en-US" sz="1100" dirty="0">
                <a:solidFill>
                  <a:schemeClr val="bg1">
                    <a:lumMod val="95000"/>
                  </a:schemeClr>
                </a:solidFill>
                <a:latin typeface="Aptos"/>
              </a:rPr>
              <a:t>Smart protection.  From quote to claim.</a:t>
            </a:r>
          </a:p>
          <a:p>
            <a:pPr marL="0" indent="0">
              <a:buNone/>
            </a:pPr>
            <a:endParaRPr lang="en-US" sz="4000" dirty="0"/>
          </a:p>
        </p:txBody>
      </p:sp>
      <p:sp>
        <p:nvSpPr>
          <p:cNvPr id="6" name="Text 3"/>
          <p:cNvSpPr txBox="1"/>
          <p:nvPr/>
        </p:nvSpPr>
        <p:spPr>
          <a:xfrm>
            <a:off x="548641" y="3002766"/>
            <a:ext cx="5120640" cy="731520"/>
          </a:xfrm>
          <a:prstGeom prst="rect">
            <a:avLst/>
          </a:prstGeom>
          <a:noFill/>
          <a:ln/>
        </p:spPr>
        <p:txBody>
          <a:bodyPr wrap="square" lIns="0" tIns="0" rIns="0" bIns="0" rtlCol="0" anchor="t"/>
          <a:lstStyle/>
          <a:p>
            <a:r>
              <a:rPr lang="en-US" sz="1500" dirty="0">
                <a:solidFill>
                  <a:schemeClr val="bg1">
                    <a:lumMod val="85000"/>
                  </a:schemeClr>
                </a:solidFill>
                <a:latin typeface="Aptos"/>
              </a:rPr>
              <a:t>An AI-assisted, microservices-based platform for vacation-home insurance.</a:t>
            </a:r>
          </a:p>
        </p:txBody>
      </p:sp>
      <p:sp>
        <p:nvSpPr>
          <p:cNvPr id="7" name="Text 4"/>
          <p:cNvSpPr txBox="1"/>
          <p:nvPr/>
        </p:nvSpPr>
        <p:spPr>
          <a:xfrm>
            <a:off x="548640" y="3794760"/>
            <a:ext cx="548640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BOMMIDI VENKATA SWAPANTHI</a:t>
            </a:r>
            <a:endParaRPr lang="en-US" sz="1300" dirty="0"/>
          </a:p>
        </p:txBody>
      </p:sp>
      <p:sp>
        <p:nvSpPr>
          <p:cNvPr id="8" name="Text 5"/>
          <p:cNvSpPr txBox="1"/>
          <p:nvPr/>
        </p:nvSpPr>
        <p:spPr>
          <a:xfrm>
            <a:off x="548640" y="4069080"/>
            <a:ext cx="5486400" cy="274320"/>
          </a:xfrm>
          <a:prstGeom prst="rect">
            <a:avLst/>
          </a:prstGeom>
          <a:noFill/>
          <a:ln/>
        </p:spPr>
        <p:txBody>
          <a:bodyPr wrap="square" lIns="0" tIns="0" rIns="0" bIns="0" rtlCol="0" anchor="t"/>
          <a:lstStyle/>
          <a:p>
            <a:pPr marL="0" indent="0">
              <a:buNone/>
            </a:pPr>
            <a:r>
              <a:rPr lang="en-US" sz="1100" dirty="0">
                <a:solidFill>
                  <a:srgbClr val="EBCFDA"/>
                </a:solidFill>
                <a:latin typeface="Calibri" pitchFamily="34" charset="0"/>
                <a:ea typeface="Calibri" pitchFamily="34" charset="-122"/>
                <a:cs typeface="Calibri" pitchFamily="34" charset="-120"/>
              </a:rPr>
              <a:t>Capstone Project  ·  The Hartford India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marL="0" indent="0">
              <a:buNone/>
            </a:pPr>
            <a:r>
              <a:rPr lang="en-US" sz="2600" b="1" dirty="0">
                <a:solidFill>
                  <a:srgbClr val="1F1A1C"/>
                </a:solidFill>
                <a:latin typeface="Cambria" pitchFamily="34" charset="0"/>
                <a:ea typeface="Cambria" pitchFamily="34" charset="-122"/>
                <a:cs typeface="Cambria" pitchFamily="34" charset="-120"/>
              </a:rPr>
              <a:t>The Problem</a:t>
            </a:r>
            <a:endParaRPr lang="en-US" sz="26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marL="0" indent="0">
              <a:buNone/>
            </a:pPr>
            <a:r>
              <a:rPr lang="en-US" sz="1300" dirty="0">
                <a:solidFill>
                  <a:srgbClr val="6B6467"/>
                </a:solidFill>
                <a:latin typeface="Calibri" pitchFamily="34" charset="0"/>
                <a:ea typeface="Calibri" pitchFamily="34" charset="-122"/>
                <a:cs typeface="Calibri" pitchFamily="34" charset="-120"/>
              </a:rPr>
              <a:t>Holiday homes break the assumptions traditional home insurance is built on.</a:t>
            </a:r>
            <a:endParaRPr lang="en-US" sz="1300" dirty="0"/>
          </a:p>
        </p:txBody>
      </p:sp>
      <p:sp>
        <p:nvSpPr>
          <p:cNvPr id="4" name="Text 2"/>
          <p:cNvSpPr txBox="1"/>
          <p:nvPr/>
        </p:nvSpPr>
        <p:spPr>
          <a:xfrm>
            <a:off x="457200" y="4828032"/>
            <a:ext cx="5486400" cy="201168"/>
          </a:xfrm>
          <a:prstGeom prst="rect">
            <a:avLst/>
          </a:prstGeom>
          <a:noFill/>
          <a:ln/>
        </p:spPr>
        <p:txBody>
          <a:bodyPr wrap="square" lIns="0" tIns="0" rIns="0" bIns="0" rtlCol="0" anchor="ctr"/>
          <a:lstStyle/>
          <a:p>
            <a:pPr marL="0" indent="0">
              <a:buNone/>
            </a:pPr>
            <a:r>
              <a:rPr lang="en-US" sz="900" dirty="0">
                <a:solidFill>
                  <a:srgbClr val="6B6467"/>
                </a:solidFill>
                <a:latin typeface="Calibri" pitchFamily="34" charset="0"/>
                <a:ea typeface="Calibri" pitchFamily="34" charset="-122"/>
                <a:cs typeface="Calibri" pitchFamily="34" charset="-120"/>
              </a:rPr>
              <a:t>Vacation Home Insurance Platform  |  Capstone Project</a:t>
            </a:r>
            <a:endParaRPr lang="en-US" sz="900" dirty="0"/>
          </a:p>
        </p:txBody>
      </p:sp>
      <p:sp>
        <p:nvSpPr>
          <p:cNvPr id="5" name="Text 3"/>
          <p:cNvSpPr txBox="1"/>
          <p:nvPr/>
        </p:nvSpPr>
        <p:spPr>
          <a:xfrm>
            <a:off x="8229600" y="4828032"/>
            <a:ext cx="457200" cy="201168"/>
          </a:xfrm>
          <a:prstGeom prst="rect">
            <a:avLst/>
          </a:prstGeom>
          <a:noFill/>
          <a:ln/>
        </p:spPr>
        <p:txBody>
          <a:bodyPr wrap="square" lIns="0" tIns="0" rIns="0" bIns="0" rtlCol="0" anchor="ctr"/>
          <a:lstStyle/>
          <a:p>
            <a:pPr marL="0" indent="0" algn="r">
              <a:buNone/>
            </a:pPr>
            <a:r>
              <a:rPr lang="en-US" sz="900" dirty="0">
                <a:solidFill>
                  <a:srgbClr val="6B6467"/>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457200" y="1188720"/>
            <a:ext cx="2834640" cy="3429000"/>
          </a:xfrm>
          <a:prstGeom prst="rect">
            <a:avLst/>
          </a:prstGeom>
          <a:solidFill>
            <a:srgbClr val="8C1D40"/>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8" name="Text 5"/>
          <p:cNvSpPr txBox="1"/>
          <p:nvPr/>
        </p:nvSpPr>
        <p:spPr>
          <a:xfrm>
            <a:off x="640080" y="1371600"/>
            <a:ext cx="914400" cy="274320"/>
          </a:xfrm>
          <a:prstGeom prst="rect">
            <a:avLst/>
          </a:prstGeom>
          <a:noFill/>
          <a:ln/>
        </p:spPr>
        <p:txBody>
          <a:bodyPr wrap="square" lIns="0" tIns="0" rIns="0" bIns="0" rtlCol="0" anchor="t"/>
          <a:lstStyle/>
          <a:p>
            <a:pPr marL="0" indent="0">
              <a:buNone/>
            </a:pPr>
            <a:r>
              <a:rPr lang="en-US" sz="1200" b="1" dirty="0">
                <a:solidFill>
                  <a:srgbClr val="EBCFDA"/>
                </a:solidFill>
                <a:latin typeface="Calibri" pitchFamily="34" charset="0"/>
                <a:ea typeface="Calibri" pitchFamily="34" charset="-122"/>
                <a:cs typeface="Calibri" pitchFamily="34" charset="-120"/>
              </a:rPr>
              <a:t>01</a:t>
            </a:r>
            <a:endParaRPr lang="en-US" sz="1200" dirty="0"/>
          </a:p>
        </p:txBody>
      </p:sp>
      <p:sp>
        <p:nvSpPr>
          <p:cNvPr id="9" name="Text 6"/>
          <p:cNvSpPr txBox="1"/>
          <p:nvPr/>
        </p:nvSpPr>
        <p:spPr>
          <a:xfrm>
            <a:off x="640080" y="1737360"/>
            <a:ext cx="2468880" cy="1371600"/>
          </a:xfrm>
          <a:prstGeom prst="rect">
            <a:avLst/>
          </a:prstGeom>
          <a:noFill/>
          <a:ln/>
        </p:spPr>
        <p:txBody>
          <a:bodyPr wrap="square" lIns="0" tIns="0" rIns="0" bIns="0" rtlCol="0" anchor="t"/>
          <a:lstStyle/>
          <a:p>
            <a:pPr marL="0" indent="0">
              <a:buNone/>
            </a:pPr>
            <a:r>
              <a:rPr lang="en-US" sz="2000" b="1" dirty="0">
                <a:solidFill>
                  <a:srgbClr val="FFFFFF"/>
                </a:solidFill>
                <a:latin typeface="Cambria" pitchFamily="34" charset="0"/>
                <a:ea typeface="Cambria" pitchFamily="34" charset="-122"/>
                <a:cs typeface="Cambria" pitchFamily="34" charset="-120"/>
              </a:rPr>
              <a:t>An empty house turns a small leak into a total loss</a:t>
            </a:r>
            <a:endParaRPr lang="en-US" sz="2000" dirty="0"/>
          </a:p>
        </p:txBody>
      </p:sp>
      <p:sp>
        <p:nvSpPr>
          <p:cNvPr id="10" name="Text 7"/>
          <p:cNvSpPr txBox="1"/>
          <p:nvPr/>
        </p:nvSpPr>
        <p:spPr>
          <a:xfrm>
            <a:off x="640080" y="3383280"/>
            <a:ext cx="2468880" cy="914400"/>
          </a:xfrm>
          <a:prstGeom prst="rect">
            <a:avLst/>
          </a:prstGeom>
          <a:noFill/>
          <a:ln/>
        </p:spPr>
        <p:txBody>
          <a:bodyPr wrap="square" lIns="0" tIns="0" rIns="0" bIns="0" rtlCol="0" anchor="t"/>
          <a:lstStyle/>
          <a:p>
            <a:pPr marL="0" indent="0">
              <a:buNone/>
            </a:pPr>
            <a:r>
              <a:rPr lang="en-US" sz="1300" dirty="0">
                <a:solidFill>
                  <a:srgbClr val="F7E8EE"/>
                </a:solidFill>
                <a:latin typeface="Calibri" pitchFamily="34" charset="0"/>
                <a:ea typeface="Calibri" pitchFamily="34" charset="-122"/>
                <a:cs typeface="Calibri" pitchFamily="34" charset="-120"/>
              </a:rPr>
              <a:t>A ₹15,000 pipe fix becomes a ₹35,00,000 loss when nobody visits for three months.</a:t>
            </a:r>
            <a:endParaRPr lang="en-US" sz="1300" dirty="0"/>
          </a:p>
        </p:txBody>
      </p:sp>
      <p:sp>
        <p:nvSpPr>
          <p:cNvPr id="11" name="Shape 8"/>
          <p:cNvSpPr/>
          <p:nvPr/>
        </p:nvSpPr>
        <p:spPr>
          <a:xfrm>
            <a:off x="3520440" y="1188720"/>
            <a:ext cx="5166360" cy="7772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2" name="Shape 9"/>
          <p:cNvSpPr/>
          <p:nvPr/>
        </p:nvSpPr>
        <p:spPr>
          <a:xfrm>
            <a:off x="3657600" y="1353312"/>
            <a:ext cx="457200" cy="457200"/>
          </a:xfrm>
          <a:prstGeom prst="ellipse">
            <a:avLst/>
          </a:prstGeom>
          <a:solidFill>
            <a:srgbClr val="F7E8EE"/>
          </a:solidFill>
          <a:ln w="12700">
            <a:solidFill>
              <a:srgbClr val="F7E8EE"/>
            </a:solidFill>
            <a:prstDash val="solid"/>
          </a:ln>
        </p:spPr>
        <p:txBody>
          <a:bodyPr/>
          <a:lstStyle/>
          <a:p>
            <a:endParaRPr lang="en-IN"/>
          </a:p>
        </p:txBody>
      </p:sp>
      <p:pic>
        <p:nvPicPr>
          <p:cNvPr id="13" name="Image 0" descr="preencoded.png"/>
          <p:cNvPicPr>
            <a:picLocks noChangeAspect="1"/>
          </p:cNvPicPr>
          <p:nvPr/>
        </p:nvPicPr>
        <p:blipFill>
          <a:blip r:embed="rId3"/>
          <a:stretch>
            <a:fillRect/>
          </a:stretch>
        </p:blipFill>
        <p:spPr>
          <a:xfrm>
            <a:off x="3771900" y="1467612"/>
            <a:ext cx="228600" cy="228600"/>
          </a:xfrm>
          <a:prstGeom prst="rect">
            <a:avLst/>
          </a:prstGeom>
        </p:spPr>
      </p:pic>
      <p:sp>
        <p:nvSpPr>
          <p:cNvPr id="14" name="Text 10"/>
          <p:cNvSpPr txBox="1"/>
          <p:nvPr/>
        </p:nvSpPr>
        <p:spPr>
          <a:xfrm>
            <a:off x="4297680" y="1280160"/>
            <a:ext cx="4297680" cy="256032"/>
          </a:xfrm>
          <a:prstGeom prst="rect">
            <a:avLst/>
          </a:prstGeom>
          <a:noFill/>
          <a:ln/>
        </p:spPr>
        <p:txBody>
          <a:bodyPr wrap="square" lIns="0" tIns="0" rIns="0" bIns="0" rtlCol="0" anchor="t"/>
          <a:lstStyle/>
          <a:p>
            <a:pPr marL="0" indent="0">
              <a:buNone/>
            </a:pPr>
            <a:r>
              <a:rPr lang="en-US" sz="1400" b="1" dirty="0">
                <a:solidFill>
                  <a:srgbClr val="8C1D40"/>
                </a:solidFill>
                <a:latin typeface="Calibri" pitchFamily="34" charset="0"/>
                <a:ea typeface="Calibri" pitchFamily="34" charset="-122"/>
                <a:cs typeface="Calibri" pitchFamily="34" charset="-120"/>
              </a:rPr>
              <a:t>Slow, manual quoting</a:t>
            </a:r>
            <a:endParaRPr lang="en-US" sz="1400" dirty="0"/>
          </a:p>
        </p:txBody>
      </p:sp>
      <p:sp>
        <p:nvSpPr>
          <p:cNvPr id="15" name="Text 11"/>
          <p:cNvSpPr txBox="1"/>
          <p:nvPr/>
        </p:nvSpPr>
        <p:spPr>
          <a:xfrm>
            <a:off x="4297680" y="1536192"/>
            <a:ext cx="4297680" cy="41148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Manual pricing delays quotes and leads to inconsistent premiums due to missing risk scoring.</a:t>
            </a:r>
            <a:endParaRPr lang="en-US" sz="1150" dirty="0"/>
          </a:p>
        </p:txBody>
      </p:sp>
      <p:sp>
        <p:nvSpPr>
          <p:cNvPr id="16" name="Shape 12"/>
          <p:cNvSpPr/>
          <p:nvPr/>
        </p:nvSpPr>
        <p:spPr>
          <a:xfrm>
            <a:off x="3520440" y="2057400"/>
            <a:ext cx="5166360" cy="7772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7" name="Shape 13"/>
          <p:cNvSpPr/>
          <p:nvPr/>
        </p:nvSpPr>
        <p:spPr>
          <a:xfrm>
            <a:off x="3657600" y="2221992"/>
            <a:ext cx="457200" cy="457200"/>
          </a:xfrm>
          <a:prstGeom prst="ellipse">
            <a:avLst/>
          </a:prstGeom>
          <a:solidFill>
            <a:srgbClr val="F7E8EE"/>
          </a:solidFill>
          <a:ln w="12700">
            <a:solidFill>
              <a:srgbClr val="F7E8EE"/>
            </a:solidFill>
            <a:prstDash val="solid"/>
          </a:ln>
        </p:spPr>
        <p:txBody>
          <a:bodyPr/>
          <a:lstStyle/>
          <a:p>
            <a:endParaRPr lang="en-IN"/>
          </a:p>
        </p:txBody>
      </p:sp>
      <p:pic>
        <p:nvPicPr>
          <p:cNvPr id="18" name="Image 1" descr="preencoded.png"/>
          <p:cNvPicPr>
            <a:picLocks noChangeAspect="1"/>
          </p:cNvPicPr>
          <p:nvPr/>
        </p:nvPicPr>
        <p:blipFill>
          <a:blip r:embed="rId4"/>
          <a:stretch>
            <a:fillRect/>
          </a:stretch>
        </p:blipFill>
        <p:spPr>
          <a:xfrm>
            <a:off x="3771900" y="2336292"/>
            <a:ext cx="228600" cy="228600"/>
          </a:xfrm>
          <a:prstGeom prst="rect">
            <a:avLst/>
          </a:prstGeom>
        </p:spPr>
      </p:pic>
      <p:sp>
        <p:nvSpPr>
          <p:cNvPr id="19" name="Text 14"/>
          <p:cNvSpPr txBox="1"/>
          <p:nvPr/>
        </p:nvSpPr>
        <p:spPr>
          <a:xfrm>
            <a:off x="4297680" y="2148840"/>
            <a:ext cx="4297680" cy="256032"/>
          </a:xfrm>
          <a:prstGeom prst="rect">
            <a:avLst/>
          </a:prstGeom>
          <a:noFill/>
          <a:ln/>
        </p:spPr>
        <p:txBody>
          <a:bodyPr wrap="square" lIns="0" tIns="0" rIns="0" bIns="0" rtlCol="0" anchor="t"/>
          <a:lstStyle/>
          <a:p>
            <a:pPr marL="0" indent="0">
              <a:buNone/>
            </a:pPr>
            <a:r>
              <a:rPr lang="en-US" sz="1400" b="1" dirty="0">
                <a:solidFill>
                  <a:srgbClr val="8C1D40"/>
                </a:solidFill>
                <a:latin typeface="Calibri" pitchFamily="34" charset="0"/>
                <a:ea typeface="Calibri" pitchFamily="34" charset="-122"/>
                <a:cs typeface="Calibri" pitchFamily="34" charset="-120"/>
              </a:rPr>
              <a:t>Adjuster fatigue</a:t>
            </a:r>
            <a:endParaRPr lang="en-US" sz="1400" dirty="0"/>
          </a:p>
        </p:txBody>
      </p:sp>
      <p:sp>
        <p:nvSpPr>
          <p:cNvPr id="20" name="Text 15"/>
          <p:cNvSpPr txBox="1"/>
          <p:nvPr/>
        </p:nvSpPr>
        <p:spPr>
          <a:xfrm>
            <a:off x="4297680" y="2404872"/>
            <a:ext cx="4297680" cy="41148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Hours spent reviewing 50-page contractor estimates, invoices and policy schedules.</a:t>
            </a:r>
            <a:endParaRPr lang="en-US" sz="1150" dirty="0"/>
          </a:p>
        </p:txBody>
      </p:sp>
      <p:sp>
        <p:nvSpPr>
          <p:cNvPr id="21" name="Shape 16"/>
          <p:cNvSpPr/>
          <p:nvPr/>
        </p:nvSpPr>
        <p:spPr>
          <a:xfrm>
            <a:off x="3520440" y="2926080"/>
            <a:ext cx="5166360" cy="7772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2" name="Shape 17"/>
          <p:cNvSpPr/>
          <p:nvPr/>
        </p:nvSpPr>
        <p:spPr>
          <a:xfrm>
            <a:off x="3657600" y="3090672"/>
            <a:ext cx="457200" cy="457200"/>
          </a:xfrm>
          <a:prstGeom prst="ellipse">
            <a:avLst/>
          </a:prstGeom>
          <a:solidFill>
            <a:srgbClr val="F7E8EE"/>
          </a:solidFill>
          <a:ln w="12700">
            <a:solidFill>
              <a:srgbClr val="F7E8EE"/>
            </a:solidFill>
            <a:prstDash val="solid"/>
          </a:ln>
        </p:spPr>
        <p:txBody>
          <a:bodyPr/>
          <a:lstStyle/>
          <a:p>
            <a:endParaRPr lang="en-IN"/>
          </a:p>
        </p:txBody>
      </p:sp>
      <p:pic>
        <p:nvPicPr>
          <p:cNvPr id="23" name="Image 2" descr="preencoded.png"/>
          <p:cNvPicPr>
            <a:picLocks noChangeAspect="1"/>
          </p:cNvPicPr>
          <p:nvPr/>
        </p:nvPicPr>
        <p:blipFill>
          <a:blip r:embed="rId5"/>
          <a:stretch>
            <a:fillRect/>
          </a:stretch>
        </p:blipFill>
        <p:spPr>
          <a:xfrm>
            <a:off x="3771900" y="3204972"/>
            <a:ext cx="228600" cy="228600"/>
          </a:xfrm>
          <a:prstGeom prst="rect">
            <a:avLst/>
          </a:prstGeom>
        </p:spPr>
      </p:pic>
      <p:sp>
        <p:nvSpPr>
          <p:cNvPr id="24" name="Text 18"/>
          <p:cNvSpPr txBox="1"/>
          <p:nvPr/>
        </p:nvSpPr>
        <p:spPr>
          <a:xfrm>
            <a:off x="4297680" y="3017520"/>
            <a:ext cx="4297680" cy="256032"/>
          </a:xfrm>
          <a:prstGeom prst="rect">
            <a:avLst/>
          </a:prstGeom>
          <a:noFill/>
          <a:ln/>
        </p:spPr>
        <p:txBody>
          <a:bodyPr wrap="square" lIns="0" tIns="0" rIns="0" bIns="0" rtlCol="0" anchor="t"/>
          <a:lstStyle/>
          <a:p>
            <a:pPr marL="0" indent="0">
              <a:buNone/>
            </a:pPr>
            <a:r>
              <a:rPr lang="en-US" sz="1400" b="1" dirty="0">
                <a:solidFill>
                  <a:srgbClr val="8C1D40"/>
                </a:solidFill>
                <a:latin typeface="Calibri" pitchFamily="34" charset="0"/>
                <a:ea typeface="Calibri" pitchFamily="34" charset="-122"/>
                <a:cs typeface="Calibri" pitchFamily="34" charset="-120"/>
              </a:rPr>
              <a:t>Claim leakage</a:t>
            </a:r>
            <a:endParaRPr lang="en-US" sz="1400" dirty="0"/>
          </a:p>
        </p:txBody>
      </p:sp>
      <p:sp>
        <p:nvSpPr>
          <p:cNvPr id="25" name="Text 19"/>
          <p:cNvSpPr txBox="1"/>
          <p:nvPr/>
        </p:nvSpPr>
        <p:spPr>
          <a:xfrm>
            <a:off x="4297680" y="3273552"/>
            <a:ext cx="4297680" cy="41148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Blanket approvals exceed remaining sub-limits through human oversight.</a:t>
            </a:r>
            <a:endParaRPr lang="en-US" sz="1150" dirty="0"/>
          </a:p>
        </p:txBody>
      </p:sp>
      <p:sp>
        <p:nvSpPr>
          <p:cNvPr id="26" name="Shape 20"/>
          <p:cNvSpPr/>
          <p:nvPr/>
        </p:nvSpPr>
        <p:spPr>
          <a:xfrm>
            <a:off x="3520440" y="3794760"/>
            <a:ext cx="5166360" cy="7772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7" name="Shape 21"/>
          <p:cNvSpPr/>
          <p:nvPr/>
        </p:nvSpPr>
        <p:spPr>
          <a:xfrm>
            <a:off x="3657600" y="3959352"/>
            <a:ext cx="457200" cy="457200"/>
          </a:xfrm>
          <a:prstGeom prst="ellipse">
            <a:avLst/>
          </a:prstGeom>
          <a:solidFill>
            <a:srgbClr val="F7E8EE"/>
          </a:solidFill>
          <a:ln w="12700">
            <a:solidFill>
              <a:srgbClr val="F7E8EE"/>
            </a:solidFill>
            <a:prstDash val="solid"/>
          </a:ln>
        </p:spPr>
        <p:txBody>
          <a:bodyPr/>
          <a:lstStyle/>
          <a:p>
            <a:endParaRPr lang="en-IN"/>
          </a:p>
        </p:txBody>
      </p:sp>
      <p:pic>
        <p:nvPicPr>
          <p:cNvPr id="28" name="Image 3" descr="preencoded.png"/>
          <p:cNvPicPr>
            <a:picLocks noChangeAspect="1"/>
          </p:cNvPicPr>
          <p:nvPr/>
        </p:nvPicPr>
        <p:blipFill>
          <a:blip r:embed="rId6"/>
          <a:stretch>
            <a:fillRect/>
          </a:stretch>
        </p:blipFill>
        <p:spPr>
          <a:xfrm>
            <a:off x="3771900" y="4073652"/>
            <a:ext cx="228600" cy="228600"/>
          </a:xfrm>
          <a:prstGeom prst="rect">
            <a:avLst/>
          </a:prstGeom>
        </p:spPr>
      </p:pic>
      <p:sp>
        <p:nvSpPr>
          <p:cNvPr id="29" name="Text 22"/>
          <p:cNvSpPr txBox="1"/>
          <p:nvPr/>
        </p:nvSpPr>
        <p:spPr>
          <a:xfrm>
            <a:off x="4297680" y="3886200"/>
            <a:ext cx="4297680" cy="256032"/>
          </a:xfrm>
          <a:prstGeom prst="rect">
            <a:avLst/>
          </a:prstGeom>
          <a:noFill/>
          <a:ln/>
        </p:spPr>
        <p:txBody>
          <a:bodyPr wrap="square" lIns="0" tIns="0" rIns="0" bIns="0" rtlCol="0" anchor="t"/>
          <a:lstStyle/>
          <a:p>
            <a:pPr marL="0" indent="0">
              <a:buNone/>
            </a:pPr>
            <a:r>
              <a:rPr lang="en-US" sz="1400" b="1" dirty="0">
                <a:solidFill>
                  <a:srgbClr val="8C1D40"/>
                </a:solidFill>
                <a:latin typeface="Calibri" pitchFamily="34" charset="0"/>
                <a:ea typeface="Calibri" pitchFamily="34" charset="-122"/>
                <a:cs typeface="Calibri" pitchFamily="34" charset="-120"/>
              </a:rPr>
              <a:t>Fraud &amp; duplicates</a:t>
            </a:r>
            <a:endParaRPr lang="en-US" sz="1400" dirty="0"/>
          </a:p>
        </p:txBody>
      </p:sp>
      <p:sp>
        <p:nvSpPr>
          <p:cNvPr id="30" name="Text 23"/>
          <p:cNvSpPr txBox="1"/>
          <p:nvPr/>
        </p:nvSpPr>
        <p:spPr>
          <a:xfrm>
            <a:off x="4297680" y="4142232"/>
            <a:ext cx="4297680" cy="41148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Panic double-submits, duplicate peril filings and disguised malware uploads.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marL="0" indent="0">
              <a:buNone/>
            </a:pPr>
            <a:r>
              <a:rPr lang="en-US" sz="2600" b="1" dirty="0">
                <a:solidFill>
                  <a:srgbClr val="1F1A1C"/>
                </a:solidFill>
                <a:latin typeface="Cambria" pitchFamily="34" charset="0"/>
                <a:ea typeface="Cambria" pitchFamily="34" charset="-122"/>
                <a:cs typeface="Cambria" pitchFamily="34" charset="-120"/>
              </a:rPr>
              <a:t>The Solution</a:t>
            </a:r>
            <a:endParaRPr lang="en-US" sz="26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marL="0" indent="0">
              <a:buNone/>
            </a:pPr>
            <a:r>
              <a:rPr lang="en-US" sz="1300" dirty="0">
                <a:solidFill>
                  <a:srgbClr val="6B6467"/>
                </a:solidFill>
                <a:latin typeface="Calibri" pitchFamily="34" charset="0"/>
                <a:ea typeface="Calibri" pitchFamily="34" charset="-122"/>
                <a:cs typeface="Calibri" pitchFamily="34" charset="-120"/>
              </a:rPr>
              <a:t>A microservices-driven, AI-assisted insurtech platform built for holiday homes.</a:t>
            </a:r>
            <a:endParaRPr lang="en-US" sz="1300" dirty="0"/>
          </a:p>
        </p:txBody>
      </p:sp>
      <p:sp>
        <p:nvSpPr>
          <p:cNvPr id="4" name="Text 2"/>
          <p:cNvSpPr txBox="1"/>
          <p:nvPr/>
        </p:nvSpPr>
        <p:spPr>
          <a:xfrm>
            <a:off x="457200" y="4828032"/>
            <a:ext cx="5486400" cy="201168"/>
          </a:xfrm>
          <a:prstGeom prst="rect">
            <a:avLst/>
          </a:prstGeom>
          <a:noFill/>
          <a:ln/>
        </p:spPr>
        <p:txBody>
          <a:bodyPr wrap="square" lIns="0" tIns="0" rIns="0" bIns="0" rtlCol="0" anchor="ctr"/>
          <a:lstStyle/>
          <a:p>
            <a:pPr marL="0" indent="0">
              <a:buNone/>
            </a:pPr>
            <a:r>
              <a:rPr lang="en-US" sz="900" dirty="0">
                <a:solidFill>
                  <a:srgbClr val="6B6467"/>
                </a:solidFill>
                <a:latin typeface="Calibri" pitchFamily="34" charset="0"/>
                <a:ea typeface="Calibri" pitchFamily="34" charset="-122"/>
                <a:cs typeface="Calibri" pitchFamily="34" charset="-120"/>
              </a:rPr>
              <a:t>Vacation Home Insurance Platform  |  Capstone Project</a:t>
            </a:r>
            <a:endParaRPr lang="en-US" sz="900" dirty="0"/>
          </a:p>
        </p:txBody>
      </p:sp>
      <p:sp>
        <p:nvSpPr>
          <p:cNvPr id="5" name="Text 3"/>
          <p:cNvSpPr txBox="1"/>
          <p:nvPr/>
        </p:nvSpPr>
        <p:spPr>
          <a:xfrm>
            <a:off x="8229600" y="4828032"/>
            <a:ext cx="457200" cy="201168"/>
          </a:xfrm>
          <a:prstGeom prst="rect">
            <a:avLst/>
          </a:prstGeom>
          <a:noFill/>
          <a:ln/>
        </p:spPr>
        <p:txBody>
          <a:bodyPr wrap="square" lIns="0" tIns="0" rIns="0" bIns="0" rtlCol="0" anchor="ctr"/>
          <a:lstStyle/>
          <a:p>
            <a:pPr marL="0" indent="0" algn="r">
              <a:buNone/>
            </a:pPr>
            <a:r>
              <a:rPr lang="en-US" sz="900" dirty="0">
                <a:solidFill>
                  <a:srgbClr val="6B6467"/>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457200" y="1188720"/>
            <a:ext cx="2651760" cy="164592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8" name="Shape 5"/>
          <p:cNvSpPr/>
          <p:nvPr/>
        </p:nvSpPr>
        <p:spPr>
          <a:xfrm>
            <a:off x="594360" y="1325880"/>
            <a:ext cx="457200" cy="457200"/>
          </a:xfrm>
          <a:prstGeom prst="ellipse">
            <a:avLst/>
          </a:prstGeom>
          <a:solidFill>
            <a:srgbClr val="8C1D40"/>
          </a:solidFill>
          <a:ln w="12700">
            <a:solidFill>
              <a:srgbClr val="8C1D40"/>
            </a:solidFill>
            <a:prstDash val="solid"/>
          </a:ln>
        </p:spPr>
        <p:txBody>
          <a:bodyPr/>
          <a:lstStyle/>
          <a:p>
            <a:endParaRPr lang="en-IN"/>
          </a:p>
        </p:txBody>
      </p:sp>
      <p:pic>
        <p:nvPicPr>
          <p:cNvPr id="9" name="Image 0" descr="preencoded.png"/>
          <p:cNvPicPr>
            <a:picLocks noChangeAspect="1"/>
          </p:cNvPicPr>
          <p:nvPr/>
        </p:nvPicPr>
        <p:blipFill>
          <a:blip r:embed="rId3"/>
          <a:stretch>
            <a:fillRect/>
          </a:stretch>
        </p:blipFill>
        <p:spPr>
          <a:xfrm>
            <a:off x="708660" y="1440180"/>
            <a:ext cx="228600" cy="228600"/>
          </a:xfrm>
          <a:prstGeom prst="rect">
            <a:avLst/>
          </a:prstGeom>
        </p:spPr>
      </p:pic>
      <p:sp>
        <p:nvSpPr>
          <p:cNvPr id="10" name="Text 6"/>
          <p:cNvSpPr txBox="1"/>
          <p:nvPr/>
        </p:nvSpPr>
        <p:spPr>
          <a:xfrm>
            <a:off x="1143000" y="1325880"/>
            <a:ext cx="1874520" cy="457200"/>
          </a:xfrm>
          <a:prstGeom prst="rect">
            <a:avLst/>
          </a:prstGeom>
          <a:noFill/>
          <a:ln/>
        </p:spPr>
        <p:txBody>
          <a:bodyPr wrap="square" lIns="0" tIns="0" rIns="0" bIns="0" rtlCol="0" anchor="ctr"/>
          <a:lstStyle/>
          <a:p>
            <a:pPr marL="0" indent="0">
              <a:buNone/>
            </a:pPr>
            <a:r>
              <a:rPr lang="en-US" sz="1350" b="1" dirty="0">
                <a:solidFill>
                  <a:srgbClr val="1F1A1C"/>
                </a:solidFill>
                <a:latin typeface="Calibri" pitchFamily="34" charset="0"/>
                <a:ea typeface="Calibri" pitchFamily="34" charset="-122"/>
                <a:cs typeface="Calibri" pitchFamily="34" charset="-120"/>
              </a:rPr>
              <a:t>Actuarial Risk Engine</a:t>
            </a:r>
            <a:endParaRPr lang="en-US" sz="1350" dirty="0"/>
          </a:p>
        </p:txBody>
      </p:sp>
      <p:sp>
        <p:nvSpPr>
          <p:cNvPr id="11" name="Text 7"/>
          <p:cNvSpPr txBox="1"/>
          <p:nvPr/>
        </p:nvSpPr>
        <p:spPr>
          <a:xfrm>
            <a:off x="594360" y="1920240"/>
            <a:ext cx="2377440" cy="86868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6-factor score (0–100). Low/Medium quoted in &lt;2s; High ≥ 70 goes to an underwriter.</a:t>
            </a:r>
            <a:endParaRPr lang="en-US" sz="1150" dirty="0"/>
          </a:p>
        </p:txBody>
      </p:sp>
      <p:sp>
        <p:nvSpPr>
          <p:cNvPr id="12" name="Shape 8"/>
          <p:cNvSpPr/>
          <p:nvPr/>
        </p:nvSpPr>
        <p:spPr>
          <a:xfrm>
            <a:off x="3246120" y="1188720"/>
            <a:ext cx="2651760" cy="164592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3" name="Shape 9"/>
          <p:cNvSpPr/>
          <p:nvPr/>
        </p:nvSpPr>
        <p:spPr>
          <a:xfrm>
            <a:off x="3383280" y="1325880"/>
            <a:ext cx="457200" cy="457200"/>
          </a:xfrm>
          <a:prstGeom prst="ellipse">
            <a:avLst/>
          </a:prstGeom>
          <a:solidFill>
            <a:srgbClr val="8C1D40"/>
          </a:solidFill>
          <a:ln w="12700">
            <a:solidFill>
              <a:srgbClr val="8C1D40"/>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3497580" y="1440180"/>
            <a:ext cx="228600" cy="228600"/>
          </a:xfrm>
          <a:prstGeom prst="rect">
            <a:avLst/>
          </a:prstGeom>
        </p:spPr>
      </p:pic>
      <p:sp>
        <p:nvSpPr>
          <p:cNvPr id="15" name="Text 10"/>
          <p:cNvSpPr txBox="1"/>
          <p:nvPr/>
        </p:nvSpPr>
        <p:spPr>
          <a:xfrm>
            <a:off x="3931920" y="1325880"/>
            <a:ext cx="1874520" cy="457200"/>
          </a:xfrm>
          <a:prstGeom prst="rect">
            <a:avLst/>
          </a:prstGeom>
          <a:noFill/>
          <a:ln/>
        </p:spPr>
        <p:txBody>
          <a:bodyPr wrap="square" lIns="0" tIns="0" rIns="0" bIns="0" rtlCol="0" anchor="ctr"/>
          <a:lstStyle/>
          <a:p>
            <a:pPr marL="0" indent="0">
              <a:buNone/>
            </a:pPr>
            <a:r>
              <a:rPr lang="en-US" sz="1350" b="1" dirty="0">
                <a:solidFill>
                  <a:srgbClr val="1F1A1C"/>
                </a:solidFill>
                <a:latin typeface="Calibri" pitchFamily="34" charset="0"/>
                <a:ea typeface="Calibri" pitchFamily="34" charset="-122"/>
                <a:cs typeface="Calibri" pitchFamily="34" charset="-120"/>
              </a:rPr>
              <a:t>Per-Coverage Adjudication</a:t>
            </a:r>
            <a:endParaRPr lang="en-US" sz="1350" dirty="0"/>
          </a:p>
        </p:txBody>
      </p:sp>
      <p:sp>
        <p:nvSpPr>
          <p:cNvPr id="16" name="Text 11"/>
          <p:cNvSpPr txBox="1"/>
          <p:nvPr/>
        </p:nvSpPr>
        <p:spPr>
          <a:xfrm>
            <a:off x="3383280" y="1920240"/>
            <a:ext cx="2377440" cy="86868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Line-item decisions per peril, capped by remaining limits: Approved ≤ min(Claimed, Remaining).</a:t>
            </a:r>
            <a:endParaRPr lang="en-US" sz="1150" dirty="0"/>
          </a:p>
        </p:txBody>
      </p:sp>
      <p:sp>
        <p:nvSpPr>
          <p:cNvPr id="17" name="Shape 12"/>
          <p:cNvSpPr/>
          <p:nvPr/>
        </p:nvSpPr>
        <p:spPr>
          <a:xfrm>
            <a:off x="6035040" y="1188720"/>
            <a:ext cx="2651760" cy="164592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8" name="Shape 13"/>
          <p:cNvSpPr/>
          <p:nvPr/>
        </p:nvSpPr>
        <p:spPr>
          <a:xfrm>
            <a:off x="6172200" y="1325880"/>
            <a:ext cx="457200" cy="457200"/>
          </a:xfrm>
          <a:prstGeom prst="ellipse">
            <a:avLst/>
          </a:prstGeom>
          <a:solidFill>
            <a:srgbClr val="8C1D40"/>
          </a:solidFill>
          <a:ln w="12700">
            <a:solidFill>
              <a:srgbClr val="8C1D40"/>
            </a:solidFill>
            <a:prstDash val="solid"/>
          </a:ln>
        </p:spPr>
        <p:txBody>
          <a:bodyPr/>
          <a:lstStyle/>
          <a:p>
            <a:endParaRPr lang="en-IN"/>
          </a:p>
        </p:txBody>
      </p:sp>
      <p:pic>
        <p:nvPicPr>
          <p:cNvPr id="19" name="Image 2" descr="preencoded.png"/>
          <p:cNvPicPr>
            <a:picLocks noChangeAspect="1"/>
          </p:cNvPicPr>
          <p:nvPr/>
        </p:nvPicPr>
        <p:blipFill>
          <a:blip r:embed="rId5"/>
          <a:stretch>
            <a:fillRect/>
          </a:stretch>
        </p:blipFill>
        <p:spPr>
          <a:xfrm>
            <a:off x="6286500" y="1440180"/>
            <a:ext cx="228600" cy="228600"/>
          </a:xfrm>
          <a:prstGeom prst="rect">
            <a:avLst/>
          </a:prstGeom>
        </p:spPr>
      </p:pic>
      <p:sp>
        <p:nvSpPr>
          <p:cNvPr id="20" name="Text 14"/>
          <p:cNvSpPr txBox="1"/>
          <p:nvPr/>
        </p:nvSpPr>
        <p:spPr>
          <a:xfrm>
            <a:off x="6720840" y="1325880"/>
            <a:ext cx="1874520" cy="457200"/>
          </a:xfrm>
          <a:prstGeom prst="rect">
            <a:avLst/>
          </a:prstGeom>
          <a:noFill/>
          <a:ln/>
        </p:spPr>
        <p:txBody>
          <a:bodyPr wrap="square" lIns="0" tIns="0" rIns="0" bIns="0" rtlCol="0" anchor="ctr"/>
          <a:lstStyle/>
          <a:p>
            <a:pPr marL="0" indent="0">
              <a:buNone/>
            </a:pPr>
            <a:r>
              <a:rPr lang="en-US" sz="1350" b="1" dirty="0">
                <a:solidFill>
                  <a:srgbClr val="1F1A1C"/>
                </a:solidFill>
                <a:latin typeface="Calibri" pitchFamily="34" charset="0"/>
                <a:ea typeface="Calibri" pitchFamily="34" charset="-122"/>
                <a:cs typeface="Calibri" pitchFamily="34" charset="-120"/>
              </a:rPr>
              <a:t>Triple-Layer Fraud Defense</a:t>
            </a:r>
            <a:endParaRPr lang="en-US" sz="1350" dirty="0"/>
          </a:p>
        </p:txBody>
      </p:sp>
      <p:sp>
        <p:nvSpPr>
          <p:cNvPr id="21" name="Text 15"/>
          <p:cNvSpPr txBox="1"/>
          <p:nvPr/>
        </p:nvSpPr>
        <p:spPr>
          <a:xfrm>
            <a:off x="6172200" y="1920240"/>
            <a:ext cx="2377440" cy="86868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2-minute debounce, same-day duplicate peril lock and binary magic-byte file inspection.</a:t>
            </a:r>
            <a:endParaRPr lang="en-US" sz="1150" dirty="0"/>
          </a:p>
        </p:txBody>
      </p:sp>
      <p:sp>
        <p:nvSpPr>
          <p:cNvPr id="22" name="Shape 16"/>
          <p:cNvSpPr/>
          <p:nvPr/>
        </p:nvSpPr>
        <p:spPr>
          <a:xfrm>
            <a:off x="457200" y="2971800"/>
            <a:ext cx="2651760" cy="164592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3" name="Shape 17"/>
          <p:cNvSpPr/>
          <p:nvPr/>
        </p:nvSpPr>
        <p:spPr>
          <a:xfrm>
            <a:off x="594360" y="3108960"/>
            <a:ext cx="457200" cy="457200"/>
          </a:xfrm>
          <a:prstGeom prst="ellipse">
            <a:avLst/>
          </a:prstGeom>
          <a:solidFill>
            <a:srgbClr val="8C1D40"/>
          </a:solidFill>
          <a:ln w="12700">
            <a:solidFill>
              <a:srgbClr val="8C1D40"/>
            </a:solidFill>
            <a:prstDash val="solid"/>
          </a:ln>
        </p:spPr>
        <p:txBody>
          <a:bodyPr/>
          <a:lstStyle/>
          <a:p>
            <a:endParaRPr lang="en-IN"/>
          </a:p>
        </p:txBody>
      </p:sp>
      <p:pic>
        <p:nvPicPr>
          <p:cNvPr id="24" name="Image 3" descr="preencoded.png"/>
          <p:cNvPicPr>
            <a:picLocks noChangeAspect="1"/>
          </p:cNvPicPr>
          <p:nvPr/>
        </p:nvPicPr>
        <p:blipFill>
          <a:blip r:embed="rId6"/>
          <a:stretch>
            <a:fillRect/>
          </a:stretch>
        </p:blipFill>
        <p:spPr>
          <a:xfrm>
            <a:off x="708660" y="3223260"/>
            <a:ext cx="228600" cy="228600"/>
          </a:xfrm>
          <a:prstGeom prst="rect">
            <a:avLst/>
          </a:prstGeom>
        </p:spPr>
      </p:pic>
      <p:sp>
        <p:nvSpPr>
          <p:cNvPr id="25" name="Text 18"/>
          <p:cNvSpPr txBox="1"/>
          <p:nvPr/>
        </p:nvSpPr>
        <p:spPr>
          <a:xfrm>
            <a:off x="1143000" y="3108960"/>
            <a:ext cx="1874520" cy="457200"/>
          </a:xfrm>
          <a:prstGeom prst="rect">
            <a:avLst/>
          </a:prstGeom>
          <a:noFill/>
          <a:ln/>
        </p:spPr>
        <p:txBody>
          <a:bodyPr wrap="square" lIns="0" tIns="0" rIns="0" bIns="0" rtlCol="0" anchor="ctr"/>
          <a:lstStyle/>
          <a:p>
            <a:pPr marL="0" indent="0">
              <a:buNone/>
            </a:pPr>
            <a:r>
              <a:rPr lang="en-US" sz="1350" b="1" dirty="0">
                <a:solidFill>
                  <a:srgbClr val="1F1A1C"/>
                </a:solidFill>
                <a:latin typeface="Calibri" pitchFamily="34" charset="0"/>
                <a:ea typeface="Calibri" pitchFamily="34" charset="-122"/>
                <a:cs typeface="Calibri" pitchFamily="34" charset="-120"/>
              </a:rPr>
              <a:t>Governed Gemini Copilot</a:t>
            </a:r>
            <a:endParaRPr lang="en-US" sz="1350" dirty="0"/>
          </a:p>
        </p:txBody>
      </p:sp>
      <p:sp>
        <p:nvSpPr>
          <p:cNvPr id="26" name="Text 19"/>
          <p:cNvSpPr txBox="1"/>
          <p:nvPr/>
        </p:nvSpPr>
        <p:spPr>
          <a:xfrm>
            <a:off x="594360" y="3703320"/>
            <a:ext cx="2377440" cy="86868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RAG over PDF estimates with citations in &lt;4s. Advisory only: zero settlement authority.</a:t>
            </a:r>
            <a:endParaRPr lang="en-US" sz="1150" dirty="0"/>
          </a:p>
        </p:txBody>
      </p:sp>
      <p:sp>
        <p:nvSpPr>
          <p:cNvPr id="27" name="Shape 20"/>
          <p:cNvSpPr/>
          <p:nvPr/>
        </p:nvSpPr>
        <p:spPr>
          <a:xfrm>
            <a:off x="3246120" y="2971800"/>
            <a:ext cx="2651760" cy="164592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8" name="Shape 21"/>
          <p:cNvSpPr/>
          <p:nvPr/>
        </p:nvSpPr>
        <p:spPr>
          <a:xfrm>
            <a:off x="3383280" y="3108960"/>
            <a:ext cx="457200" cy="457200"/>
          </a:xfrm>
          <a:prstGeom prst="ellipse">
            <a:avLst/>
          </a:prstGeom>
          <a:solidFill>
            <a:srgbClr val="8C1D40"/>
          </a:solidFill>
          <a:ln w="12700">
            <a:solidFill>
              <a:srgbClr val="8C1D40"/>
            </a:solidFill>
            <a:prstDash val="solid"/>
          </a:ln>
        </p:spPr>
        <p:txBody>
          <a:bodyPr/>
          <a:lstStyle/>
          <a:p>
            <a:endParaRPr lang="en-IN"/>
          </a:p>
        </p:txBody>
      </p:sp>
      <p:pic>
        <p:nvPicPr>
          <p:cNvPr id="29" name="Image 4" descr="preencoded.png"/>
          <p:cNvPicPr>
            <a:picLocks noChangeAspect="1"/>
          </p:cNvPicPr>
          <p:nvPr/>
        </p:nvPicPr>
        <p:blipFill>
          <a:blip r:embed="rId7"/>
          <a:stretch>
            <a:fillRect/>
          </a:stretch>
        </p:blipFill>
        <p:spPr>
          <a:xfrm>
            <a:off x="3497580" y="3223260"/>
            <a:ext cx="228600" cy="228600"/>
          </a:xfrm>
          <a:prstGeom prst="rect">
            <a:avLst/>
          </a:prstGeom>
        </p:spPr>
      </p:pic>
      <p:sp>
        <p:nvSpPr>
          <p:cNvPr id="30" name="Text 22"/>
          <p:cNvSpPr txBox="1"/>
          <p:nvPr/>
        </p:nvSpPr>
        <p:spPr>
          <a:xfrm>
            <a:off x="3931920" y="3108960"/>
            <a:ext cx="1874520" cy="457200"/>
          </a:xfrm>
          <a:prstGeom prst="rect">
            <a:avLst/>
          </a:prstGeom>
          <a:noFill/>
          <a:ln/>
        </p:spPr>
        <p:txBody>
          <a:bodyPr wrap="square" lIns="0" tIns="0" rIns="0" bIns="0" rtlCol="0" anchor="ctr"/>
          <a:lstStyle/>
          <a:p>
            <a:pPr marL="0" indent="0">
              <a:buNone/>
            </a:pPr>
            <a:r>
              <a:rPr lang="en-US" sz="1350" b="1" dirty="0">
                <a:solidFill>
                  <a:srgbClr val="1F1A1C"/>
                </a:solidFill>
                <a:latin typeface="Calibri" pitchFamily="34" charset="0"/>
                <a:ea typeface="Calibri" pitchFamily="34" charset="-122"/>
                <a:cs typeface="Calibri" pitchFamily="34" charset="-120"/>
              </a:rPr>
              <a:t>Zero-Trust Security</a:t>
            </a:r>
            <a:endParaRPr lang="en-US" sz="1350" dirty="0"/>
          </a:p>
        </p:txBody>
      </p:sp>
      <p:sp>
        <p:nvSpPr>
          <p:cNvPr id="31" name="Text 23"/>
          <p:cNvSpPr txBox="1"/>
          <p:nvPr/>
        </p:nvSpPr>
        <p:spPr>
          <a:xfrm>
            <a:off x="3383280" y="3703320"/>
            <a:ext cx="2377440" cy="86868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TOTP MFA, single-use refresh token rotation, Anti-IDOR, restricted claims-manager onboarding.</a:t>
            </a:r>
            <a:endParaRPr lang="en-US" sz="1150" dirty="0"/>
          </a:p>
        </p:txBody>
      </p:sp>
      <p:sp>
        <p:nvSpPr>
          <p:cNvPr id="32" name="Shape 24"/>
          <p:cNvSpPr/>
          <p:nvPr/>
        </p:nvSpPr>
        <p:spPr>
          <a:xfrm>
            <a:off x="6035040" y="2971800"/>
            <a:ext cx="2651760" cy="164592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33" name="Shape 25"/>
          <p:cNvSpPr/>
          <p:nvPr/>
        </p:nvSpPr>
        <p:spPr>
          <a:xfrm>
            <a:off x="6172200" y="3108960"/>
            <a:ext cx="457200" cy="457200"/>
          </a:xfrm>
          <a:prstGeom prst="ellipse">
            <a:avLst/>
          </a:prstGeom>
          <a:solidFill>
            <a:srgbClr val="8C1D40"/>
          </a:solidFill>
          <a:ln w="12700">
            <a:solidFill>
              <a:srgbClr val="8C1D40"/>
            </a:solidFill>
            <a:prstDash val="solid"/>
          </a:ln>
        </p:spPr>
        <p:txBody>
          <a:bodyPr/>
          <a:lstStyle/>
          <a:p>
            <a:endParaRPr lang="en-IN"/>
          </a:p>
        </p:txBody>
      </p:sp>
      <p:pic>
        <p:nvPicPr>
          <p:cNvPr id="34" name="Image 5" descr="preencoded.png"/>
          <p:cNvPicPr>
            <a:picLocks noChangeAspect="1"/>
          </p:cNvPicPr>
          <p:nvPr/>
        </p:nvPicPr>
        <p:blipFill>
          <a:blip r:embed="rId8"/>
          <a:stretch>
            <a:fillRect/>
          </a:stretch>
        </p:blipFill>
        <p:spPr>
          <a:xfrm>
            <a:off x="6286500" y="3223260"/>
            <a:ext cx="228600" cy="228600"/>
          </a:xfrm>
          <a:prstGeom prst="rect">
            <a:avLst/>
          </a:prstGeom>
        </p:spPr>
      </p:pic>
      <p:sp>
        <p:nvSpPr>
          <p:cNvPr id="35" name="Text 26"/>
          <p:cNvSpPr txBox="1"/>
          <p:nvPr/>
        </p:nvSpPr>
        <p:spPr>
          <a:xfrm>
            <a:off x="6720840" y="3108960"/>
            <a:ext cx="1874520" cy="457200"/>
          </a:xfrm>
          <a:prstGeom prst="rect">
            <a:avLst/>
          </a:prstGeom>
          <a:noFill/>
          <a:ln/>
        </p:spPr>
        <p:txBody>
          <a:bodyPr wrap="square" lIns="0" tIns="0" rIns="0" bIns="0" rtlCol="0" anchor="ctr"/>
          <a:lstStyle/>
          <a:p>
            <a:pPr marL="0" indent="0">
              <a:buNone/>
            </a:pPr>
            <a:r>
              <a:rPr lang="en-US" sz="1350" b="1" dirty="0">
                <a:solidFill>
                  <a:srgbClr val="1F1A1C"/>
                </a:solidFill>
                <a:latin typeface="Calibri" pitchFamily="34" charset="0"/>
                <a:ea typeface="Calibri" pitchFamily="34" charset="-122"/>
                <a:cs typeface="Calibri" pitchFamily="34" charset="-120"/>
              </a:rPr>
              <a:t>Resilient Microservices</a:t>
            </a:r>
            <a:endParaRPr lang="en-US" sz="1350" dirty="0"/>
          </a:p>
        </p:txBody>
      </p:sp>
      <p:sp>
        <p:nvSpPr>
          <p:cNvPr id="36" name="Text 27"/>
          <p:cNvSpPr txBox="1"/>
          <p:nvPr/>
        </p:nvSpPr>
        <p:spPr>
          <a:xfrm>
            <a:off x="6172200" y="3703320"/>
            <a:ext cx="2377440" cy="86868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Database-per-service, Ocelot gateway, Polly circuit breakers, snapshot immutability.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marL="0" indent="0">
              <a:buNone/>
            </a:pPr>
            <a:r>
              <a:rPr lang="en-US" sz="2600" b="1" dirty="0">
                <a:solidFill>
                  <a:srgbClr val="1F1A1C"/>
                </a:solidFill>
                <a:latin typeface="Cambria" pitchFamily="34" charset="0"/>
                <a:ea typeface="Cambria" pitchFamily="34" charset="-122"/>
                <a:cs typeface="Cambria" pitchFamily="34" charset="-120"/>
              </a:rPr>
              <a:t>Architecture</a:t>
            </a:r>
            <a:endParaRPr lang="en-US" sz="26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marL="0" indent="0">
              <a:buNone/>
            </a:pPr>
            <a:r>
              <a:rPr lang="en-US" sz="1300" dirty="0">
                <a:solidFill>
                  <a:srgbClr val="6B6467"/>
                </a:solidFill>
                <a:latin typeface="Calibri" pitchFamily="34" charset="0"/>
                <a:ea typeface="Calibri" pitchFamily="34" charset="-122"/>
                <a:cs typeface="Calibri" pitchFamily="34" charset="-120"/>
              </a:rPr>
              <a:t>Five isolated services behind one gateway, each owning its own data.</a:t>
            </a:r>
            <a:endParaRPr lang="en-US" sz="1300" dirty="0"/>
          </a:p>
        </p:txBody>
      </p:sp>
      <p:sp>
        <p:nvSpPr>
          <p:cNvPr id="4" name="Text 2"/>
          <p:cNvSpPr txBox="1"/>
          <p:nvPr/>
        </p:nvSpPr>
        <p:spPr>
          <a:xfrm>
            <a:off x="457200" y="4828032"/>
            <a:ext cx="5486400" cy="201168"/>
          </a:xfrm>
          <a:prstGeom prst="rect">
            <a:avLst/>
          </a:prstGeom>
          <a:noFill/>
          <a:ln/>
        </p:spPr>
        <p:txBody>
          <a:bodyPr wrap="square" lIns="0" tIns="0" rIns="0" bIns="0" rtlCol="0" anchor="ctr"/>
          <a:lstStyle/>
          <a:p>
            <a:pPr marL="0" indent="0">
              <a:buNone/>
            </a:pPr>
            <a:r>
              <a:rPr lang="en-US" sz="900" dirty="0">
                <a:solidFill>
                  <a:srgbClr val="6B6467"/>
                </a:solidFill>
                <a:latin typeface="Calibri" pitchFamily="34" charset="0"/>
                <a:ea typeface="Calibri" pitchFamily="34" charset="-122"/>
                <a:cs typeface="Calibri" pitchFamily="34" charset="-120"/>
              </a:rPr>
              <a:t>Vacation Home Insurance Platform  |  Capstone Project</a:t>
            </a:r>
            <a:endParaRPr lang="en-US" sz="900" dirty="0"/>
          </a:p>
        </p:txBody>
      </p:sp>
      <p:sp>
        <p:nvSpPr>
          <p:cNvPr id="5" name="Text 3"/>
          <p:cNvSpPr txBox="1"/>
          <p:nvPr/>
        </p:nvSpPr>
        <p:spPr>
          <a:xfrm>
            <a:off x="8229600" y="4828032"/>
            <a:ext cx="457200" cy="201168"/>
          </a:xfrm>
          <a:prstGeom prst="rect">
            <a:avLst/>
          </a:prstGeom>
          <a:noFill/>
          <a:ln/>
        </p:spPr>
        <p:txBody>
          <a:bodyPr wrap="square" lIns="0" tIns="0" rIns="0" bIns="0" rtlCol="0" anchor="ctr"/>
          <a:lstStyle/>
          <a:p>
            <a:pPr marL="0" indent="0" algn="r">
              <a:buNone/>
            </a:pPr>
            <a:r>
              <a:rPr lang="en-US" sz="900" dirty="0">
                <a:solidFill>
                  <a:srgbClr val="6B6467"/>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457200" y="1143000"/>
            <a:ext cx="5577840" cy="365760"/>
          </a:xfrm>
          <a:prstGeom prst="rect">
            <a:avLst/>
          </a:prstGeom>
          <a:solidFill>
            <a:srgbClr val="1F1A1C"/>
          </a:solidFill>
          <a:ln w="12700">
            <a:solidFill>
              <a:srgbClr val="1F1A1C"/>
            </a:solidFill>
            <a:prstDash val="solid"/>
          </a:ln>
        </p:spPr>
        <p:txBody>
          <a:bodyPr/>
          <a:lstStyle/>
          <a:p>
            <a:endParaRPr lang="en-IN"/>
          </a:p>
        </p:txBody>
      </p:sp>
      <p:sp>
        <p:nvSpPr>
          <p:cNvPr id="8" name="Text 5"/>
          <p:cNvSpPr txBox="1"/>
          <p:nvPr/>
        </p:nvSpPr>
        <p:spPr>
          <a:xfrm>
            <a:off x="457200" y="1143000"/>
            <a:ext cx="557784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Angular 18 SPA  ·  Signals · Functional Guards · Interceptors</a:t>
            </a:r>
            <a:endParaRPr lang="en-US" sz="1150" dirty="0"/>
          </a:p>
        </p:txBody>
      </p:sp>
      <p:sp>
        <p:nvSpPr>
          <p:cNvPr id="9" name="Shape 6"/>
          <p:cNvSpPr/>
          <p:nvPr/>
        </p:nvSpPr>
        <p:spPr>
          <a:xfrm>
            <a:off x="457200" y="1783080"/>
            <a:ext cx="5577840" cy="502920"/>
          </a:xfrm>
          <a:prstGeom prst="rect">
            <a:avLst/>
          </a:prstGeom>
          <a:solidFill>
            <a:srgbClr val="8C1D40"/>
          </a:solidFill>
          <a:ln w="12700">
            <a:solidFill>
              <a:srgbClr val="8C1D40"/>
            </a:solidFill>
            <a:prstDash val="solid"/>
          </a:ln>
        </p:spPr>
        <p:txBody>
          <a:bodyPr/>
          <a:lstStyle/>
          <a:p>
            <a:endParaRPr lang="en-IN"/>
          </a:p>
        </p:txBody>
      </p:sp>
      <p:sp>
        <p:nvSpPr>
          <p:cNvPr id="10" name="Text 7"/>
          <p:cNvSpPr txBox="1"/>
          <p:nvPr/>
        </p:nvSpPr>
        <p:spPr>
          <a:xfrm>
            <a:off x="457200" y="1801368"/>
            <a:ext cx="5577840" cy="27432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Ocelot API Gateway  ·  HTTPS :7001</a:t>
            </a:r>
            <a:endParaRPr lang="en-US" sz="1250" dirty="0"/>
          </a:p>
        </p:txBody>
      </p:sp>
      <p:sp>
        <p:nvSpPr>
          <p:cNvPr id="11" name="Text 8"/>
          <p:cNvSpPr txBox="1"/>
          <p:nvPr/>
        </p:nvSpPr>
        <p:spPr>
          <a:xfrm>
            <a:off x="457200" y="2048256"/>
            <a:ext cx="5577840" cy="201168"/>
          </a:xfrm>
          <a:prstGeom prst="rect">
            <a:avLst/>
          </a:prstGeom>
          <a:noFill/>
          <a:ln/>
        </p:spPr>
        <p:txBody>
          <a:bodyPr wrap="square" lIns="0" tIns="0" rIns="0" bIns="0" rtlCol="0" anchor="t"/>
          <a:lstStyle/>
          <a:p>
            <a:pPr marL="0" indent="0" algn="ctr">
              <a:buNone/>
            </a:pPr>
            <a:r>
              <a:rPr lang="en-US" sz="1000" dirty="0">
                <a:solidFill>
                  <a:srgbClr val="EBCFDA"/>
                </a:solidFill>
                <a:latin typeface="Calibri" pitchFamily="34" charset="0"/>
                <a:ea typeface="Calibri" pitchFamily="34" charset="-122"/>
                <a:cs typeface="Calibri" pitchFamily="34" charset="-120"/>
              </a:rPr>
              <a:t>Polly: 30s timeout · 3-fault circuit breaker · 90s AI timeout</a:t>
            </a:r>
            <a:endParaRPr lang="en-US" sz="1000" dirty="0"/>
          </a:p>
        </p:txBody>
      </p:sp>
      <p:sp>
        <p:nvSpPr>
          <p:cNvPr id="12" name="Shape 9"/>
          <p:cNvSpPr/>
          <p:nvPr/>
        </p:nvSpPr>
        <p:spPr>
          <a:xfrm>
            <a:off x="3246120" y="1508760"/>
            <a:ext cx="0" cy="274320"/>
          </a:xfrm>
          <a:prstGeom prst="line">
            <a:avLst/>
          </a:prstGeom>
          <a:noFill/>
          <a:ln w="19050">
            <a:solidFill>
              <a:srgbClr val="6B6467"/>
            </a:solidFill>
            <a:prstDash val="solid"/>
            <a:tailEnd type="triangle"/>
          </a:ln>
        </p:spPr>
        <p:txBody>
          <a:bodyPr/>
          <a:lstStyle/>
          <a:p>
            <a:endParaRPr lang="en-IN"/>
          </a:p>
        </p:txBody>
      </p:sp>
      <p:sp>
        <p:nvSpPr>
          <p:cNvPr id="13" name="Shape 10"/>
          <p:cNvSpPr/>
          <p:nvPr/>
        </p:nvSpPr>
        <p:spPr>
          <a:xfrm>
            <a:off x="960120" y="2286000"/>
            <a:ext cx="0" cy="274320"/>
          </a:xfrm>
          <a:prstGeom prst="line">
            <a:avLst/>
          </a:prstGeom>
          <a:noFill/>
          <a:ln w="15875">
            <a:solidFill>
              <a:srgbClr val="6B6467"/>
            </a:solidFill>
            <a:prstDash val="solid"/>
            <a:tailEnd type="triangle"/>
          </a:ln>
        </p:spPr>
        <p:txBody>
          <a:bodyPr/>
          <a:lstStyle/>
          <a:p>
            <a:endParaRPr lang="en-IN"/>
          </a:p>
        </p:txBody>
      </p:sp>
      <p:sp>
        <p:nvSpPr>
          <p:cNvPr id="14" name="Shape 11"/>
          <p:cNvSpPr/>
          <p:nvPr/>
        </p:nvSpPr>
        <p:spPr>
          <a:xfrm>
            <a:off x="457200" y="2560320"/>
            <a:ext cx="1005840" cy="7772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5" name="Text 12"/>
          <p:cNvSpPr txBox="1"/>
          <p:nvPr/>
        </p:nvSpPr>
        <p:spPr>
          <a:xfrm>
            <a:off x="457200" y="2633472"/>
            <a:ext cx="1005840" cy="274320"/>
          </a:xfrm>
          <a:prstGeom prst="rect">
            <a:avLst/>
          </a:prstGeom>
          <a:noFill/>
          <a:ln/>
        </p:spPr>
        <p:txBody>
          <a:bodyPr wrap="square" lIns="0" tIns="0" rIns="0" bIns="0" rtlCol="0" anchor="t"/>
          <a:lstStyle/>
          <a:p>
            <a:pPr marL="0" indent="0" algn="ctr">
              <a:buNone/>
            </a:pPr>
            <a:r>
              <a:rPr lang="en-US" sz="1200" b="1" dirty="0">
                <a:solidFill>
                  <a:srgbClr val="8C1D40"/>
                </a:solidFill>
                <a:latin typeface="Calibri" pitchFamily="34" charset="0"/>
                <a:ea typeface="Calibri" pitchFamily="34" charset="-122"/>
                <a:cs typeface="Calibri" pitchFamily="34" charset="-120"/>
              </a:rPr>
              <a:t>Auth API</a:t>
            </a:r>
            <a:endParaRPr lang="en-US" sz="1200" dirty="0"/>
          </a:p>
        </p:txBody>
      </p:sp>
      <p:sp>
        <p:nvSpPr>
          <p:cNvPr id="16" name="Text 13"/>
          <p:cNvSpPr txBox="1"/>
          <p:nvPr/>
        </p:nvSpPr>
        <p:spPr>
          <a:xfrm>
            <a:off x="457200" y="2907792"/>
            <a:ext cx="1005840" cy="228600"/>
          </a:xfrm>
          <a:prstGeom prst="rect">
            <a:avLst/>
          </a:prstGeom>
          <a:noFill/>
          <a:ln/>
        </p:spPr>
        <p:txBody>
          <a:bodyPr wrap="square" lIns="0" tIns="0" rIns="0" bIns="0" rtlCol="0" anchor="t"/>
          <a:lstStyle/>
          <a:p>
            <a:pPr marL="0" indent="0" algn="ctr">
              <a:buNone/>
            </a:pPr>
            <a:r>
              <a:rPr lang="en-US" sz="1000" dirty="0">
                <a:solidFill>
                  <a:srgbClr val="6B6467"/>
                </a:solidFill>
                <a:latin typeface="Calibri" pitchFamily="34" charset="0"/>
                <a:ea typeface="Calibri" pitchFamily="34" charset="-122"/>
                <a:cs typeface="Calibri" pitchFamily="34" charset="-120"/>
              </a:rPr>
              <a:t>Port 7101</a:t>
            </a:r>
            <a:endParaRPr lang="en-US" sz="1000" dirty="0"/>
          </a:p>
        </p:txBody>
      </p:sp>
      <p:sp>
        <p:nvSpPr>
          <p:cNvPr id="17" name="Shape 14"/>
          <p:cNvSpPr/>
          <p:nvPr/>
        </p:nvSpPr>
        <p:spPr>
          <a:xfrm>
            <a:off x="960120" y="3337560"/>
            <a:ext cx="0" cy="228600"/>
          </a:xfrm>
          <a:prstGeom prst="line">
            <a:avLst/>
          </a:prstGeom>
          <a:noFill/>
          <a:ln w="15875">
            <a:solidFill>
              <a:srgbClr val="6B6467"/>
            </a:solidFill>
            <a:prstDash val="solid"/>
          </a:ln>
        </p:spPr>
        <p:txBody>
          <a:bodyPr/>
          <a:lstStyle/>
          <a:p>
            <a:endParaRPr lang="en-IN"/>
          </a:p>
        </p:txBody>
      </p:sp>
      <p:sp>
        <p:nvSpPr>
          <p:cNvPr id="18" name="Shape 15"/>
          <p:cNvSpPr/>
          <p:nvPr/>
        </p:nvSpPr>
        <p:spPr>
          <a:xfrm>
            <a:off x="502920" y="3566160"/>
            <a:ext cx="914400" cy="685800"/>
          </a:xfrm>
          <a:prstGeom prst="can">
            <a:avLst/>
          </a:prstGeom>
          <a:solidFill>
            <a:srgbClr val="F7E8EE"/>
          </a:solidFill>
          <a:ln w="12700">
            <a:solidFill>
              <a:srgbClr val="8C1D40"/>
            </a:solidFill>
            <a:prstDash val="solid"/>
          </a:ln>
        </p:spPr>
        <p:txBody>
          <a:bodyPr/>
          <a:lstStyle/>
          <a:p>
            <a:endParaRPr lang="en-IN"/>
          </a:p>
        </p:txBody>
      </p:sp>
      <p:sp>
        <p:nvSpPr>
          <p:cNvPr id="19" name="Text 16"/>
          <p:cNvSpPr txBox="1"/>
          <p:nvPr/>
        </p:nvSpPr>
        <p:spPr>
          <a:xfrm>
            <a:off x="502920" y="3767328"/>
            <a:ext cx="914400" cy="274320"/>
          </a:xfrm>
          <a:prstGeom prst="rect">
            <a:avLst/>
          </a:prstGeom>
          <a:noFill/>
          <a:ln/>
        </p:spPr>
        <p:txBody>
          <a:bodyPr wrap="square" lIns="0" tIns="0" rIns="0" bIns="0" rtlCol="0" anchor="t"/>
          <a:lstStyle/>
          <a:p>
            <a:pPr marL="0" indent="0" algn="ctr">
              <a:buNone/>
            </a:pPr>
            <a:r>
              <a:rPr lang="en-US" sz="1050" b="1" dirty="0">
                <a:solidFill>
                  <a:srgbClr val="8C1D40"/>
                </a:solidFill>
                <a:latin typeface="Calibri" pitchFamily="34" charset="0"/>
                <a:ea typeface="Calibri" pitchFamily="34" charset="-122"/>
                <a:cs typeface="Calibri" pitchFamily="34" charset="-120"/>
              </a:rPr>
              <a:t>AuthDb</a:t>
            </a:r>
            <a:endParaRPr lang="en-US" sz="1050" dirty="0"/>
          </a:p>
        </p:txBody>
      </p:sp>
      <p:sp>
        <p:nvSpPr>
          <p:cNvPr id="20" name="Shape 17"/>
          <p:cNvSpPr/>
          <p:nvPr/>
        </p:nvSpPr>
        <p:spPr>
          <a:xfrm>
            <a:off x="2103120" y="2286000"/>
            <a:ext cx="0" cy="274320"/>
          </a:xfrm>
          <a:prstGeom prst="line">
            <a:avLst/>
          </a:prstGeom>
          <a:noFill/>
          <a:ln w="15875">
            <a:solidFill>
              <a:srgbClr val="6B6467"/>
            </a:solidFill>
            <a:prstDash val="solid"/>
            <a:tailEnd type="triangle"/>
          </a:ln>
        </p:spPr>
        <p:txBody>
          <a:bodyPr/>
          <a:lstStyle/>
          <a:p>
            <a:endParaRPr lang="en-IN"/>
          </a:p>
        </p:txBody>
      </p:sp>
      <p:sp>
        <p:nvSpPr>
          <p:cNvPr id="21" name="Shape 18"/>
          <p:cNvSpPr/>
          <p:nvPr/>
        </p:nvSpPr>
        <p:spPr>
          <a:xfrm>
            <a:off x="1600200" y="2560320"/>
            <a:ext cx="1005840" cy="7772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2" name="Text 19"/>
          <p:cNvSpPr txBox="1"/>
          <p:nvPr/>
        </p:nvSpPr>
        <p:spPr>
          <a:xfrm>
            <a:off x="1600200" y="2633472"/>
            <a:ext cx="1005840" cy="274320"/>
          </a:xfrm>
          <a:prstGeom prst="rect">
            <a:avLst/>
          </a:prstGeom>
          <a:noFill/>
          <a:ln/>
        </p:spPr>
        <p:txBody>
          <a:bodyPr wrap="square" lIns="0" tIns="0" rIns="0" bIns="0" rtlCol="0" anchor="t"/>
          <a:lstStyle/>
          <a:p>
            <a:pPr marL="0" indent="0" algn="ctr">
              <a:buNone/>
            </a:pPr>
            <a:r>
              <a:rPr lang="en-US" sz="1200" b="1" dirty="0">
                <a:solidFill>
                  <a:srgbClr val="8C1D40"/>
                </a:solidFill>
                <a:latin typeface="Calibri" pitchFamily="34" charset="0"/>
                <a:ea typeface="Calibri" pitchFamily="34" charset="-122"/>
                <a:cs typeface="Calibri" pitchFamily="34" charset="-120"/>
              </a:rPr>
              <a:t>Customer API</a:t>
            </a:r>
            <a:endParaRPr lang="en-US" sz="1200" dirty="0"/>
          </a:p>
        </p:txBody>
      </p:sp>
      <p:sp>
        <p:nvSpPr>
          <p:cNvPr id="23" name="Text 20"/>
          <p:cNvSpPr txBox="1"/>
          <p:nvPr/>
        </p:nvSpPr>
        <p:spPr>
          <a:xfrm>
            <a:off x="1600200" y="2907792"/>
            <a:ext cx="1005840" cy="228600"/>
          </a:xfrm>
          <a:prstGeom prst="rect">
            <a:avLst/>
          </a:prstGeom>
          <a:noFill/>
          <a:ln/>
        </p:spPr>
        <p:txBody>
          <a:bodyPr wrap="square" lIns="0" tIns="0" rIns="0" bIns="0" rtlCol="0" anchor="t"/>
          <a:lstStyle/>
          <a:p>
            <a:pPr marL="0" indent="0" algn="ctr">
              <a:buNone/>
            </a:pPr>
            <a:r>
              <a:rPr lang="en-US" sz="1000" dirty="0">
                <a:solidFill>
                  <a:srgbClr val="6B6467"/>
                </a:solidFill>
                <a:latin typeface="Calibri" pitchFamily="34" charset="0"/>
                <a:ea typeface="Calibri" pitchFamily="34" charset="-122"/>
                <a:cs typeface="Calibri" pitchFamily="34" charset="-120"/>
              </a:rPr>
              <a:t>Port 7102</a:t>
            </a:r>
            <a:endParaRPr lang="en-US" sz="1000" dirty="0"/>
          </a:p>
        </p:txBody>
      </p:sp>
      <p:sp>
        <p:nvSpPr>
          <p:cNvPr id="24" name="Shape 21"/>
          <p:cNvSpPr/>
          <p:nvPr/>
        </p:nvSpPr>
        <p:spPr>
          <a:xfrm>
            <a:off x="2103120" y="3337560"/>
            <a:ext cx="0" cy="228600"/>
          </a:xfrm>
          <a:prstGeom prst="line">
            <a:avLst/>
          </a:prstGeom>
          <a:noFill/>
          <a:ln w="15875">
            <a:solidFill>
              <a:srgbClr val="6B6467"/>
            </a:solidFill>
            <a:prstDash val="solid"/>
          </a:ln>
        </p:spPr>
        <p:txBody>
          <a:bodyPr/>
          <a:lstStyle/>
          <a:p>
            <a:endParaRPr lang="en-IN"/>
          </a:p>
        </p:txBody>
      </p:sp>
      <p:sp>
        <p:nvSpPr>
          <p:cNvPr id="25" name="Shape 22"/>
          <p:cNvSpPr/>
          <p:nvPr/>
        </p:nvSpPr>
        <p:spPr>
          <a:xfrm>
            <a:off x="1645920" y="3566160"/>
            <a:ext cx="914400" cy="685800"/>
          </a:xfrm>
          <a:prstGeom prst="can">
            <a:avLst/>
          </a:prstGeom>
          <a:solidFill>
            <a:srgbClr val="F7E8EE"/>
          </a:solidFill>
          <a:ln w="12700">
            <a:solidFill>
              <a:srgbClr val="8C1D40"/>
            </a:solidFill>
            <a:prstDash val="solid"/>
          </a:ln>
        </p:spPr>
        <p:txBody>
          <a:bodyPr/>
          <a:lstStyle/>
          <a:p>
            <a:endParaRPr lang="en-IN"/>
          </a:p>
        </p:txBody>
      </p:sp>
      <p:sp>
        <p:nvSpPr>
          <p:cNvPr id="26" name="Text 23"/>
          <p:cNvSpPr txBox="1"/>
          <p:nvPr/>
        </p:nvSpPr>
        <p:spPr>
          <a:xfrm>
            <a:off x="1645920" y="3767328"/>
            <a:ext cx="914400" cy="274320"/>
          </a:xfrm>
          <a:prstGeom prst="rect">
            <a:avLst/>
          </a:prstGeom>
          <a:noFill/>
          <a:ln/>
        </p:spPr>
        <p:txBody>
          <a:bodyPr wrap="square" lIns="0" tIns="0" rIns="0" bIns="0" rtlCol="0" anchor="t"/>
          <a:lstStyle/>
          <a:p>
            <a:pPr marL="0" indent="0" algn="ctr">
              <a:buNone/>
            </a:pPr>
            <a:r>
              <a:rPr lang="en-US" sz="1050" b="1" dirty="0">
                <a:solidFill>
                  <a:srgbClr val="8C1D40"/>
                </a:solidFill>
                <a:latin typeface="Calibri" pitchFamily="34" charset="0"/>
                <a:ea typeface="Calibri" pitchFamily="34" charset="-122"/>
                <a:cs typeface="Calibri" pitchFamily="34" charset="-120"/>
              </a:rPr>
              <a:t>CustomerDb</a:t>
            </a:r>
            <a:endParaRPr lang="en-US" sz="1050" dirty="0"/>
          </a:p>
        </p:txBody>
      </p:sp>
      <p:sp>
        <p:nvSpPr>
          <p:cNvPr id="27" name="Shape 24"/>
          <p:cNvSpPr/>
          <p:nvPr/>
        </p:nvSpPr>
        <p:spPr>
          <a:xfrm>
            <a:off x="3246120" y="2286000"/>
            <a:ext cx="0" cy="274320"/>
          </a:xfrm>
          <a:prstGeom prst="line">
            <a:avLst/>
          </a:prstGeom>
          <a:noFill/>
          <a:ln w="15875">
            <a:solidFill>
              <a:srgbClr val="6B6467"/>
            </a:solidFill>
            <a:prstDash val="solid"/>
            <a:tailEnd type="triangle"/>
          </a:ln>
        </p:spPr>
        <p:txBody>
          <a:bodyPr/>
          <a:lstStyle/>
          <a:p>
            <a:endParaRPr lang="en-IN"/>
          </a:p>
        </p:txBody>
      </p:sp>
      <p:sp>
        <p:nvSpPr>
          <p:cNvPr id="28" name="Shape 25"/>
          <p:cNvSpPr/>
          <p:nvPr/>
        </p:nvSpPr>
        <p:spPr>
          <a:xfrm>
            <a:off x="2743200" y="2560320"/>
            <a:ext cx="1005840" cy="7772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9" name="Text 26"/>
          <p:cNvSpPr txBox="1"/>
          <p:nvPr/>
        </p:nvSpPr>
        <p:spPr>
          <a:xfrm>
            <a:off x="2743200" y="2633472"/>
            <a:ext cx="1005840" cy="274320"/>
          </a:xfrm>
          <a:prstGeom prst="rect">
            <a:avLst/>
          </a:prstGeom>
          <a:noFill/>
          <a:ln/>
        </p:spPr>
        <p:txBody>
          <a:bodyPr wrap="square" lIns="0" tIns="0" rIns="0" bIns="0" rtlCol="0" anchor="t"/>
          <a:lstStyle/>
          <a:p>
            <a:pPr marL="0" indent="0" algn="ctr">
              <a:buNone/>
            </a:pPr>
            <a:r>
              <a:rPr lang="en-US" sz="1200" b="1" dirty="0">
                <a:solidFill>
                  <a:srgbClr val="8C1D40"/>
                </a:solidFill>
                <a:latin typeface="Calibri" pitchFamily="34" charset="0"/>
                <a:ea typeface="Calibri" pitchFamily="34" charset="-122"/>
                <a:cs typeface="Calibri" pitchFamily="34" charset="-120"/>
              </a:rPr>
              <a:t>Quote API</a:t>
            </a:r>
            <a:endParaRPr lang="en-US" sz="1200" dirty="0"/>
          </a:p>
        </p:txBody>
      </p:sp>
      <p:sp>
        <p:nvSpPr>
          <p:cNvPr id="30" name="Text 27"/>
          <p:cNvSpPr txBox="1"/>
          <p:nvPr/>
        </p:nvSpPr>
        <p:spPr>
          <a:xfrm>
            <a:off x="2743200" y="2907792"/>
            <a:ext cx="1005840" cy="228600"/>
          </a:xfrm>
          <a:prstGeom prst="rect">
            <a:avLst/>
          </a:prstGeom>
          <a:noFill/>
          <a:ln/>
        </p:spPr>
        <p:txBody>
          <a:bodyPr wrap="square" lIns="0" tIns="0" rIns="0" bIns="0" rtlCol="0" anchor="t"/>
          <a:lstStyle/>
          <a:p>
            <a:pPr marL="0" indent="0" algn="ctr">
              <a:buNone/>
            </a:pPr>
            <a:r>
              <a:rPr lang="en-US" sz="1000" dirty="0">
                <a:solidFill>
                  <a:srgbClr val="6B6467"/>
                </a:solidFill>
                <a:latin typeface="Calibri" pitchFamily="34" charset="0"/>
                <a:ea typeface="Calibri" pitchFamily="34" charset="-122"/>
                <a:cs typeface="Calibri" pitchFamily="34" charset="-120"/>
              </a:rPr>
              <a:t>Port 7103</a:t>
            </a:r>
            <a:endParaRPr lang="en-US" sz="1000" dirty="0"/>
          </a:p>
        </p:txBody>
      </p:sp>
      <p:sp>
        <p:nvSpPr>
          <p:cNvPr id="31" name="Shape 28"/>
          <p:cNvSpPr/>
          <p:nvPr/>
        </p:nvSpPr>
        <p:spPr>
          <a:xfrm>
            <a:off x="3246120" y="3337560"/>
            <a:ext cx="0" cy="228600"/>
          </a:xfrm>
          <a:prstGeom prst="line">
            <a:avLst/>
          </a:prstGeom>
          <a:noFill/>
          <a:ln w="15875">
            <a:solidFill>
              <a:srgbClr val="6B6467"/>
            </a:solidFill>
            <a:prstDash val="solid"/>
          </a:ln>
        </p:spPr>
        <p:txBody>
          <a:bodyPr/>
          <a:lstStyle/>
          <a:p>
            <a:endParaRPr lang="en-IN"/>
          </a:p>
        </p:txBody>
      </p:sp>
      <p:sp>
        <p:nvSpPr>
          <p:cNvPr id="32" name="Shape 29"/>
          <p:cNvSpPr/>
          <p:nvPr/>
        </p:nvSpPr>
        <p:spPr>
          <a:xfrm>
            <a:off x="2788920" y="3566160"/>
            <a:ext cx="914400" cy="685800"/>
          </a:xfrm>
          <a:prstGeom prst="can">
            <a:avLst/>
          </a:prstGeom>
          <a:solidFill>
            <a:srgbClr val="F7E8EE"/>
          </a:solidFill>
          <a:ln w="12700">
            <a:solidFill>
              <a:srgbClr val="8C1D40"/>
            </a:solidFill>
            <a:prstDash val="solid"/>
          </a:ln>
        </p:spPr>
        <p:txBody>
          <a:bodyPr/>
          <a:lstStyle/>
          <a:p>
            <a:endParaRPr lang="en-IN"/>
          </a:p>
        </p:txBody>
      </p:sp>
      <p:sp>
        <p:nvSpPr>
          <p:cNvPr id="33" name="Text 30"/>
          <p:cNvSpPr txBox="1"/>
          <p:nvPr/>
        </p:nvSpPr>
        <p:spPr>
          <a:xfrm>
            <a:off x="2788920" y="3767328"/>
            <a:ext cx="914400" cy="274320"/>
          </a:xfrm>
          <a:prstGeom prst="rect">
            <a:avLst/>
          </a:prstGeom>
          <a:noFill/>
          <a:ln/>
        </p:spPr>
        <p:txBody>
          <a:bodyPr wrap="square" lIns="0" tIns="0" rIns="0" bIns="0" rtlCol="0" anchor="t"/>
          <a:lstStyle/>
          <a:p>
            <a:pPr marL="0" indent="0" algn="ctr">
              <a:buNone/>
            </a:pPr>
            <a:r>
              <a:rPr lang="en-US" sz="1050" b="1" dirty="0">
                <a:solidFill>
                  <a:srgbClr val="8C1D40"/>
                </a:solidFill>
                <a:latin typeface="Calibri" pitchFamily="34" charset="0"/>
                <a:ea typeface="Calibri" pitchFamily="34" charset="-122"/>
                <a:cs typeface="Calibri" pitchFamily="34" charset="-120"/>
              </a:rPr>
              <a:t>QuoteDb</a:t>
            </a:r>
            <a:endParaRPr lang="en-US" sz="1050" dirty="0"/>
          </a:p>
        </p:txBody>
      </p:sp>
      <p:sp>
        <p:nvSpPr>
          <p:cNvPr id="34" name="Shape 31"/>
          <p:cNvSpPr/>
          <p:nvPr/>
        </p:nvSpPr>
        <p:spPr>
          <a:xfrm>
            <a:off x="4389120" y="2286000"/>
            <a:ext cx="0" cy="274320"/>
          </a:xfrm>
          <a:prstGeom prst="line">
            <a:avLst/>
          </a:prstGeom>
          <a:noFill/>
          <a:ln w="15875">
            <a:solidFill>
              <a:srgbClr val="6B6467"/>
            </a:solidFill>
            <a:prstDash val="solid"/>
            <a:tailEnd type="triangle"/>
          </a:ln>
        </p:spPr>
        <p:txBody>
          <a:bodyPr/>
          <a:lstStyle/>
          <a:p>
            <a:endParaRPr lang="en-IN"/>
          </a:p>
        </p:txBody>
      </p:sp>
      <p:sp>
        <p:nvSpPr>
          <p:cNvPr id="35" name="Shape 32"/>
          <p:cNvSpPr/>
          <p:nvPr/>
        </p:nvSpPr>
        <p:spPr>
          <a:xfrm>
            <a:off x="3886200" y="2560320"/>
            <a:ext cx="1005840" cy="7772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36" name="Text 33"/>
          <p:cNvSpPr txBox="1"/>
          <p:nvPr/>
        </p:nvSpPr>
        <p:spPr>
          <a:xfrm>
            <a:off x="3886200" y="2633472"/>
            <a:ext cx="1005840" cy="274320"/>
          </a:xfrm>
          <a:prstGeom prst="rect">
            <a:avLst/>
          </a:prstGeom>
          <a:noFill/>
          <a:ln/>
        </p:spPr>
        <p:txBody>
          <a:bodyPr wrap="square" lIns="0" tIns="0" rIns="0" bIns="0" rtlCol="0" anchor="t"/>
          <a:lstStyle/>
          <a:p>
            <a:pPr marL="0" indent="0" algn="ctr">
              <a:buNone/>
            </a:pPr>
            <a:r>
              <a:rPr lang="en-US" sz="1200" b="1" dirty="0">
                <a:solidFill>
                  <a:srgbClr val="8C1D40"/>
                </a:solidFill>
                <a:latin typeface="Calibri" pitchFamily="34" charset="0"/>
                <a:ea typeface="Calibri" pitchFamily="34" charset="-122"/>
                <a:cs typeface="Calibri" pitchFamily="34" charset="-120"/>
              </a:rPr>
              <a:t>Policy API</a:t>
            </a:r>
            <a:endParaRPr lang="en-US" sz="1200" dirty="0"/>
          </a:p>
        </p:txBody>
      </p:sp>
      <p:sp>
        <p:nvSpPr>
          <p:cNvPr id="37" name="Text 34"/>
          <p:cNvSpPr txBox="1"/>
          <p:nvPr/>
        </p:nvSpPr>
        <p:spPr>
          <a:xfrm>
            <a:off x="3886200" y="2907792"/>
            <a:ext cx="1005840" cy="228600"/>
          </a:xfrm>
          <a:prstGeom prst="rect">
            <a:avLst/>
          </a:prstGeom>
          <a:noFill/>
          <a:ln/>
        </p:spPr>
        <p:txBody>
          <a:bodyPr wrap="square" lIns="0" tIns="0" rIns="0" bIns="0" rtlCol="0" anchor="t"/>
          <a:lstStyle/>
          <a:p>
            <a:pPr marL="0" indent="0" algn="ctr">
              <a:buNone/>
            </a:pPr>
            <a:r>
              <a:rPr lang="en-US" sz="1000" dirty="0">
                <a:solidFill>
                  <a:srgbClr val="6B6467"/>
                </a:solidFill>
                <a:latin typeface="Calibri" pitchFamily="34" charset="0"/>
                <a:ea typeface="Calibri" pitchFamily="34" charset="-122"/>
                <a:cs typeface="Calibri" pitchFamily="34" charset="-120"/>
              </a:rPr>
              <a:t>Port 7104</a:t>
            </a:r>
            <a:endParaRPr lang="en-US" sz="1000" dirty="0"/>
          </a:p>
        </p:txBody>
      </p:sp>
      <p:sp>
        <p:nvSpPr>
          <p:cNvPr id="38" name="Shape 35"/>
          <p:cNvSpPr/>
          <p:nvPr/>
        </p:nvSpPr>
        <p:spPr>
          <a:xfrm>
            <a:off x="4389120" y="3337560"/>
            <a:ext cx="0" cy="228600"/>
          </a:xfrm>
          <a:prstGeom prst="line">
            <a:avLst/>
          </a:prstGeom>
          <a:noFill/>
          <a:ln w="15875">
            <a:solidFill>
              <a:srgbClr val="6B6467"/>
            </a:solidFill>
            <a:prstDash val="solid"/>
          </a:ln>
        </p:spPr>
        <p:txBody>
          <a:bodyPr/>
          <a:lstStyle/>
          <a:p>
            <a:endParaRPr lang="en-IN"/>
          </a:p>
        </p:txBody>
      </p:sp>
      <p:sp>
        <p:nvSpPr>
          <p:cNvPr id="39" name="Shape 36"/>
          <p:cNvSpPr/>
          <p:nvPr/>
        </p:nvSpPr>
        <p:spPr>
          <a:xfrm>
            <a:off x="3931920" y="3566160"/>
            <a:ext cx="914400" cy="685800"/>
          </a:xfrm>
          <a:prstGeom prst="can">
            <a:avLst/>
          </a:prstGeom>
          <a:solidFill>
            <a:srgbClr val="F7E8EE"/>
          </a:solidFill>
          <a:ln w="12700">
            <a:solidFill>
              <a:srgbClr val="8C1D40"/>
            </a:solidFill>
            <a:prstDash val="solid"/>
          </a:ln>
        </p:spPr>
        <p:txBody>
          <a:bodyPr/>
          <a:lstStyle/>
          <a:p>
            <a:endParaRPr lang="en-IN"/>
          </a:p>
        </p:txBody>
      </p:sp>
      <p:sp>
        <p:nvSpPr>
          <p:cNvPr id="40" name="Text 37"/>
          <p:cNvSpPr txBox="1"/>
          <p:nvPr/>
        </p:nvSpPr>
        <p:spPr>
          <a:xfrm>
            <a:off x="3931920" y="3767328"/>
            <a:ext cx="914400" cy="274320"/>
          </a:xfrm>
          <a:prstGeom prst="rect">
            <a:avLst/>
          </a:prstGeom>
          <a:noFill/>
          <a:ln/>
        </p:spPr>
        <p:txBody>
          <a:bodyPr wrap="square" lIns="0" tIns="0" rIns="0" bIns="0" rtlCol="0" anchor="t"/>
          <a:lstStyle/>
          <a:p>
            <a:pPr marL="0" indent="0" algn="ctr">
              <a:buNone/>
            </a:pPr>
            <a:r>
              <a:rPr lang="en-US" sz="1050" b="1" dirty="0">
                <a:solidFill>
                  <a:srgbClr val="8C1D40"/>
                </a:solidFill>
                <a:latin typeface="Calibri" pitchFamily="34" charset="0"/>
                <a:ea typeface="Calibri" pitchFamily="34" charset="-122"/>
                <a:cs typeface="Calibri" pitchFamily="34" charset="-120"/>
              </a:rPr>
              <a:t>PolicyDb</a:t>
            </a:r>
            <a:endParaRPr lang="en-US" sz="1050" dirty="0"/>
          </a:p>
        </p:txBody>
      </p:sp>
      <p:sp>
        <p:nvSpPr>
          <p:cNvPr id="41" name="Shape 38"/>
          <p:cNvSpPr/>
          <p:nvPr/>
        </p:nvSpPr>
        <p:spPr>
          <a:xfrm>
            <a:off x="5532120" y="2286000"/>
            <a:ext cx="0" cy="274320"/>
          </a:xfrm>
          <a:prstGeom prst="line">
            <a:avLst/>
          </a:prstGeom>
          <a:noFill/>
          <a:ln w="15875">
            <a:solidFill>
              <a:srgbClr val="6B6467"/>
            </a:solidFill>
            <a:prstDash val="solid"/>
            <a:tailEnd type="triangle"/>
          </a:ln>
        </p:spPr>
        <p:txBody>
          <a:bodyPr/>
          <a:lstStyle/>
          <a:p>
            <a:endParaRPr lang="en-IN"/>
          </a:p>
        </p:txBody>
      </p:sp>
      <p:sp>
        <p:nvSpPr>
          <p:cNvPr id="42" name="Shape 39"/>
          <p:cNvSpPr/>
          <p:nvPr/>
        </p:nvSpPr>
        <p:spPr>
          <a:xfrm>
            <a:off x="5029200" y="2560320"/>
            <a:ext cx="1005840" cy="7772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43" name="Text 40"/>
          <p:cNvSpPr txBox="1"/>
          <p:nvPr/>
        </p:nvSpPr>
        <p:spPr>
          <a:xfrm>
            <a:off x="5029200" y="2633472"/>
            <a:ext cx="1005840" cy="274320"/>
          </a:xfrm>
          <a:prstGeom prst="rect">
            <a:avLst/>
          </a:prstGeom>
          <a:noFill/>
          <a:ln/>
        </p:spPr>
        <p:txBody>
          <a:bodyPr wrap="square" lIns="0" tIns="0" rIns="0" bIns="0" rtlCol="0" anchor="t"/>
          <a:lstStyle/>
          <a:p>
            <a:pPr marL="0" indent="0" algn="ctr">
              <a:buNone/>
            </a:pPr>
            <a:r>
              <a:rPr lang="en-US" sz="1200" b="1" dirty="0">
                <a:solidFill>
                  <a:srgbClr val="8C1D40"/>
                </a:solidFill>
                <a:latin typeface="Calibri" pitchFamily="34" charset="0"/>
                <a:ea typeface="Calibri" pitchFamily="34" charset="-122"/>
                <a:cs typeface="Calibri" pitchFamily="34" charset="-120"/>
              </a:rPr>
              <a:t>Claim API</a:t>
            </a:r>
            <a:endParaRPr lang="en-US" sz="1200" dirty="0"/>
          </a:p>
        </p:txBody>
      </p:sp>
      <p:sp>
        <p:nvSpPr>
          <p:cNvPr id="44" name="Text 41"/>
          <p:cNvSpPr txBox="1"/>
          <p:nvPr/>
        </p:nvSpPr>
        <p:spPr>
          <a:xfrm>
            <a:off x="5029200" y="2907792"/>
            <a:ext cx="1005840" cy="228600"/>
          </a:xfrm>
          <a:prstGeom prst="rect">
            <a:avLst/>
          </a:prstGeom>
          <a:noFill/>
          <a:ln/>
        </p:spPr>
        <p:txBody>
          <a:bodyPr wrap="square" lIns="0" tIns="0" rIns="0" bIns="0" rtlCol="0" anchor="t"/>
          <a:lstStyle/>
          <a:p>
            <a:pPr marL="0" indent="0" algn="ctr">
              <a:buNone/>
            </a:pPr>
            <a:r>
              <a:rPr lang="en-US" sz="1000" dirty="0">
                <a:solidFill>
                  <a:srgbClr val="6B6467"/>
                </a:solidFill>
                <a:latin typeface="Calibri" pitchFamily="34" charset="0"/>
                <a:ea typeface="Calibri" pitchFamily="34" charset="-122"/>
                <a:cs typeface="Calibri" pitchFamily="34" charset="-120"/>
              </a:rPr>
              <a:t>Port 7105</a:t>
            </a:r>
            <a:endParaRPr lang="en-US" sz="1000" dirty="0"/>
          </a:p>
        </p:txBody>
      </p:sp>
      <p:sp>
        <p:nvSpPr>
          <p:cNvPr id="45" name="Shape 42"/>
          <p:cNvSpPr/>
          <p:nvPr/>
        </p:nvSpPr>
        <p:spPr>
          <a:xfrm>
            <a:off x="5532120" y="3337560"/>
            <a:ext cx="0" cy="228600"/>
          </a:xfrm>
          <a:prstGeom prst="line">
            <a:avLst/>
          </a:prstGeom>
          <a:noFill/>
          <a:ln w="15875">
            <a:solidFill>
              <a:srgbClr val="6B6467"/>
            </a:solidFill>
            <a:prstDash val="solid"/>
          </a:ln>
        </p:spPr>
        <p:txBody>
          <a:bodyPr/>
          <a:lstStyle/>
          <a:p>
            <a:endParaRPr lang="en-IN"/>
          </a:p>
        </p:txBody>
      </p:sp>
      <p:sp>
        <p:nvSpPr>
          <p:cNvPr id="46" name="Shape 43"/>
          <p:cNvSpPr/>
          <p:nvPr/>
        </p:nvSpPr>
        <p:spPr>
          <a:xfrm>
            <a:off x="5074920" y="3566160"/>
            <a:ext cx="914400" cy="685800"/>
          </a:xfrm>
          <a:prstGeom prst="can">
            <a:avLst/>
          </a:prstGeom>
          <a:solidFill>
            <a:srgbClr val="F7E8EE"/>
          </a:solidFill>
          <a:ln w="12700">
            <a:solidFill>
              <a:srgbClr val="8C1D40"/>
            </a:solidFill>
            <a:prstDash val="solid"/>
          </a:ln>
        </p:spPr>
        <p:txBody>
          <a:bodyPr/>
          <a:lstStyle/>
          <a:p>
            <a:endParaRPr lang="en-IN"/>
          </a:p>
        </p:txBody>
      </p:sp>
      <p:sp>
        <p:nvSpPr>
          <p:cNvPr id="47" name="Text 44"/>
          <p:cNvSpPr txBox="1"/>
          <p:nvPr/>
        </p:nvSpPr>
        <p:spPr>
          <a:xfrm>
            <a:off x="5074920" y="3767328"/>
            <a:ext cx="914400" cy="274320"/>
          </a:xfrm>
          <a:prstGeom prst="rect">
            <a:avLst/>
          </a:prstGeom>
          <a:noFill/>
          <a:ln/>
        </p:spPr>
        <p:txBody>
          <a:bodyPr wrap="square" lIns="0" tIns="0" rIns="0" bIns="0" rtlCol="0" anchor="t"/>
          <a:lstStyle/>
          <a:p>
            <a:pPr marL="0" indent="0" algn="ctr">
              <a:buNone/>
            </a:pPr>
            <a:r>
              <a:rPr lang="en-US" sz="1050" b="1" dirty="0">
                <a:solidFill>
                  <a:srgbClr val="8C1D40"/>
                </a:solidFill>
                <a:latin typeface="Calibri" pitchFamily="34" charset="0"/>
                <a:ea typeface="Calibri" pitchFamily="34" charset="-122"/>
                <a:cs typeface="Calibri" pitchFamily="34" charset="-120"/>
              </a:rPr>
              <a:t>ClaimDb</a:t>
            </a:r>
            <a:endParaRPr lang="en-US" sz="1050" dirty="0"/>
          </a:p>
        </p:txBody>
      </p:sp>
      <p:sp>
        <p:nvSpPr>
          <p:cNvPr id="48" name="Text 45"/>
          <p:cNvSpPr txBox="1"/>
          <p:nvPr/>
        </p:nvSpPr>
        <p:spPr>
          <a:xfrm>
            <a:off x="457200" y="4389120"/>
            <a:ext cx="5577840" cy="320040"/>
          </a:xfrm>
          <a:prstGeom prst="rect">
            <a:avLst/>
          </a:prstGeom>
          <a:noFill/>
          <a:ln/>
        </p:spPr>
        <p:txBody>
          <a:bodyPr wrap="square" lIns="0" tIns="0" rIns="0" bIns="0" rtlCol="0" anchor="t"/>
          <a:lstStyle/>
          <a:p>
            <a:pPr marL="0" indent="0">
              <a:buNone/>
            </a:pPr>
            <a:r>
              <a:rPr lang="en-US" sz="1050" i="1" dirty="0">
                <a:solidFill>
                  <a:srgbClr val="6B6467"/>
                </a:solidFill>
                <a:latin typeface="Calibri" pitchFamily="34" charset="0"/>
                <a:ea typeface="Calibri" pitchFamily="34" charset="-122"/>
                <a:cs typeface="Calibri" pitchFamily="34" charset="-120"/>
              </a:rPr>
              <a:t>Five SQL Server databases · no cross-database joins · services call each other directly via 5-min internal JWTs</a:t>
            </a:r>
            <a:endParaRPr lang="en-US" sz="1050" dirty="0"/>
          </a:p>
        </p:txBody>
      </p:sp>
      <p:sp>
        <p:nvSpPr>
          <p:cNvPr id="49" name="Shape 46"/>
          <p:cNvSpPr/>
          <p:nvPr/>
        </p:nvSpPr>
        <p:spPr>
          <a:xfrm>
            <a:off x="6263640" y="1143000"/>
            <a:ext cx="2423160" cy="1078992"/>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50" name="Shape 47"/>
          <p:cNvSpPr/>
          <p:nvPr/>
        </p:nvSpPr>
        <p:spPr>
          <a:xfrm>
            <a:off x="6373368" y="1252728"/>
            <a:ext cx="384048" cy="384048"/>
          </a:xfrm>
          <a:prstGeom prst="ellipse">
            <a:avLst/>
          </a:prstGeom>
          <a:solidFill>
            <a:srgbClr val="F7E8EE"/>
          </a:solidFill>
          <a:ln w="12700">
            <a:solidFill>
              <a:srgbClr val="F7E8EE"/>
            </a:solidFill>
            <a:prstDash val="solid"/>
          </a:ln>
        </p:spPr>
        <p:txBody>
          <a:bodyPr/>
          <a:lstStyle/>
          <a:p>
            <a:endParaRPr lang="en-IN"/>
          </a:p>
        </p:txBody>
      </p:sp>
      <p:pic>
        <p:nvPicPr>
          <p:cNvPr id="51" name="Image 0" descr="preencoded.png"/>
          <p:cNvPicPr>
            <a:picLocks noChangeAspect="1"/>
          </p:cNvPicPr>
          <p:nvPr/>
        </p:nvPicPr>
        <p:blipFill>
          <a:blip r:embed="rId3"/>
          <a:stretch>
            <a:fillRect/>
          </a:stretch>
        </p:blipFill>
        <p:spPr>
          <a:xfrm>
            <a:off x="6469380" y="1348740"/>
            <a:ext cx="192024" cy="192024"/>
          </a:xfrm>
          <a:prstGeom prst="rect">
            <a:avLst/>
          </a:prstGeom>
        </p:spPr>
      </p:pic>
      <p:sp>
        <p:nvSpPr>
          <p:cNvPr id="52" name="Text 48"/>
          <p:cNvSpPr txBox="1"/>
          <p:nvPr/>
        </p:nvSpPr>
        <p:spPr>
          <a:xfrm>
            <a:off x="6839712" y="1252728"/>
            <a:ext cx="1783080" cy="384048"/>
          </a:xfrm>
          <a:prstGeom prst="rect">
            <a:avLst/>
          </a:prstGeom>
          <a:noFill/>
          <a:ln/>
        </p:spPr>
        <p:txBody>
          <a:bodyPr wrap="square" lIns="0" tIns="0" rIns="0" bIns="0" rtlCol="0" anchor="ctr"/>
          <a:lstStyle/>
          <a:p>
            <a:pPr marL="0" indent="0">
              <a:buNone/>
            </a:pPr>
            <a:r>
              <a:rPr lang="en-US" sz="1250" b="1" dirty="0">
                <a:solidFill>
                  <a:srgbClr val="1F1A1C"/>
                </a:solidFill>
                <a:latin typeface="Calibri" pitchFamily="34" charset="0"/>
                <a:ea typeface="Calibri" pitchFamily="34" charset="-122"/>
                <a:cs typeface="Calibri" pitchFamily="34" charset="-120"/>
              </a:rPr>
              <a:t>Database per service</a:t>
            </a:r>
            <a:endParaRPr lang="en-US" sz="1250" dirty="0"/>
          </a:p>
        </p:txBody>
      </p:sp>
      <p:sp>
        <p:nvSpPr>
          <p:cNvPr id="53" name="Text 49"/>
          <p:cNvSpPr txBox="1"/>
          <p:nvPr/>
        </p:nvSpPr>
        <p:spPr>
          <a:xfrm>
            <a:off x="6373368" y="1709928"/>
            <a:ext cx="2240280" cy="50292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Cross-database SQL joins are strictly forbidden.</a:t>
            </a:r>
            <a:endParaRPr lang="en-US" sz="1050" dirty="0"/>
          </a:p>
        </p:txBody>
      </p:sp>
      <p:sp>
        <p:nvSpPr>
          <p:cNvPr id="54" name="Shape 50"/>
          <p:cNvSpPr/>
          <p:nvPr/>
        </p:nvSpPr>
        <p:spPr>
          <a:xfrm>
            <a:off x="6263640" y="2331720"/>
            <a:ext cx="2423160" cy="1078992"/>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55" name="Shape 51"/>
          <p:cNvSpPr/>
          <p:nvPr/>
        </p:nvSpPr>
        <p:spPr>
          <a:xfrm>
            <a:off x="6373368" y="2441448"/>
            <a:ext cx="384048" cy="384048"/>
          </a:xfrm>
          <a:prstGeom prst="ellipse">
            <a:avLst/>
          </a:prstGeom>
          <a:solidFill>
            <a:srgbClr val="F7E8EE"/>
          </a:solidFill>
          <a:ln w="12700">
            <a:solidFill>
              <a:srgbClr val="F7E8EE"/>
            </a:solidFill>
            <a:prstDash val="solid"/>
          </a:ln>
        </p:spPr>
        <p:txBody>
          <a:bodyPr/>
          <a:lstStyle/>
          <a:p>
            <a:endParaRPr lang="en-IN"/>
          </a:p>
        </p:txBody>
      </p:sp>
      <p:pic>
        <p:nvPicPr>
          <p:cNvPr id="56" name="Image 1" descr="preencoded.png"/>
          <p:cNvPicPr>
            <a:picLocks noChangeAspect="1"/>
          </p:cNvPicPr>
          <p:nvPr/>
        </p:nvPicPr>
        <p:blipFill>
          <a:blip r:embed="rId4"/>
          <a:stretch>
            <a:fillRect/>
          </a:stretch>
        </p:blipFill>
        <p:spPr>
          <a:xfrm>
            <a:off x="6469380" y="2537460"/>
            <a:ext cx="192024" cy="192024"/>
          </a:xfrm>
          <a:prstGeom prst="rect">
            <a:avLst/>
          </a:prstGeom>
        </p:spPr>
      </p:pic>
      <p:sp>
        <p:nvSpPr>
          <p:cNvPr id="57" name="Text 52"/>
          <p:cNvSpPr txBox="1"/>
          <p:nvPr/>
        </p:nvSpPr>
        <p:spPr>
          <a:xfrm>
            <a:off x="6839712" y="2441448"/>
            <a:ext cx="1783080" cy="384048"/>
          </a:xfrm>
          <a:prstGeom prst="rect">
            <a:avLst/>
          </a:prstGeom>
          <a:noFill/>
          <a:ln/>
        </p:spPr>
        <p:txBody>
          <a:bodyPr wrap="square" lIns="0" tIns="0" rIns="0" bIns="0" rtlCol="0" anchor="ctr"/>
          <a:lstStyle/>
          <a:p>
            <a:pPr marL="0" indent="0">
              <a:buNone/>
            </a:pPr>
            <a:r>
              <a:rPr lang="en-US" sz="1250" b="1" dirty="0">
                <a:solidFill>
                  <a:srgbClr val="1F1A1C"/>
                </a:solidFill>
                <a:latin typeface="Calibri" pitchFamily="34" charset="0"/>
                <a:ea typeface="Calibri" pitchFamily="34" charset="-122"/>
                <a:cs typeface="Calibri" pitchFamily="34" charset="-120"/>
              </a:rPr>
              <a:t>M2M internal auth</a:t>
            </a:r>
            <a:endParaRPr lang="en-US" sz="1250" dirty="0"/>
          </a:p>
        </p:txBody>
      </p:sp>
      <p:sp>
        <p:nvSpPr>
          <p:cNvPr id="58" name="Text 53"/>
          <p:cNvSpPr txBox="1"/>
          <p:nvPr/>
        </p:nvSpPr>
        <p:spPr>
          <a:xfrm>
            <a:off x="6373368" y="2898648"/>
            <a:ext cx="2240280" cy="50292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Service-to-service JWTs (client_type: internal_service) bypass the gateway.</a:t>
            </a:r>
            <a:endParaRPr lang="en-US" sz="1050" dirty="0"/>
          </a:p>
        </p:txBody>
      </p:sp>
      <p:sp>
        <p:nvSpPr>
          <p:cNvPr id="59" name="Shape 54"/>
          <p:cNvSpPr/>
          <p:nvPr/>
        </p:nvSpPr>
        <p:spPr>
          <a:xfrm>
            <a:off x="6263640" y="3520440"/>
            <a:ext cx="2423160" cy="1078992"/>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60" name="Shape 55"/>
          <p:cNvSpPr/>
          <p:nvPr/>
        </p:nvSpPr>
        <p:spPr>
          <a:xfrm>
            <a:off x="6373368" y="3630168"/>
            <a:ext cx="384048" cy="384048"/>
          </a:xfrm>
          <a:prstGeom prst="ellipse">
            <a:avLst/>
          </a:prstGeom>
          <a:solidFill>
            <a:srgbClr val="F7E8EE"/>
          </a:solidFill>
          <a:ln w="12700">
            <a:solidFill>
              <a:srgbClr val="F7E8EE"/>
            </a:solidFill>
            <a:prstDash val="solid"/>
          </a:ln>
        </p:spPr>
        <p:txBody>
          <a:bodyPr/>
          <a:lstStyle/>
          <a:p>
            <a:endParaRPr lang="en-IN"/>
          </a:p>
        </p:txBody>
      </p:sp>
      <p:pic>
        <p:nvPicPr>
          <p:cNvPr id="61" name="Image 2" descr="preencoded.png"/>
          <p:cNvPicPr>
            <a:picLocks noChangeAspect="1"/>
          </p:cNvPicPr>
          <p:nvPr/>
        </p:nvPicPr>
        <p:blipFill>
          <a:blip r:embed="rId5"/>
          <a:stretch>
            <a:fillRect/>
          </a:stretch>
        </p:blipFill>
        <p:spPr>
          <a:xfrm>
            <a:off x="6469380" y="3726180"/>
            <a:ext cx="192024" cy="192024"/>
          </a:xfrm>
          <a:prstGeom prst="rect">
            <a:avLst/>
          </a:prstGeom>
        </p:spPr>
      </p:pic>
      <p:sp>
        <p:nvSpPr>
          <p:cNvPr id="62" name="Text 56"/>
          <p:cNvSpPr txBox="1"/>
          <p:nvPr/>
        </p:nvSpPr>
        <p:spPr>
          <a:xfrm>
            <a:off x="6839712" y="3630168"/>
            <a:ext cx="1783080" cy="384048"/>
          </a:xfrm>
          <a:prstGeom prst="rect">
            <a:avLst/>
          </a:prstGeom>
          <a:noFill/>
          <a:ln/>
        </p:spPr>
        <p:txBody>
          <a:bodyPr wrap="square" lIns="0" tIns="0" rIns="0" bIns="0" rtlCol="0" anchor="ctr"/>
          <a:lstStyle/>
          <a:p>
            <a:pPr marL="0" indent="0">
              <a:buNone/>
            </a:pPr>
            <a:r>
              <a:rPr lang="en-US" sz="1250" b="1" dirty="0">
                <a:solidFill>
                  <a:srgbClr val="1F1A1C"/>
                </a:solidFill>
                <a:latin typeface="Calibri" pitchFamily="34" charset="0"/>
                <a:ea typeface="Calibri" pitchFamily="34" charset="-122"/>
                <a:cs typeface="Calibri" pitchFamily="34" charset="-120"/>
              </a:rPr>
              <a:t>Snapshot immutability</a:t>
            </a:r>
            <a:endParaRPr lang="en-US" sz="1250" dirty="0"/>
          </a:p>
        </p:txBody>
      </p:sp>
      <p:sp>
        <p:nvSpPr>
          <p:cNvPr id="63" name="Text 57"/>
          <p:cNvSpPr txBox="1"/>
          <p:nvPr/>
        </p:nvSpPr>
        <p:spPr>
          <a:xfrm>
            <a:off x="6373368" y="4087368"/>
            <a:ext cx="2240280" cy="50292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Quotes freeze 14 property fields; policies freeze 30+; claims freeze limits.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marL="0" indent="0">
              <a:buNone/>
            </a:pPr>
            <a:r>
              <a:rPr lang="en-US" sz="2600" b="1" dirty="0">
                <a:solidFill>
                  <a:srgbClr val="1F1A1C"/>
                </a:solidFill>
                <a:latin typeface="Cambria" pitchFamily="34" charset="0"/>
                <a:ea typeface="Cambria" pitchFamily="34" charset="-122"/>
                <a:cs typeface="Cambria" pitchFamily="34" charset="-120"/>
              </a:rPr>
              <a:t>Technology Stack</a:t>
            </a:r>
            <a:endParaRPr lang="en-US" sz="26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marL="0" indent="0">
              <a:buNone/>
            </a:pPr>
            <a:r>
              <a:rPr lang="en-US" sz="1300" dirty="0">
                <a:solidFill>
                  <a:srgbClr val="6B6467"/>
                </a:solidFill>
                <a:latin typeface="Calibri" pitchFamily="34" charset="0"/>
                <a:ea typeface="Calibri" pitchFamily="34" charset="-122"/>
                <a:cs typeface="Calibri" pitchFamily="34" charset="-120"/>
              </a:rPr>
              <a:t>Enterprise .NET 8 backend, modern Angular 18 frontend, Google Vertex AI.</a:t>
            </a:r>
            <a:endParaRPr lang="en-US" sz="1300" dirty="0"/>
          </a:p>
        </p:txBody>
      </p:sp>
      <p:sp>
        <p:nvSpPr>
          <p:cNvPr id="4" name="Text 2"/>
          <p:cNvSpPr txBox="1"/>
          <p:nvPr/>
        </p:nvSpPr>
        <p:spPr>
          <a:xfrm>
            <a:off x="457200" y="4828032"/>
            <a:ext cx="5486400" cy="201168"/>
          </a:xfrm>
          <a:prstGeom prst="rect">
            <a:avLst/>
          </a:prstGeom>
          <a:noFill/>
          <a:ln/>
        </p:spPr>
        <p:txBody>
          <a:bodyPr wrap="square" lIns="0" tIns="0" rIns="0" bIns="0" rtlCol="0" anchor="ctr"/>
          <a:lstStyle/>
          <a:p>
            <a:pPr marL="0" indent="0">
              <a:buNone/>
            </a:pPr>
            <a:r>
              <a:rPr lang="en-US" sz="900" dirty="0">
                <a:solidFill>
                  <a:srgbClr val="6B6467"/>
                </a:solidFill>
                <a:latin typeface="Calibri" pitchFamily="34" charset="0"/>
                <a:ea typeface="Calibri" pitchFamily="34" charset="-122"/>
                <a:cs typeface="Calibri" pitchFamily="34" charset="-120"/>
              </a:rPr>
              <a:t>Vacation Home Insurance Platform  |  Capstone Project</a:t>
            </a:r>
            <a:endParaRPr lang="en-US" sz="900" dirty="0"/>
          </a:p>
        </p:txBody>
      </p:sp>
      <p:sp>
        <p:nvSpPr>
          <p:cNvPr id="5" name="Text 3"/>
          <p:cNvSpPr txBox="1"/>
          <p:nvPr/>
        </p:nvSpPr>
        <p:spPr>
          <a:xfrm>
            <a:off x="8229600" y="4828032"/>
            <a:ext cx="457200" cy="201168"/>
          </a:xfrm>
          <a:prstGeom prst="rect">
            <a:avLst/>
          </a:prstGeom>
          <a:noFill/>
          <a:ln/>
        </p:spPr>
        <p:txBody>
          <a:bodyPr wrap="square" lIns="0" tIns="0" rIns="0" bIns="0" rtlCol="0" anchor="ctr"/>
          <a:lstStyle/>
          <a:p>
            <a:pPr marL="0" indent="0" algn="r">
              <a:buNone/>
            </a:pPr>
            <a:r>
              <a:rPr lang="en-US" sz="900" dirty="0">
                <a:solidFill>
                  <a:srgbClr val="6B6467"/>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457200" y="1188720"/>
            <a:ext cx="1554480" cy="868680"/>
          </a:xfrm>
          <a:prstGeom prst="rect">
            <a:avLst/>
          </a:prstGeom>
          <a:solidFill>
            <a:srgbClr val="8C1D40"/>
          </a:solidFill>
          <a:ln w="12700">
            <a:solidFill>
              <a:srgbClr val="8C1D40"/>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1051560" y="1261872"/>
            <a:ext cx="365760" cy="365760"/>
          </a:xfrm>
          <a:prstGeom prst="rect">
            <a:avLst/>
          </a:prstGeom>
        </p:spPr>
      </p:pic>
      <p:sp>
        <p:nvSpPr>
          <p:cNvPr id="9" name="Text 5"/>
          <p:cNvSpPr txBox="1"/>
          <p:nvPr/>
        </p:nvSpPr>
        <p:spPr>
          <a:xfrm>
            <a:off x="457200" y="1664208"/>
            <a:ext cx="1554480" cy="27432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Frontend</a:t>
            </a:r>
            <a:endParaRPr lang="en-US" sz="1250" dirty="0"/>
          </a:p>
        </p:txBody>
      </p:sp>
      <p:sp>
        <p:nvSpPr>
          <p:cNvPr id="10" name="Shape 6"/>
          <p:cNvSpPr/>
          <p:nvPr/>
        </p:nvSpPr>
        <p:spPr>
          <a:xfrm>
            <a:off x="457200" y="2057400"/>
            <a:ext cx="1554480" cy="256032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1" name="Text 7"/>
          <p:cNvSpPr txBox="1"/>
          <p:nvPr/>
        </p:nvSpPr>
        <p:spPr>
          <a:xfrm>
            <a:off x="548640" y="21762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Angular 18+, TypeScript</a:t>
            </a:r>
            <a:endParaRPr lang="en-US" sz="1150" dirty="0"/>
          </a:p>
        </p:txBody>
      </p:sp>
      <p:sp>
        <p:nvSpPr>
          <p:cNvPr id="12" name="Shape 8"/>
          <p:cNvSpPr/>
          <p:nvPr/>
        </p:nvSpPr>
        <p:spPr>
          <a:xfrm>
            <a:off x="548640" y="2606040"/>
            <a:ext cx="1371600" cy="0"/>
          </a:xfrm>
          <a:prstGeom prst="line">
            <a:avLst/>
          </a:prstGeom>
          <a:noFill/>
          <a:ln w="6350">
            <a:solidFill>
              <a:srgbClr val="E3DADE"/>
            </a:solidFill>
            <a:prstDash val="solid"/>
          </a:ln>
        </p:spPr>
        <p:txBody>
          <a:bodyPr/>
          <a:lstStyle/>
          <a:p>
            <a:endParaRPr lang="en-IN"/>
          </a:p>
        </p:txBody>
      </p:sp>
      <p:sp>
        <p:nvSpPr>
          <p:cNvPr id="13" name="Text 9"/>
          <p:cNvSpPr txBox="1"/>
          <p:nvPr/>
        </p:nvSpPr>
        <p:spPr>
          <a:xfrm>
            <a:off x="548640" y="26334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Standalone Components</a:t>
            </a:r>
            <a:endParaRPr lang="en-US" sz="1150" dirty="0"/>
          </a:p>
        </p:txBody>
      </p:sp>
      <p:sp>
        <p:nvSpPr>
          <p:cNvPr id="14" name="Shape 10"/>
          <p:cNvSpPr/>
          <p:nvPr/>
        </p:nvSpPr>
        <p:spPr>
          <a:xfrm>
            <a:off x="548640" y="3063240"/>
            <a:ext cx="1371600" cy="0"/>
          </a:xfrm>
          <a:prstGeom prst="line">
            <a:avLst/>
          </a:prstGeom>
          <a:noFill/>
          <a:ln w="6350">
            <a:solidFill>
              <a:srgbClr val="E3DADE"/>
            </a:solidFill>
            <a:prstDash val="solid"/>
          </a:ln>
        </p:spPr>
        <p:txBody>
          <a:bodyPr/>
          <a:lstStyle/>
          <a:p>
            <a:endParaRPr lang="en-IN"/>
          </a:p>
        </p:txBody>
      </p:sp>
      <p:sp>
        <p:nvSpPr>
          <p:cNvPr id="15" name="Text 11"/>
          <p:cNvSpPr txBox="1"/>
          <p:nvPr/>
        </p:nvSpPr>
        <p:spPr>
          <a:xfrm>
            <a:off x="548640" y="30906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Signals: signal, computed</a:t>
            </a:r>
            <a:endParaRPr lang="en-US" sz="1150" dirty="0"/>
          </a:p>
        </p:txBody>
      </p:sp>
      <p:sp>
        <p:nvSpPr>
          <p:cNvPr id="16" name="Shape 12"/>
          <p:cNvSpPr/>
          <p:nvPr/>
        </p:nvSpPr>
        <p:spPr>
          <a:xfrm>
            <a:off x="548640" y="3520440"/>
            <a:ext cx="1371600" cy="0"/>
          </a:xfrm>
          <a:prstGeom prst="line">
            <a:avLst/>
          </a:prstGeom>
          <a:noFill/>
          <a:ln w="6350">
            <a:solidFill>
              <a:srgbClr val="E3DADE"/>
            </a:solidFill>
            <a:prstDash val="solid"/>
          </a:ln>
        </p:spPr>
        <p:txBody>
          <a:bodyPr/>
          <a:lstStyle/>
          <a:p>
            <a:endParaRPr lang="en-IN"/>
          </a:p>
        </p:txBody>
      </p:sp>
      <p:sp>
        <p:nvSpPr>
          <p:cNvPr id="17" name="Text 13"/>
          <p:cNvSpPr txBox="1"/>
          <p:nvPr/>
        </p:nvSpPr>
        <p:spPr>
          <a:xfrm>
            <a:off x="548640" y="35478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CanActivateFn guards</a:t>
            </a:r>
            <a:endParaRPr lang="en-US" sz="1150" dirty="0"/>
          </a:p>
        </p:txBody>
      </p:sp>
      <p:sp>
        <p:nvSpPr>
          <p:cNvPr id="18" name="Shape 14"/>
          <p:cNvSpPr/>
          <p:nvPr/>
        </p:nvSpPr>
        <p:spPr>
          <a:xfrm>
            <a:off x="548640" y="3977640"/>
            <a:ext cx="1371600" cy="0"/>
          </a:xfrm>
          <a:prstGeom prst="line">
            <a:avLst/>
          </a:prstGeom>
          <a:noFill/>
          <a:ln w="6350">
            <a:solidFill>
              <a:srgbClr val="E3DADE"/>
            </a:solidFill>
            <a:prstDash val="solid"/>
          </a:ln>
        </p:spPr>
        <p:txBody>
          <a:bodyPr/>
          <a:lstStyle/>
          <a:p>
            <a:endParaRPr lang="en-IN"/>
          </a:p>
        </p:txBody>
      </p:sp>
      <p:sp>
        <p:nvSpPr>
          <p:cNvPr id="19" name="Text 15"/>
          <p:cNvSpPr txBox="1"/>
          <p:nvPr/>
        </p:nvSpPr>
        <p:spPr>
          <a:xfrm>
            <a:off x="548640" y="40050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Bearer + 401-refresh interceptor</a:t>
            </a:r>
            <a:endParaRPr lang="en-US" sz="1150" dirty="0"/>
          </a:p>
        </p:txBody>
      </p:sp>
      <p:sp>
        <p:nvSpPr>
          <p:cNvPr id="20" name="Shape 16"/>
          <p:cNvSpPr/>
          <p:nvPr/>
        </p:nvSpPr>
        <p:spPr>
          <a:xfrm>
            <a:off x="2121408" y="1188720"/>
            <a:ext cx="1554480" cy="868680"/>
          </a:xfrm>
          <a:prstGeom prst="rect">
            <a:avLst/>
          </a:prstGeom>
          <a:solidFill>
            <a:srgbClr val="5E1230"/>
          </a:solidFill>
          <a:ln w="12700">
            <a:solidFill>
              <a:srgbClr val="8C1D40"/>
            </a:solidFill>
            <a:prstDash val="solid"/>
          </a:ln>
        </p:spPr>
        <p:txBody>
          <a:bodyPr/>
          <a:lstStyle/>
          <a:p>
            <a:endParaRPr lang="en-IN"/>
          </a:p>
        </p:txBody>
      </p:sp>
      <p:pic>
        <p:nvPicPr>
          <p:cNvPr id="21" name="Image 1" descr="preencoded.png"/>
          <p:cNvPicPr>
            <a:picLocks noChangeAspect="1"/>
          </p:cNvPicPr>
          <p:nvPr/>
        </p:nvPicPr>
        <p:blipFill>
          <a:blip r:embed="rId4"/>
          <a:stretch>
            <a:fillRect/>
          </a:stretch>
        </p:blipFill>
        <p:spPr>
          <a:xfrm>
            <a:off x="2715768" y="1261872"/>
            <a:ext cx="365760" cy="365760"/>
          </a:xfrm>
          <a:prstGeom prst="rect">
            <a:avLst/>
          </a:prstGeom>
        </p:spPr>
      </p:pic>
      <p:sp>
        <p:nvSpPr>
          <p:cNvPr id="22" name="Text 17"/>
          <p:cNvSpPr txBox="1"/>
          <p:nvPr/>
        </p:nvSpPr>
        <p:spPr>
          <a:xfrm>
            <a:off x="2121408" y="1664208"/>
            <a:ext cx="1554480" cy="27432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Backend &amp; Data</a:t>
            </a:r>
            <a:endParaRPr lang="en-US" sz="1250" dirty="0"/>
          </a:p>
        </p:txBody>
      </p:sp>
      <p:sp>
        <p:nvSpPr>
          <p:cNvPr id="23" name="Shape 18"/>
          <p:cNvSpPr/>
          <p:nvPr/>
        </p:nvSpPr>
        <p:spPr>
          <a:xfrm>
            <a:off x="2121408" y="2057400"/>
            <a:ext cx="1554480" cy="256032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4" name="Text 19"/>
          <p:cNvSpPr txBox="1"/>
          <p:nvPr/>
        </p:nvSpPr>
        <p:spPr>
          <a:xfrm>
            <a:off x="2212848" y="21762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ASP.NET Core 8, C# 12</a:t>
            </a:r>
            <a:endParaRPr lang="en-US" sz="1150" dirty="0"/>
          </a:p>
        </p:txBody>
      </p:sp>
      <p:sp>
        <p:nvSpPr>
          <p:cNvPr id="25" name="Shape 20"/>
          <p:cNvSpPr/>
          <p:nvPr/>
        </p:nvSpPr>
        <p:spPr>
          <a:xfrm>
            <a:off x="2212848" y="2606040"/>
            <a:ext cx="1371600" cy="0"/>
          </a:xfrm>
          <a:prstGeom prst="line">
            <a:avLst/>
          </a:prstGeom>
          <a:noFill/>
          <a:ln w="6350">
            <a:solidFill>
              <a:srgbClr val="E3DADE"/>
            </a:solidFill>
            <a:prstDash val="solid"/>
          </a:ln>
        </p:spPr>
        <p:txBody>
          <a:bodyPr/>
          <a:lstStyle/>
          <a:p>
            <a:endParaRPr lang="en-IN"/>
          </a:p>
        </p:txBody>
      </p:sp>
      <p:sp>
        <p:nvSpPr>
          <p:cNvPr id="26" name="Text 21"/>
          <p:cNvSpPr txBox="1"/>
          <p:nvPr/>
        </p:nvSpPr>
        <p:spPr>
          <a:xfrm>
            <a:off x="2212848" y="26334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Clean Architecture, DI</a:t>
            </a:r>
            <a:endParaRPr lang="en-US" sz="1150" dirty="0"/>
          </a:p>
        </p:txBody>
      </p:sp>
      <p:sp>
        <p:nvSpPr>
          <p:cNvPr id="27" name="Shape 22"/>
          <p:cNvSpPr/>
          <p:nvPr/>
        </p:nvSpPr>
        <p:spPr>
          <a:xfrm>
            <a:off x="2212848" y="3063240"/>
            <a:ext cx="1371600" cy="0"/>
          </a:xfrm>
          <a:prstGeom prst="line">
            <a:avLst/>
          </a:prstGeom>
          <a:noFill/>
          <a:ln w="6350">
            <a:solidFill>
              <a:srgbClr val="E3DADE"/>
            </a:solidFill>
            <a:prstDash val="solid"/>
          </a:ln>
        </p:spPr>
        <p:txBody>
          <a:bodyPr/>
          <a:lstStyle/>
          <a:p>
            <a:endParaRPr lang="en-IN"/>
          </a:p>
        </p:txBody>
      </p:sp>
      <p:sp>
        <p:nvSpPr>
          <p:cNvPr id="28" name="Text 23"/>
          <p:cNvSpPr txBox="1"/>
          <p:nvPr/>
        </p:nvSpPr>
        <p:spPr>
          <a:xfrm>
            <a:off x="2212848" y="30906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Repository + Unit of Work</a:t>
            </a:r>
            <a:endParaRPr lang="en-US" sz="1150" dirty="0"/>
          </a:p>
        </p:txBody>
      </p:sp>
      <p:sp>
        <p:nvSpPr>
          <p:cNvPr id="29" name="Shape 24"/>
          <p:cNvSpPr/>
          <p:nvPr/>
        </p:nvSpPr>
        <p:spPr>
          <a:xfrm>
            <a:off x="2212848" y="3520440"/>
            <a:ext cx="1371600" cy="0"/>
          </a:xfrm>
          <a:prstGeom prst="line">
            <a:avLst/>
          </a:prstGeom>
          <a:noFill/>
          <a:ln w="6350">
            <a:solidFill>
              <a:srgbClr val="E3DADE"/>
            </a:solidFill>
            <a:prstDash val="solid"/>
          </a:ln>
        </p:spPr>
        <p:txBody>
          <a:bodyPr/>
          <a:lstStyle/>
          <a:p>
            <a:endParaRPr lang="en-IN"/>
          </a:p>
        </p:txBody>
      </p:sp>
      <p:sp>
        <p:nvSpPr>
          <p:cNvPr id="30" name="Text 25"/>
          <p:cNvSpPr txBox="1"/>
          <p:nvPr/>
        </p:nvSpPr>
        <p:spPr>
          <a:xfrm>
            <a:off x="2212848" y="35478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EF Core 8, SQL Server</a:t>
            </a:r>
            <a:endParaRPr lang="en-US" sz="1150" dirty="0"/>
          </a:p>
        </p:txBody>
      </p:sp>
      <p:sp>
        <p:nvSpPr>
          <p:cNvPr id="31" name="Shape 26"/>
          <p:cNvSpPr/>
          <p:nvPr/>
        </p:nvSpPr>
        <p:spPr>
          <a:xfrm>
            <a:off x="2212848" y="3977640"/>
            <a:ext cx="1371600" cy="0"/>
          </a:xfrm>
          <a:prstGeom prst="line">
            <a:avLst/>
          </a:prstGeom>
          <a:noFill/>
          <a:ln w="6350">
            <a:solidFill>
              <a:srgbClr val="E3DADE"/>
            </a:solidFill>
            <a:prstDash val="solid"/>
          </a:ln>
        </p:spPr>
        <p:txBody>
          <a:bodyPr/>
          <a:lstStyle/>
          <a:p>
            <a:endParaRPr lang="en-IN"/>
          </a:p>
        </p:txBody>
      </p:sp>
      <p:sp>
        <p:nvSpPr>
          <p:cNvPr id="32" name="Text 27"/>
          <p:cNvSpPr txBox="1"/>
          <p:nvPr/>
        </p:nvSpPr>
        <p:spPr>
          <a:xfrm>
            <a:off x="2212848" y="40050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Check constraints, rowversion</a:t>
            </a:r>
            <a:endParaRPr lang="en-US" sz="1150" dirty="0"/>
          </a:p>
        </p:txBody>
      </p:sp>
      <p:sp>
        <p:nvSpPr>
          <p:cNvPr id="33" name="Shape 28"/>
          <p:cNvSpPr/>
          <p:nvPr/>
        </p:nvSpPr>
        <p:spPr>
          <a:xfrm>
            <a:off x="3785616" y="1188720"/>
            <a:ext cx="1554480" cy="868680"/>
          </a:xfrm>
          <a:prstGeom prst="rect">
            <a:avLst/>
          </a:prstGeom>
          <a:solidFill>
            <a:srgbClr val="8C1D40"/>
          </a:solidFill>
          <a:ln w="12700">
            <a:solidFill>
              <a:srgbClr val="8C1D40"/>
            </a:solidFill>
            <a:prstDash val="solid"/>
          </a:ln>
        </p:spPr>
        <p:txBody>
          <a:bodyPr/>
          <a:lstStyle/>
          <a:p>
            <a:endParaRPr lang="en-IN"/>
          </a:p>
        </p:txBody>
      </p:sp>
      <p:pic>
        <p:nvPicPr>
          <p:cNvPr id="34" name="Image 2" descr="preencoded.png"/>
          <p:cNvPicPr>
            <a:picLocks noChangeAspect="1"/>
          </p:cNvPicPr>
          <p:nvPr/>
        </p:nvPicPr>
        <p:blipFill>
          <a:blip r:embed="rId5"/>
          <a:stretch>
            <a:fillRect/>
          </a:stretch>
        </p:blipFill>
        <p:spPr>
          <a:xfrm>
            <a:off x="4379976" y="1261872"/>
            <a:ext cx="365760" cy="365760"/>
          </a:xfrm>
          <a:prstGeom prst="rect">
            <a:avLst/>
          </a:prstGeom>
        </p:spPr>
      </p:pic>
      <p:sp>
        <p:nvSpPr>
          <p:cNvPr id="35" name="Text 29"/>
          <p:cNvSpPr txBox="1"/>
          <p:nvPr/>
        </p:nvSpPr>
        <p:spPr>
          <a:xfrm>
            <a:off x="3785616" y="1664208"/>
            <a:ext cx="1554480" cy="27432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Gateway</a:t>
            </a:r>
            <a:endParaRPr lang="en-US" sz="1250" dirty="0"/>
          </a:p>
        </p:txBody>
      </p:sp>
      <p:sp>
        <p:nvSpPr>
          <p:cNvPr id="36" name="Shape 30"/>
          <p:cNvSpPr/>
          <p:nvPr/>
        </p:nvSpPr>
        <p:spPr>
          <a:xfrm>
            <a:off x="3785616" y="2057400"/>
            <a:ext cx="1554480" cy="256032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37" name="Text 31"/>
          <p:cNvSpPr txBox="1"/>
          <p:nvPr/>
        </p:nvSpPr>
        <p:spPr>
          <a:xfrm>
            <a:off x="3877056" y="21762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Ocelot reverse proxy</a:t>
            </a:r>
            <a:endParaRPr lang="en-US" sz="1150" dirty="0"/>
          </a:p>
        </p:txBody>
      </p:sp>
      <p:sp>
        <p:nvSpPr>
          <p:cNvPr id="38" name="Shape 32"/>
          <p:cNvSpPr/>
          <p:nvPr/>
        </p:nvSpPr>
        <p:spPr>
          <a:xfrm>
            <a:off x="3877056" y="2606040"/>
            <a:ext cx="1371600" cy="0"/>
          </a:xfrm>
          <a:prstGeom prst="line">
            <a:avLst/>
          </a:prstGeom>
          <a:noFill/>
          <a:ln w="6350">
            <a:solidFill>
              <a:srgbClr val="E3DADE"/>
            </a:solidFill>
            <a:prstDash val="solid"/>
          </a:ln>
        </p:spPr>
        <p:txBody>
          <a:bodyPr/>
          <a:lstStyle/>
          <a:p>
            <a:endParaRPr lang="en-IN"/>
          </a:p>
        </p:txBody>
      </p:sp>
      <p:sp>
        <p:nvSpPr>
          <p:cNvPr id="39" name="Text 33"/>
          <p:cNvSpPr txBox="1"/>
          <p:nvPr/>
        </p:nvSpPr>
        <p:spPr>
          <a:xfrm>
            <a:off x="3877056" y="26334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Polly circuit breakers</a:t>
            </a:r>
            <a:endParaRPr lang="en-US" sz="1150" dirty="0"/>
          </a:p>
        </p:txBody>
      </p:sp>
      <p:sp>
        <p:nvSpPr>
          <p:cNvPr id="40" name="Shape 34"/>
          <p:cNvSpPr/>
          <p:nvPr/>
        </p:nvSpPr>
        <p:spPr>
          <a:xfrm>
            <a:off x="3877056" y="3063240"/>
            <a:ext cx="1371600" cy="0"/>
          </a:xfrm>
          <a:prstGeom prst="line">
            <a:avLst/>
          </a:prstGeom>
          <a:noFill/>
          <a:ln w="6350">
            <a:solidFill>
              <a:srgbClr val="E3DADE"/>
            </a:solidFill>
            <a:prstDash val="solid"/>
          </a:ln>
        </p:spPr>
        <p:txBody>
          <a:bodyPr/>
          <a:lstStyle/>
          <a:p>
            <a:endParaRPr lang="en-IN"/>
          </a:p>
        </p:txBody>
      </p:sp>
      <p:sp>
        <p:nvSpPr>
          <p:cNvPr id="41" name="Text 35"/>
          <p:cNvSpPr txBox="1"/>
          <p:nvPr/>
        </p:nvSpPr>
        <p:spPr>
          <a:xfrm>
            <a:off x="3877056" y="30906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QoS timeouts</a:t>
            </a:r>
            <a:endParaRPr lang="en-US" sz="1150" dirty="0"/>
          </a:p>
        </p:txBody>
      </p:sp>
      <p:sp>
        <p:nvSpPr>
          <p:cNvPr id="42" name="Shape 36"/>
          <p:cNvSpPr/>
          <p:nvPr/>
        </p:nvSpPr>
        <p:spPr>
          <a:xfrm>
            <a:off x="3877056" y="3520440"/>
            <a:ext cx="1371600" cy="0"/>
          </a:xfrm>
          <a:prstGeom prst="line">
            <a:avLst/>
          </a:prstGeom>
          <a:noFill/>
          <a:ln w="6350">
            <a:solidFill>
              <a:srgbClr val="E3DADE"/>
            </a:solidFill>
            <a:prstDash val="solid"/>
          </a:ln>
        </p:spPr>
        <p:txBody>
          <a:bodyPr/>
          <a:lstStyle/>
          <a:p>
            <a:endParaRPr lang="en-IN"/>
          </a:p>
        </p:txBody>
      </p:sp>
      <p:sp>
        <p:nvSpPr>
          <p:cNvPr id="43" name="Text 37"/>
          <p:cNvSpPr txBox="1"/>
          <p:nvPr/>
        </p:nvSpPr>
        <p:spPr>
          <a:xfrm>
            <a:off x="3877056" y="35478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Bulkhead isolation</a:t>
            </a:r>
            <a:endParaRPr lang="en-US" sz="1150" dirty="0"/>
          </a:p>
        </p:txBody>
      </p:sp>
      <p:sp>
        <p:nvSpPr>
          <p:cNvPr id="44" name="Shape 38"/>
          <p:cNvSpPr/>
          <p:nvPr/>
        </p:nvSpPr>
        <p:spPr>
          <a:xfrm>
            <a:off x="3877056" y="3977640"/>
            <a:ext cx="1371600" cy="0"/>
          </a:xfrm>
          <a:prstGeom prst="line">
            <a:avLst/>
          </a:prstGeom>
          <a:noFill/>
          <a:ln w="6350">
            <a:solidFill>
              <a:srgbClr val="E3DADE"/>
            </a:solidFill>
            <a:prstDash val="solid"/>
          </a:ln>
        </p:spPr>
        <p:txBody>
          <a:bodyPr/>
          <a:lstStyle/>
          <a:p>
            <a:endParaRPr lang="en-IN"/>
          </a:p>
        </p:txBody>
      </p:sp>
      <p:sp>
        <p:nvSpPr>
          <p:cNvPr id="45" name="Text 39"/>
          <p:cNvSpPr txBox="1"/>
          <p:nvPr/>
        </p:nvSpPr>
        <p:spPr>
          <a:xfrm>
            <a:off x="3877056" y="40050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CORS &amp; route masking</a:t>
            </a:r>
            <a:endParaRPr lang="en-US" sz="1150" dirty="0"/>
          </a:p>
        </p:txBody>
      </p:sp>
      <p:sp>
        <p:nvSpPr>
          <p:cNvPr id="46" name="Shape 40"/>
          <p:cNvSpPr/>
          <p:nvPr/>
        </p:nvSpPr>
        <p:spPr>
          <a:xfrm>
            <a:off x="5449824" y="1188720"/>
            <a:ext cx="1554480" cy="868680"/>
          </a:xfrm>
          <a:prstGeom prst="rect">
            <a:avLst/>
          </a:prstGeom>
          <a:solidFill>
            <a:srgbClr val="5E1230"/>
          </a:solidFill>
          <a:ln w="12700">
            <a:solidFill>
              <a:srgbClr val="8C1D40"/>
            </a:solidFill>
            <a:prstDash val="solid"/>
          </a:ln>
        </p:spPr>
        <p:txBody>
          <a:bodyPr/>
          <a:lstStyle/>
          <a:p>
            <a:endParaRPr lang="en-IN"/>
          </a:p>
        </p:txBody>
      </p:sp>
      <p:pic>
        <p:nvPicPr>
          <p:cNvPr id="47" name="Image 3" descr="preencoded.png"/>
          <p:cNvPicPr>
            <a:picLocks noChangeAspect="1"/>
          </p:cNvPicPr>
          <p:nvPr/>
        </p:nvPicPr>
        <p:blipFill>
          <a:blip r:embed="rId6"/>
          <a:stretch>
            <a:fillRect/>
          </a:stretch>
        </p:blipFill>
        <p:spPr>
          <a:xfrm>
            <a:off x="6044184" y="1261872"/>
            <a:ext cx="365760" cy="365760"/>
          </a:xfrm>
          <a:prstGeom prst="rect">
            <a:avLst/>
          </a:prstGeom>
        </p:spPr>
      </p:pic>
      <p:sp>
        <p:nvSpPr>
          <p:cNvPr id="48" name="Text 41"/>
          <p:cNvSpPr txBox="1"/>
          <p:nvPr/>
        </p:nvSpPr>
        <p:spPr>
          <a:xfrm>
            <a:off x="5449824" y="1664208"/>
            <a:ext cx="1554480" cy="27432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Security</a:t>
            </a:r>
            <a:endParaRPr lang="en-US" sz="1250" dirty="0"/>
          </a:p>
        </p:txBody>
      </p:sp>
      <p:sp>
        <p:nvSpPr>
          <p:cNvPr id="49" name="Shape 42"/>
          <p:cNvSpPr/>
          <p:nvPr/>
        </p:nvSpPr>
        <p:spPr>
          <a:xfrm>
            <a:off x="5449824" y="2057400"/>
            <a:ext cx="1554480" cy="256032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50" name="Text 43"/>
          <p:cNvSpPr txBox="1"/>
          <p:nvPr/>
        </p:nvSpPr>
        <p:spPr>
          <a:xfrm>
            <a:off x="5541264" y="21762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ASP.NET Core Identity</a:t>
            </a:r>
            <a:endParaRPr lang="en-US" sz="1150" dirty="0"/>
          </a:p>
        </p:txBody>
      </p:sp>
      <p:sp>
        <p:nvSpPr>
          <p:cNvPr id="51" name="Shape 44"/>
          <p:cNvSpPr/>
          <p:nvPr/>
        </p:nvSpPr>
        <p:spPr>
          <a:xfrm>
            <a:off x="5541264" y="2606040"/>
            <a:ext cx="1371600" cy="0"/>
          </a:xfrm>
          <a:prstGeom prst="line">
            <a:avLst/>
          </a:prstGeom>
          <a:noFill/>
          <a:ln w="6350">
            <a:solidFill>
              <a:srgbClr val="E3DADE"/>
            </a:solidFill>
            <a:prstDash val="solid"/>
          </a:ln>
        </p:spPr>
        <p:txBody>
          <a:bodyPr/>
          <a:lstStyle/>
          <a:p>
            <a:endParaRPr lang="en-IN"/>
          </a:p>
        </p:txBody>
      </p:sp>
      <p:sp>
        <p:nvSpPr>
          <p:cNvPr id="52" name="Text 45"/>
          <p:cNvSpPr txBox="1"/>
          <p:nvPr/>
        </p:nvSpPr>
        <p:spPr>
          <a:xfrm>
            <a:off x="5541264" y="26334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PBKDF2 + lockout</a:t>
            </a:r>
            <a:endParaRPr lang="en-US" sz="1150" dirty="0"/>
          </a:p>
        </p:txBody>
      </p:sp>
      <p:sp>
        <p:nvSpPr>
          <p:cNvPr id="53" name="Shape 46"/>
          <p:cNvSpPr/>
          <p:nvPr/>
        </p:nvSpPr>
        <p:spPr>
          <a:xfrm>
            <a:off x="5541264" y="3063240"/>
            <a:ext cx="1371600" cy="0"/>
          </a:xfrm>
          <a:prstGeom prst="line">
            <a:avLst/>
          </a:prstGeom>
          <a:noFill/>
          <a:ln w="6350">
            <a:solidFill>
              <a:srgbClr val="E3DADE"/>
            </a:solidFill>
            <a:prstDash val="solid"/>
          </a:ln>
        </p:spPr>
        <p:txBody>
          <a:bodyPr/>
          <a:lstStyle/>
          <a:p>
            <a:endParaRPr lang="en-IN"/>
          </a:p>
        </p:txBody>
      </p:sp>
      <p:sp>
        <p:nvSpPr>
          <p:cNvPr id="54" name="Text 47"/>
          <p:cNvSpPr txBox="1"/>
          <p:nvPr/>
        </p:nvSpPr>
        <p:spPr>
          <a:xfrm>
            <a:off x="5541264" y="30906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JWT HMAC-SHA256</a:t>
            </a:r>
            <a:endParaRPr lang="en-US" sz="1150" dirty="0"/>
          </a:p>
        </p:txBody>
      </p:sp>
      <p:sp>
        <p:nvSpPr>
          <p:cNvPr id="55" name="Shape 48"/>
          <p:cNvSpPr/>
          <p:nvPr/>
        </p:nvSpPr>
        <p:spPr>
          <a:xfrm>
            <a:off x="5541264" y="3520440"/>
            <a:ext cx="1371600" cy="0"/>
          </a:xfrm>
          <a:prstGeom prst="line">
            <a:avLst/>
          </a:prstGeom>
          <a:noFill/>
          <a:ln w="6350">
            <a:solidFill>
              <a:srgbClr val="E3DADE"/>
            </a:solidFill>
            <a:prstDash val="solid"/>
          </a:ln>
        </p:spPr>
        <p:txBody>
          <a:bodyPr/>
          <a:lstStyle/>
          <a:p>
            <a:endParaRPr lang="en-IN"/>
          </a:p>
        </p:txBody>
      </p:sp>
      <p:sp>
        <p:nvSpPr>
          <p:cNvPr id="56" name="Text 49"/>
          <p:cNvSpPr txBox="1"/>
          <p:nvPr/>
        </p:nvSpPr>
        <p:spPr>
          <a:xfrm>
            <a:off x="5541264" y="35478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RFC 6238 TOTP MFA</a:t>
            </a:r>
            <a:endParaRPr lang="en-US" sz="1150" dirty="0"/>
          </a:p>
        </p:txBody>
      </p:sp>
      <p:sp>
        <p:nvSpPr>
          <p:cNvPr id="57" name="Shape 50"/>
          <p:cNvSpPr/>
          <p:nvPr/>
        </p:nvSpPr>
        <p:spPr>
          <a:xfrm>
            <a:off x="5541264" y="3977640"/>
            <a:ext cx="1371600" cy="0"/>
          </a:xfrm>
          <a:prstGeom prst="line">
            <a:avLst/>
          </a:prstGeom>
          <a:noFill/>
          <a:ln w="6350">
            <a:solidFill>
              <a:srgbClr val="E3DADE"/>
            </a:solidFill>
            <a:prstDash val="solid"/>
          </a:ln>
        </p:spPr>
        <p:txBody>
          <a:bodyPr/>
          <a:lstStyle/>
          <a:p>
            <a:endParaRPr lang="en-IN"/>
          </a:p>
        </p:txBody>
      </p:sp>
      <p:sp>
        <p:nvSpPr>
          <p:cNvPr id="58" name="Text 51"/>
          <p:cNvSpPr txBox="1"/>
          <p:nvPr/>
        </p:nvSpPr>
        <p:spPr>
          <a:xfrm>
            <a:off x="5541264" y="40050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SHA-256 token hashing</a:t>
            </a:r>
            <a:endParaRPr lang="en-US" sz="1150" dirty="0"/>
          </a:p>
        </p:txBody>
      </p:sp>
      <p:sp>
        <p:nvSpPr>
          <p:cNvPr id="59" name="Shape 52"/>
          <p:cNvSpPr/>
          <p:nvPr/>
        </p:nvSpPr>
        <p:spPr>
          <a:xfrm>
            <a:off x="7114032" y="1188720"/>
            <a:ext cx="1554480" cy="868680"/>
          </a:xfrm>
          <a:prstGeom prst="rect">
            <a:avLst/>
          </a:prstGeom>
          <a:solidFill>
            <a:srgbClr val="8C1D40"/>
          </a:solidFill>
          <a:ln w="12700">
            <a:solidFill>
              <a:srgbClr val="8C1D40"/>
            </a:solidFill>
            <a:prstDash val="solid"/>
          </a:ln>
        </p:spPr>
        <p:txBody>
          <a:bodyPr/>
          <a:lstStyle/>
          <a:p>
            <a:endParaRPr lang="en-IN"/>
          </a:p>
        </p:txBody>
      </p:sp>
      <p:pic>
        <p:nvPicPr>
          <p:cNvPr id="60" name="Image 4" descr="preencoded.png"/>
          <p:cNvPicPr>
            <a:picLocks noChangeAspect="1"/>
          </p:cNvPicPr>
          <p:nvPr/>
        </p:nvPicPr>
        <p:blipFill>
          <a:blip r:embed="rId7"/>
          <a:stretch>
            <a:fillRect/>
          </a:stretch>
        </p:blipFill>
        <p:spPr>
          <a:xfrm>
            <a:off x="7708392" y="1261872"/>
            <a:ext cx="365760" cy="365760"/>
          </a:xfrm>
          <a:prstGeom prst="rect">
            <a:avLst/>
          </a:prstGeom>
        </p:spPr>
      </p:pic>
      <p:sp>
        <p:nvSpPr>
          <p:cNvPr id="61" name="Text 53"/>
          <p:cNvSpPr txBox="1"/>
          <p:nvPr/>
        </p:nvSpPr>
        <p:spPr>
          <a:xfrm>
            <a:off x="7114032" y="1664208"/>
            <a:ext cx="1554480" cy="27432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AI &amp; Documents</a:t>
            </a:r>
            <a:endParaRPr lang="en-US" sz="1250" dirty="0"/>
          </a:p>
        </p:txBody>
      </p:sp>
      <p:sp>
        <p:nvSpPr>
          <p:cNvPr id="62" name="Shape 54"/>
          <p:cNvSpPr/>
          <p:nvPr/>
        </p:nvSpPr>
        <p:spPr>
          <a:xfrm>
            <a:off x="7114032" y="2057400"/>
            <a:ext cx="1554480" cy="256032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63" name="Text 55"/>
          <p:cNvSpPr txBox="1"/>
          <p:nvPr/>
        </p:nvSpPr>
        <p:spPr>
          <a:xfrm>
            <a:off x="7205472" y="21762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Vertex AI, Gemini 1.5</a:t>
            </a:r>
            <a:endParaRPr lang="en-US" sz="1150" dirty="0"/>
          </a:p>
        </p:txBody>
      </p:sp>
      <p:sp>
        <p:nvSpPr>
          <p:cNvPr id="64" name="Shape 56"/>
          <p:cNvSpPr/>
          <p:nvPr/>
        </p:nvSpPr>
        <p:spPr>
          <a:xfrm>
            <a:off x="7205472" y="2606040"/>
            <a:ext cx="1371600" cy="0"/>
          </a:xfrm>
          <a:prstGeom prst="line">
            <a:avLst/>
          </a:prstGeom>
          <a:noFill/>
          <a:ln w="6350">
            <a:solidFill>
              <a:srgbClr val="E3DADE"/>
            </a:solidFill>
            <a:prstDash val="solid"/>
          </a:ln>
        </p:spPr>
        <p:txBody>
          <a:bodyPr/>
          <a:lstStyle/>
          <a:p>
            <a:endParaRPr lang="en-IN"/>
          </a:p>
        </p:txBody>
      </p:sp>
      <p:sp>
        <p:nvSpPr>
          <p:cNvPr id="65" name="Text 57"/>
          <p:cNvSpPr txBox="1"/>
          <p:nvPr/>
        </p:nvSpPr>
        <p:spPr>
          <a:xfrm>
            <a:off x="7205472" y="26334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Google.GenAI SDK</a:t>
            </a:r>
            <a:endParaRPr lang="en-US" sz="1150" dirty="0"/>
          </a:p>
        </p:txBody>
      </p:sp>
      <p:sp>
        <p:nvSpPr>
          <p:cNvPr id="66" name="Shape 58"/>
          <p:cNvSpPr/>
          <p:nvPr/>
        </p:nvSpPr>
        <p:spPr>
          <a:xfrm>
            <a:off x="7205472" y="3063240"/>
            <a:ext cx="1371600" cy="0"/>
          </a:xfrm>
          <a:prstGeom prst="line">
            <a:avLst/>
          </a:prstGeom>
          <a:noFill/>
          <a:ln w="6350">
            <a:solidFill>
              <a:srgbClr val="E3DADE"/>
            </a:solidFill>
            <a:prstDash val="solid"/>
          </a:ln>
        </p:spPr>
        <p:txBody>
          <a:bodyPr/>
          <a:lstStyle/>
          <a:p>
            <a:endParaRPr lang="en-IN"/>
          </a:p>
        </p:txBody>
      </p:sp>
      <p:sp>
        <p:nvSpPr>
          <p:cNvPr id="67" name="Text 59"/>
          <p:cNvSpPr txBox="1"/>
          <p:nvPr/>
        </p:nvSpPr>
        <p:spPr>
          <a:xfrm>
            <a:off x="7205472" y="30906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PdfPig text extraction</a:t>
            </a:r>
            <a:endParaRPr lang="en-US" sz="1150" dirty="0"/>
          </a:p>
        </p:txBody>
      </p:sp>
      <p:sp>
        <p:nvSpPr>
          <p:cNvPr id="68" name="Shape 60"/>
          <p:cNvSpPr/>
          <p:nvPr/>
        </p:nvSpPr>
        <p:spPr>
          <a:xfrm>
            <a:off x="7205472" y="3520440"/>
            <a:ext cx="1371600" cy="0"/>
          </a:xfrm>
          <a:prstGeom prst="line">
            <a:avLst/>
          </a:prstGeom>
          <a:noFill/>
          <a:ln w="6350">
            <a:solidFill>
              <a:srgbClr val="E3DADE"/>
            </a:solidFill>
            <a:prstDash val="solid"/>
          </a:ln>
        </p:spPr>
        <p:txBody>
          <a:bodyPr/>
          <a:lstStyle/>
          <a:p>
            <a:endParaRPr lang="en-IN"/>
          </a:p>
        </p:txBody>
      </p:sp>
      <p:sp>
        <p:nvSpPr>
          <p:cNvPr id="69" name="Text 61"/>
          <p:cNvSpPr txBox="1"/>
          <p:nvPr/>
        </p:nvSpPr>
        <p:spPr>
          <a:xfrm>
            <a:off x="7205472" y="35478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In-memory cosine RAG</a:t>
            </a:r>
            <a:endParaRPr lang="en-US" sz="1150" dirty="0"/>
          </a:p>
        </p:txBody>
      </p:sp>
      <p:sp>
        <p:nvSpPr>
          <p:cNvPr id="70" name="Shape 62"/>
          <p:cNvSpPr/>
          <p:nvPr/>
        </p:nvSpPr>
        <p:spPr>
          <a:xfrm>
            <a:off x="7205472" y="3977640"/>
            <a:ext cx="1371600" cy="0"/>
          </a:xfrm>
          <a:prstGeom prst="line">
            <a:avLst/>
          </a:prstGeom>
          <a:noFill/>
          <a:ln w="6350">
            <a:solidFill>
              <a:srgbClr val="E3DADE"/>
            </a:solidFill>
            <a:prstDash val="solid"/>
          </a:ln>
        </p:spPr>
        <p:txBody>
          <a:bodyPr/>
          <a:lstStyle/>
          <a:p>
            <a:endParaRPr lang="en-IN"/>
          </a:p>
        </p:txBody>
      </p:sp>
      <p:sp>
        <p:nvSpPr>
          <p:cNvPr id="71" name="Text 63"/>
          <p:cNvSpPr txBox="1"/>
          <p:nvPr/>
        </p:nvSpPr>
        <p:spPr>
          <a:xfrm>
            <a:off x="7205472" y="4005072"/>
            <a:ext cx="1371600" cy="411480"/>
          </a:xfrm>
          <a:prstGeom prst="rect">
            <a:avLst/>
          </a:prstGeom>
          <a:noFill/>
          <a:ln/>
        </p:spPr>
        <p:txBody>
          <a:bodyPr wrap="square" lIns="0" tIns="0" rIns="0" bIns="0" rtlCol="0" anchor="ctr"/>
          <a:lstStyle/>
          <a:p>
            <a:pPr marL="0" indent="0">
              <a:buNone/>
            </a:pPr>
            <a:r>
              <a:rPr lang="en-US" sz="1150" dirty="0">
                <a:solidFill>
                  <a:srgbClr val="1F1A1C"/>
                </a:solidFill>
                <a:latin typeface="Calibri" pitchFamily="34" charset="0"/>
                <a:ea typeface="Calibri" pitchFamily="34" charset="-122"/>
                <a:cs typeface="Calibri" pitchFamily="34" charset="-120"/>
              </a:rPr>
              <a:t>PdfSharp INR certificates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marL="0" indent="0">
              <a:buNone/>
            </a:pPr>
            <a:r>
              <a:rPr lang="en-US" sz="2600" b="1" dirty="0">
                <a:solidFill>
                  <a:srgbClr val="1F1A1C"/>
                </a:solidFill>
                <a:latin typeface="Cambria" pitchFamily="34" charset="0"/>
                <a:ea typeface="Cambria" pitchFamily="34" charset="-122"/>
                <a:cs typeface="Cambria" pitchFamily="34" charset="-120"/>
              </a:rPr>
              <a:t>Why It Stands Out in the Real Market</a:t>
            </a:r>
            <a:endParaRPr lang="en-US" sz="26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marL="0" indent="0">
              <a:buNone/>
            </a:pPr>
            <a:r>
              <a:rPr lang="en-US" sz="1300" dirty="0">
                <a:solidFill>
                  <a:srgbClr val="6B6467"/>
                </a:solidFill>
                <a:latin typeface="Calibri" pitchFamily="34" charset="0"/>
                <a:ea typeface="Calibri" pitchFamily="34" charset="-122"/>
                <a:cs typeface="Calibri" pitchFamily="34" charset="-120"/>
              </a:rPr>
              <a:t>Not a feature list: four problems that cost insurers real money.</a:t>
            </a:r>
            <a:endParaRPr lang="en-US" sz="1300" dirty="0"/>
          </a:p>
        </p:txBody>
      </p:sp>
      <p:sp>
        <p:nvSpPr>
          <p:cNvPr id="4" name="Text 2"/>
          <p:cNvSpPr txBox="1"/>
          <p:nvPr/>
        </p:nvSpPr>
        <p:spPr>
          <a:xfrm>
            <a:off x="457200" y="4828032"/>
            <a:ext cx="5486400" cy="201168"/>
          </a:xfrm>
          <a:prstGeom prst="rect">
            <a:avLst/>
          </a:prstGeom>
          <a:noFill/>
          <a:ln/>
        </p:spPr>
        <p:txBody>
          <a:bodyPr wrap="square" lIns="0" tIns="0" rIns="0" bIns="0" rtlCol="0" anchor="ctr"/>
          <a:lstStyle/>
          <a:p>
            <a:pPr marL="0" indent="0">
              <a:buNone/>
            </a:pPr>
            <a:r>
              <a:rPr lang="en-US" sz="900" dirty="0">
                <a:solidFill>
                  <a:srgbClr val="6B6467"/>
                </a:solidFill>
                <a:latin typeface="Calibri" pitchFamily="34" charset="0"/>
                <a:ea typeface="Calibri" pitchFamily="34" charset="-122"/>
                <a:cs typeface="Calibri" pitchFamily="34" charset="-120"/>
              </a:rPr>
              <a:t>Vacation Home Insurance Platform  |  Capstone Project</a:t>
            </a:r>
            <a:endParaRPr lang="en-US" sz="900" dirty="0"/>
          </a:p>
        </p:txBody>
      </p:sp>
      <p:sp>
        <p:nvSpPr>
          <p:cNvPr id="5" name="Text 3"/>
          <p:cNvSpPr txBox="1"/>
          <p:nvPr/>
        </p:nvSpPr>
        <p:spPr>
          <a:xfrm>
            <a:off x="8229600" y="4828032"/>
            <a:ext cx="457200" cy="201168"/>
          </a:xfrm>
          <a:prstGeom prst="rect">
            <a:avLst/>
          </a:prstGeom>
          <a:noFill/>
          <a:ln/>
        </p:spPr>
        <p:txBody>
          <a:bodyPr wrap="square" lIns="0" tIns="0" rIns="0" bIns="0" rtlCol="0" anchor="ctr"/>
          <a:lstStyle/>
          <a:p>
            <a:pPr marL="0" indent="0" algn="r">
              <a:buNone/>
            </a:pPr>
            <a:r>
              <a:rPr lang="en-US" sz="900" dirty="0">
                <a:solidFill>
                  <a:srgbClr val="6B6467"/>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457200" y="1188720"/>
            <a:ext cx="4023360" cy="16916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8" name="Shape 5"/>
          <p:cNvSpPr/>
          <p:nvPr/>
        </p:nvSpPr>
        <p:spPr>
          <a:xfrm>
            <a:off x="594360" y="1325880"/>
            <a:ext cx="411480" cy="411480"/>
          </a:xfrm>
          <a:prstGeom prst="ellipse">
            <a:avLst/>
          </a:prstGeom>
          <a:solidFill>
            <a:srgbClr val="8C1D40"/>
          </a:solidFill>
          <a:ln w="12700">
            <a:solidFill>
              <a:srgbClr val="8C1D40"/>
            </a:solidFill>
            <a:prstDash val="solid"/>
          </a:ln>
        </p:spPr>
        <p:txBody>
          <a:bodyPr/>
          <a:lstStyle/>
          <a:p>
            <a:endParaRPr lang="en-IN"/>
          </a:p>
        </p:txBody>
      </p:sp>
      <p:pic>
        <p:nvPicPr>
          <p:cNvPr id="9" name="Image 0" descr="preencoded.png"/>
          <p:cNvPicPr>
            <a:picLocks noChangeAspect="1"/>
          </p:cNvPicPr>
          <p:nvPr/>
        </p:nvPicPr>
        <p:blipFill>
          <a:blip r:embed="rId3"/>
          <a:stretch>
            <a:fillRect/>
          </a:stretch>
        </p:blipFill>
        <p:spPr>
          <a:xfrm>
            <a:off x="697230" y="1428750"/>
            <a:ext cx="205740" cy="205740"/>
          </a:xfrm>
          <a:prstGeom prst="rect">
            <a:avLst/>
          </a:prstGeom>
        </p:spPr>
      </p:pic>
      <p:sp>
        <p:nvSpPr>
          <p:cNvPr id="10" name="Text 6"/>
          <p:cNvSpPr txBox="1"/>
          <p:nvPr/>
        </p:nvSpPr>
        <p:spPr>
          <a:xfrm>
            <a:off x="1115568" y="1325880"/>
            <a:ext cx="3246120" cy="411480"/>
          </a:xfrm>
          <a:prstGeom prst="rect">
            <a:avLst/>
          </a:prstGeom>
          <a:noFill/>
          <a:ln/>
        </p:spPr>
        <p:txBody>
          <a:bodyPr wrap="square" lIns="0" tIns="0" rIns="0" bIns="0" rtlCol="0" anchor="ctr"/>
          <a:lstStyle/>
          <a:p>
            <a:pPr marL="0" indent="0">
              <a:buNone/>
            </a:pPr>
            <a:r>
              <a:rPr lang="en-US" sz="1400" b="1" dirty="0">
                <a:solidFill>
                  <a:srgbClr val="1F1A1C"/>
                </a:solidFill>
                <a:latin typeface="Cambria" pitchFamily="34" charset="0"/>
                <a:ea typeface="Cambria" pitchFamily="34" charset="-122"/>
                <a:cs typeface="Cambria" pitchFamily="34" charset="-120"/>
              </a:rPr>
              <a:t>The empty-house disaster</a:t>
            </a:r>
            <a:endParaRPr lang="en-US" sz="1400" dirty="0"/>
          </a:p>
        </p:txBody>
      </p:sp>
      <p:sp>
        <p:nvSpPr>
          <p:cNvPr id="11" name="Text 7"/>
          <p:cNvSpPr txBox="1"/>
          <p:nvPr/>
        </p:nvSpPr>
        <p:spPr>
          <a:xfrm>
            <a:off x="594360" y="1847088"/>
            <a:ext cx="3749040" cy="457200"/>
          </a:xfrm>
          <a:prstGeom prst="rect">
            <a:avLst/>
          </a:prstGeom>
          <a:noFill/>
          <a:ln/>
        </p:spPr>
        <p:txBody>
          <a:bodyPr wrap="square" lIns="0" tIns="0" rIns="0" bIns="0" rtlCol="0" anchor="t"/>
          <a:lstStyle/>
          <a:p>
            <a:pPr marL="0" indent="0">
              <a:buNone/>
            </a:pPr>
            <a:r>
              <a:rPr lang="en-US" sz="1050" b="1" dirty="0">
                <a:solidFill>
                  <a:srgbClr val="6B6467"/>
                </a:solidFill>
                <a:latin typeface="Calibri" pitchFamily="34" charset="0"/>
                <a:ea typeface="Calibri" pitchFamily="34" charset="-122"/>
                <a:cs typeface="Calibri" pitchFamily="34" charset="-120"/>
              </a:rPr>
              <a:t>Reality: </a:t>
            </a:r>
            <a:r>
              <a:rPr lang="en-US" sz="1050" dirty="0">
                <a:solidFill>
                  <a:srgbClr val="6B6467"/>
                </a:solidFill>
                <a:latin typeface="Calibri" pitchFamily="34" charset="0"/>
                <a:ea typeface="Calibri" pitchFamily="34" charset="-122"/>
                <a:cs typeface="Calibri" pitchFamily="34" charset="-120"/>
              </a:rPr>
              <a:t>Mainstream insurers price for primary residences and often reject holiday-home claims on 'unoccupied &gt;30 days' clauses.</a:t>
            </a:r>
            <a:endParaRPr lang="en-US" sz="1050" dirty="0"/>
          </a:p>
        </p:txBody>
      </p:sp>
      <p:sp>
        <p:nvSpPr>
          <p:cNvPr id="12" name="Text 8"/>
          <p:cNvSpPr txBox="1"/>
          <p:nvPr/>
        </p:nvSpPr>
        <p:spPr>
          <a:xfrm>
            <a:off x="594360" y="2322576"/>
            <a:ext cx="3749040" cy="502920"/>
          </a:xfrm>
          <a:prstGeom prst="rect">
            <a:avLst/>
          </a:prstGeom>
          <a:noFill/>
          <a:ln/>
        </p:spPr>
        <p:txBody>
          <a:bodyPr wrap="square" lIns="0" tIns="0" rIns="0" bIns="0" rtlCol="0" anchor="t"/>
          <a:lstStyle/>
          <a:p>
            <a:pPr marL="0" indent="0">
              <a:buNone/>
            </a:pPr>
            <a:r>
              <a:rPr lang="en-US" sz="1050" b="1" dirty="0">
                <a:solidFill>
                  <a:srgbClr val="8C1D40"/>
                </a:solidFill>
                <a:latin typeface="Calibri" pitchFamily="34" charset="0"/>
                <a:ea typeface="Calibri" pitchFamily="34" charset="-122"/>
                <a:cs typeface="Calibri" pitchFamily="34" charset="-120"/>
              </a:rPr>
              <a:t>Our answer: </a:t>
            </a:r>
            <a:r>
              <a:rPr lang="en-US" sz="1050" dirty="0">
                <a:solidFill>
                  <a:srgbClr val="1F1A1C"/>
                </a:solidFill>
                <a:latin typeface="Calibri" pitchFamily="34" charset="0"/>
                <a:ea typeface="Calibri" pitchFamily="34" charset="-122"/>
                <a:cs typeface="Calibri" pitchFamily="34" charset="-120"/>
              </a:rPr>
              <a:t>Occupancy and monitored security are core pricing variables, so unmonitored loss progression is priced upfront.</a:t>
            </a:r>
            <a:endParaRPr lang="en-US" sz="1050" dirty="0"/>
          </a:p>
        </p:txBody>
      </p:sp>
      <p:sp>
        <p:nvSpPr>
          <p:cNvPr id="13" name="Shape 9"/>
          <p:cNvSpPr/>
          <p:nvPr/>
        </p:nvSpPr>
        <p:spPr>
          <a:xfrm>
            <a:off x="4617720" y="1188720"/>
            <a:ext cx="4023360" cy="16916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4" name="Shape 10"/>
          <p:cNvSpPr/>
          <p:nvPr/>
        </p:nvSpPr>
        <p:spPr>
          <a:xfrm>
            <a:off x="4754880" y="1325880"/>
            <a:ext cx="411480" cy="411480"/>
          </a:xfrm>
          <a:prstGeom prst="ellipse">
            <a:avLst/>
          </a:prstGeom>
          <a:solidFill>
            <a:srgbClr val="8C1D40"/>
          </a:solidFill>
          <a:ln w="12700">
            <a:solidFill>
              <a:srgbClr val="8C1D40"/>
            </a:solidFill>
            <a:prstDash val="solid"/>
          </a:ln>
        </p:spPr>
        <p:txBody>
          <a:bodyPr/>
          <a:lstStyle/>
          <a:p>
            <a:endParaRPr lang="en-IN"/>
          </a:p>
        </p:txBody>
      </p:sp>
      <p:pic>
        <p:nvPicPr>
          <p:cNvPr id="15" name="Image 1" descr="preencoded.png"/>
          <p:cNvPicPr>
            <a:picLocks noChangeAspect="1"/>
          </p:cNvPicPr>
          <p:nvPr/>
        </p:nvPicPr>
        <p:blipFill>
          <a:blip r:embed="rId4"/>
          <a:stretch>
            <a:fillRect/>
          </a:stretch>
        </p:blipFill>
        <p:spPr>
          <a:xfrm>
            <a:off x="4857750" y="1428750"/>
            <a:ext cx="205740" cy="205740"/>
          </a:xfrm>
          <a:prstGeom prst="rect">
            <a:avLst/>
          </a:prstGeom>
        </p:spPr>
      </p:pic>
      <p:sp>
        <p:nvSpPr>
          <p:cNvPr id="16" name="Text 11"/>
          <p:cNvSpPr txBox="1"/>
          <p:nvPr/>
        </p:nvSpPr>
        <p:spPr>
          <a:xfrm>
            <a:off x="5276088" y="1325880"/>
            <a:ext cx="3246120" cy="411480"/>
          </a:xfrm>
          <a:prstGeom prst="rect">
            <a:avLst/>
          </a:prstGeom>
          <a:noFill/>
          <a:ln/>
        </p:spPr>
        <p:txBody>
          <a:bodyPr wrap="square" lIns="0" tIns="0" rIns="0" bIns="0" rtlCol="0" anchor="ctr"/>
          <a:lstStyle/>
          <a:p>
            <a:pPr marL="0" indent="0">
              <a:buNone/>
            </a:pPr>
            <a:r>
              <a:rPr lang="en-US" sz="1400" b="1" dirty="0">
                <a:solidFill>
                  <a:srgbClr val="1F1A1C"/>
                </a:solidFill>
                <a:latin typeface="Cambria" pitchFamily="34" charset="0"/>
                <a:ea typeface="Cambria" pitchFamily="34" charset="-122"/>
                <a:cs typeface="Cambria" pitchFamily="34" charset="-120"/>
              </a:rPr>
              <a:t>Claim leakage: 5–10% of revenue</a:t>
            </a:r>
            <a:endParaRPr lang="en-US" sz="1400" dirty="0"/>
          </a:p>
        </p:txBody>
      </p:sp>
      <p:sp>
        <p:nvSpPr>
          <p:cNvPr id="17" name="Text 12"/>
          <p:cNvSpPr txBox="1"/>
          <p:nvPr/>
        </p:nvSpPr>
        <p:spPr>
          <a:xfrm>
            <a:off x="4754880" y="1847088"/>
            <a:ext cx="3749040" cy="457200"/>
          </a:xfrm>
          <a:prstGeom prst="rect">
            <a:avLst/>
          </a:prstGeom>
          <a:noFill/>
          <a:ln/>
        </p:spPr>
        <p:txBody>
          <a:bodyPr wrap="square" lIns="0" tIns="0" rIns="0" bIns="0" rtlCol="0" anchor="t"/>
          <a:lstStyle/>
          <a:p>
            <a:pPr marL="0" indent="0">
              <a:buNone/>
            </a:pPr>
            <a:r>
              <a:rPr lang="en-US" sz="1050" b="1" dirty="0">
                <a:solidFill>
                  <a:srgbClr val="6B6467"/>
                </a:solidFill>
                <a:latin typeface="Calibri" pitchFamily="34" charset="0"/>
                <a:ea typeface="Calibri" pitchFamily="34" charset="-122"/>
                <a:cs typeface="Calibri" pitchFamily="34" charset="-120"/>
              </a:rPr>
              <a:t>Reality: </a:t>
            </a:r>
            <a:r>
              <a:rPr lang="en-US" sz="1050" dirty="0">
                <a:solidFill>
                  <a:srgbClr val="6B6467"/>
                </a:solidFill>
                <a:latin typeface="Calibri" pitchFamily="34" charset="0"/>
                <a:ea typeface="Calibri" pitchFamily="34" charset="-122"/>
                <a:cs typeface="Calibri" pitchFamily="34" charset="-120"/>
              </a:rPr>
              <a:t>A tired adjuster sees a ₹4.5L claim inside a ₹50L limit and misses that the fence sub-limit is exhausted.</a:t>
            </a:r>
            <a:endParaRPr lang="en-US" sz="1050" dirty="0"/>
          </a:p>
        </p:txBody>
      </p:sp>
      <p:sp>
        <p:nvSpPr>
          <p:cNvPr id="18" name="Text 13"/>
          <p:cNvSpPr txBox="1"/>
          <p:nvPr/>
        </p:nvSpPr>
        <p:spPr>
          <a:xfrm>
            <a:off x="4754880" y="2322576"/>
            <a:ext cx="3749040" cy="502920"/>
          </a:xfrm>
          <a:prstGeom prst="rect">
            <a:avLst/>
          </a:prstGeom>
          <a:noFill/>
          <a:ln/>
        </p:spPr>
        <p:txBody>
          <a:bodyPr wrap="square" lIns="0" tIns="0" rIns="0" bIns="0" rtlCol="0" anchor="t"/>
          <a:lstStyle/>
          <a:p>
            <a:pPr marL="0" indent="0">
              <a:buNone/>
            </a:pPr>
            <a:r>
              <a:rPr lang="en-US" sz="1050" b="1" dirty="0">
                <a:solidFill>
                  <a:srgbClr val="8C1D40"/>
                </a:solidFill>
                <a:latin typeface="Calibri" pitchFamily="34" charset="0"/>
                <a:ea typeface="Calibri" pitchFamily="34" charset="-122"/>
                <a:cs typeface="Calibri" pitchFamily="34" charset="-120"/>
              </a:rPr>
              <a:t>Our answer: </a:t>
            </a:r>
            <a:r>
              <a:rPr lang="en-US" sz="1050" dirty="0">
                <a:solidFill>
                  <a:srgbClr val="1F1A1C"/>
                </a:solidFill>
                <a:latin typeface="Calibri" pitchFamily="34" charset="0"/>
                <a:ea typeface="Calibri" pitchFamily="34" charset="-122"/>
                <a:cs typeface="Calibri" pitchFamily="34" charset="-120"/>
              </a:rPr>
              <a:t>Line-item approvals: Approved ≤ Sub-limit − Committed payouts. Overpaying by accident is blocked.</a:t>
            </a:r>
            <a:endParaRPr lang="en-US" sz="1050" dirty="0"/>
          </a:p>
        </p:txBody>
      </p:sp>
      <p:sp>
        <p:nvSpPr>
          <p:cNvPr id="19" name="Shape 14"/>
          <p:cNvSpPr/>
          <p:nvPr/>
        </p:nvSpPr>
        <p:spPr>
          <a:xfrm>
            <a:off x="457200" y="2990088"/>
            <a:ext cx="4023360" cy="16916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0" name="Shape 15"/>
          <p:cNvSpPr/>
          <p:nvPr/>
        </p:nvSpPr>
        <p:spPr>
          <a:xfrm>
            <a:off x="594360" y="3127248"/>
            <a:ext cx="411480" cy="411480"/>
          </a:xfrm>
          <a:prstGeom prst="ellipse">
            <a:avLst/>
          </a:prstGeom>
          <a:solidFill>
            <a:srgbClr val="8C1D40"/>
          </a:solidFill>
          <a:ln w="12700">
            <a:solidFill>
              <a:srgbClr val="8C1D40"/>
            </a:solidFill>
            <a:prstDash val="solid"/>
          </a:ln>
        </p:spPr>
        <p:txBody>
          <a:bodyPr/>
          <a:lstStyle/>
          <a:p>
            <a:endParaRPr lang="en-IN"/>
          </a:p>
        </p:txBody>
      </p:sp>
      <p:pic>
        <p:nvPicPr>
          <p:cNvPr id="21" name="Image 2" descr="preencoded.png"/>
          <p:cNvPicPr>
            <a:picLocks noChangeAspect="1"/>
          </p:cNvPicPr>
          <p:nvPr/>
        </p:nvPicPr>
        <p:blipFill>
          <a:blip r:embed="rId5"/>
          <a:stretch>
            <a:fillRect/>
          </a:stretch>
        </p:blipFill>
        <p:spPr>
          <a:xfrm>
            <a:off x="697230" y="3230118"/>
            <a:ext cx="205740" cy="205740"/>
          </a:xfrm>
          <a:prstGeom prst="rect">
            <a:avLst/>
          </a:prstGeom>
        </p:spPr>
      </p:pic>
      <p:sp>
        <p:nvSpPr>
          <p:cNvPr id="22" name="Text 16"/>
          <p:cNvSpPr txBox="1"/>
          <p:nvPr/>
        </p:nvSpPr>
        <p:spPr>
          <a:xfrm>
            <a:off x="1115568" y="3127248"/>
            <a:ext cx="3246120" cy="411480"/>
          </a:xfrm>
          <a:prstGeom prst="rect">
            <a:avLst/>
          </a:prstGeom>
          <a:noFill/>
          <a:ln/>
        </p:spPr>
        <p:txBody>
          <a:bodyPr wrap="square" lIns="0" tIns="0" rIns="0" bIns="0" rtlCol="0" anchor="ctr"/>
          <a:lstStyle/>
          <a:p>
            <a:pPr marL="0" indent="0">
              <a:buNone/>
            </a:pPr>
            <a:r>
              <a:rPr lang="en-US" sz="1400" b="1" dirty="0">
                <a:solidFill>
                  <a:srgbClr val="1F1A1C"/>
                </a:solidFill>
                <a:latin typeface="Cambria" pitchFamily="34" charset="0"/>
                <a:ea typeface="Cambria" pitchFamily="34" charset="-122"/>
                <a:cs typeface="Cambria" pitchFamily="34" charset="-120"/>
              </a:rPr>
              <a:t>Human-in-the-loop AI</a:t>
            </a:r>
            <a:endParaRPr lang="en-US" sz="1400" dirty="0"/>
          </a:p>
        </p:txBody>
      </p:sp>
      <p:sp>
        <p:nvSpPr>
          <p:cNvPr id="23" name="Text 17"/>
          <p:cNvSpPr txBox="1"/>
          <p:nvPr/>
        </p:nvSpPr>
        <p:spPr>
          <a:xfrm>
            <a:off x="594360" y="3648456"/>
            <a:ext cx="3749040" cy="457200"/>
          </a:xfrm>
          <a:prstGeom prst="rect">
            <a:avLst/>
          </a:prstGeom>
          <a:noFill/>
          <a:ln/>
        </p:spPr>
        <p:txBody>
          <a:bodyPr wrap="square" lIns="0" tIns="0" rIns="0" bIns="0" rtlCol="0" anchor="t"/>
          <a:lstStyle/>
          <a:p>
            <a:pPr marL="0" indent="0">
              <a:buNone/>
            </a:pPr>
            <a:r>
              <a:rPr lang="en-US" sz="1050" b="1" dirty="0">
                <a:solidFill>
                  <a:srgbClr val="6B6467"/>
                </a:solidFill>
                <a:latin typeface="Calibri" pitchFamily="34" charset="0"/>
                <a:ea typeface="Calibri" pitchFamily="34" charset="-122"/>
                <a:cs typeface="Calibri" pitchFamily="34" charset="-120"/>
              </a:rPr>
              <a:t>Reality: </a:t>
            </a:r>
            <a:r>
              <a:rPr lang="en-US" sz="1050" dirty="0">
                <a:solidFill>
                  <a:srgbClr val="6B6467"/>
                </a:solidFill>
                <a:latin typeface="Calibri" pitchFamily="34" charset="0"/>
                <a:ea typeface="Calibri" pitchFamily="34" charset="-122"/>
                <a:cs typeface="Calibri" pitchFamily="34" charset="-120"/>
              </a:rPr>
              <a:t>Fully autonomous claim AI is a regulatory nightmare (IRDAI fines for hallucinated denials or payouts).</a:t>
            </a:r>
            <a:endParaRPr lang="en-US" sz="1050" dirty="0"/>
          </a:p>
        </p:txBody>
      </p:sp>
      <p:sp>
        <p:nvSpPr>
          <p:cNvPr id="24" name="Text 18"/>
          <p:cNvSpPr txBox="1"/>
          <p:nvPr/>
        </p:nvSpPr>
        <p:spPr>
          <a:xfrm>
            <a:off x="594360" y="4123944"/>
            <a:ext cx="3749040" cy="502920"/>
          </a:xfrm>
          <a:prstGeom prst="rect">
            <a:avLst/>
          </a:prstGeom>
          <a:noFill/>
          <a:ln/>
        </p:spPr>
        <p:txBody>
          <a:bodyPr wrap="square" lIns="0" tIns="0" rIns="0" bIns="0" rtlCol="0" anchor="t"/>
          <a:lstStyle/>
          <a:p>
            <a:pPr marL="0" indent="0">
              <a:buNone/>
            </a:pPr>
            <a:r>
              <a:rPr lang="en-US" sz="1050" b="1" dirty="0">
                <a:solidFill>
                  <a:srgbClr val="8C1D40"/>
                </a:solidFill>
                <a:latin typeface="Calibri" pitchFamily="34" charset="0"/>
                <a:ea typeface="Calibri" pitchFamily="34" charset="-122"/>
                <a:cs typeface="Calibri" pitchFamily="34" charset="-120"/>
              </a:rPr>
              <a:t>Our answer: </a:t>
            </a:r>
            <a:r>
              <a:rPr lang="en-US" sz="1050" dirty="0">
                <a:solidFill>
                  <a:srgbClr val="1F1A1C"/>
                </a:solidFill>
                <a:latin typeface="Calibri" pitchFamily="34" charset="0"/>
                <a:ea typeface="Calibri" pitchFamily="34" charset="-122"/>
                <a:cs typeface="Calibri" pitchFamily="34" charset="-120"/>
              </a:rPr>
              <a:t>Gemini finds evidence with citations in 4s; the adjuster keeps 100% of the approve/reject authority.</a:t>
            </a:r>
            <a:endParaRPr lang="en-US" sz="1050" dirty="0"/>
          </a:p>
        </p:txBody>
      </p:sp>
      <p:sp>
        <p:nvSpPr>
          <p:cNvPr id="25" name="Shape 19"/>
          <p:cNvSpPr/>
          <p:nvPr/>
        </p:nvSpPr>
        <p:spPr>
          <a:xfrm>
            <a:off x="4617720" y="2990088"/>
            <a:ext cx="4023360" cy="16916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6" name="Shape 20"/>
          <p:cNvSpPr/>
          <p:nvPr/>
        </p:nvSpPr>
        <p:spPr>
          <a:xfrm>
            <a:off x="4754880" y="3127248"/>
            <a:ext cx="411480" cy="411480"/>
          </a:xfrm>
          <a:prstGeom prst="ellipse">
            <a:avLst/>
          </a:prstGeom>
          <a:solidFill>
            <a:srgbClr val="8C1D40"/>
          </a:solidFill>
          <a:ln w="12700">
            <a:solidFill>
              <a:srgbClr val="8C1D40"/>
            </a:solidFill>
            <a:prstDash val="solid"/>
          </a:ln>
        </p:spPr>
        <p:txBody>
          <a:bodyPr/>
          <a:lstStyle/>
          <a:p>
            <a:endParaRPr lang="en-IN"/>
          </a:p>
        </p:txBody>
      </p:sp>
      <p:pic>
        <p:nvPicPr>
          <p:cNvPr id="27" name="Image 3" descr="preencoded.png"/>
          <p:cNvPicPr>
            <a:picLocks noChangeAspect="1"/>
          </p:cNvPicPr>
          <p:nvPr/>
        </p:nvPicPr>
        <p:blipFill>
          <a:blip r:embed="rId6"/>
          <a:stretch>
            <a:fillRect/>
          </a:stretch>
        </p:blipFill>
        <p:spPr>
          <a:xfrm>
            <a:off x="4857750" y="3230118"/>
            <a:ext cx="205740" cy="205740"/>
          </a:xfrm>
          <a:prstGeom prst="rect">
            <a:avLst/>
          </a:prstGeom>
        </p:spPr>
      </p:pic>
      <p:sp>
        <p:nvSpPr>
          <p:cNvPr id="28" name="Text 21"/>
          <p:cNvSpPr txBox="1"/>
          <p:nvPr/>
        </p:nvSpPr>
        <p:spPr>
          <a:xfrm>
            <a:off x="5276088" y="3127248"/>
            <a:ext cx="3246120" cy="411480"/>
          </a:xfrm>
          <a:prstGeom prst="rect">
            <a:avLst/>
          </a:prstGeom>
          <a:noFill/>
          <a:ln/>
        </p:spPr>
        <p:txBody>
          <a:bodyPr wrap="square" lIns="0" tIns="0" rIns="0" bIns="0" rtlCol="0" anchor="ctr"/>
          <a:lstStyle/>
          <a:p>
            <a:pPr marL="0" indent="0">
              <a:buNone/>
            </a:pPr>
            <a:r>
              <a:rPr lang="en-US" sz="1400" b="1" dirty="0">
                <a:solidFill>
                  <a:srgbClr val="1F1A1C"/>
                </a:solidFill>
                <a:latin typeface="Cambria" pitchFamily="34" charset="0"/>
                <a:ea typeface="Cambria" pitchFamily="34" charset="-122"/>
                <a:cs typeface="Cambria" pitchFamily="34" charset="-120"/>
              </a:rPr>
              <a:t>Cyclone surge resilience</a:t>
            </a:r>
            <a:endParaRPr lang="en-US" sz="1400" dirty="0"/>
          </a:p>
        </p:txBody>
      </p:sp>
      <p:sp>
        <p:nvSpPr>
          <p:cNvPr id="29" name="Text 22"/>
          <p:cNvSpPr txBox="1"/>
          <p:nvPr/>
        </p:nvSpPr>
        <p:spPr>
          <a:xfrm>
            <a:off x="4754880" y="3648456"/>
            <a:ext cx="3749040" cy="457200"/>
          </a:xfrm>
          <a:prstGeom prst="rect">
            <a:avLst/>
          </a:prstGeom>
          <a:noFill/>
          <a:ln/>
        </p:spPr>
        <p:txBody>
          <a:bodyPr wrap="square" lIns="0" tIns="0" rIns="0" bIns="0" rtlCol="0" anchor="t"/>
          <a:lstStyle/>
          <a:p>
            <a:pPr marL="0" indent="0">
              <a:buNone/>
            </a:pPr>
            <a:r>
              <a:rPr lang="en-US" sz="1050" b="1" dirty="0">
                <a:solidFill>
                  <a:srgbClr val="6B6467"/>
                </a:solidFill>
                <a:latin typeface="Calibri" pitchFamily="34" charset="0"/>
                <a:ea typeface="Calibri" pitchFamily="34" charset="-122"/>
                <a:cs typeface="Calibri" pitchFamily="34" charset="-120"/>
              </a:rPr>
              <a:t>Reality: </a:t>
            </a:r>
            <a:r>
              <a:rPr lang="en-US" sz="1050" dirty="0">
                <a:solidFill>
                  <a:srgbClr val="6B6467"/>
                </a:solidFill>
                <a:latin typeface="Calibri" pitchFamily="34" charset="0"/>
                <a:ea typeface="Calibri" pitchFamily="34" charset="-122"/>
                <a:cs typeface="Calibri" pitchFamily="34" charset="-120"/>
              </a:rPr>
              <a:t>Thousands of panicked users re-click Submit on poor 4G, creating phantom duplicates and deadlocks.</a:t>
            </a:r>
            <a:endParaRPr lang="en-US" sz="1050" dirty="0"/>
          </a:p>
        </p:txBody>
      </p:sp>
      <p:sp>
        <p:nvSpPr>
          <p:cNvPr id="30" name="Text 23"/>
          <p:cNvSpPr txBox="1"/>
          <p:nvPr/>
        </p:nvSpPr>
        <p:spPr>
          <a:xfrm>
            <a:off x="4754880" y="4123944"/>
            <a:ext cx="3749040" cy="502920"/>
          </a:xfrm>
          <a:prstGeom prst="rect">
            <a:avLst/>
          </a:prstGeom>
          <a:noFill/>
          <a:ln/>
        </p:spPr>
        <p:txBody>
          <a:bodyPr wrap="square" lIns="0" tIns="0" rIns="0" bIns="0" rtlCol="0" anchor="t"/>
          <a:lstStyle/>
          <a:p>
            <a:pPr marL="0" indent="0">
              <a:buNone/>
            </a:pPr>
            <a:r>
              <a:rPr lang="en-US" sz="1050" b="1" dirty="0">
                <a:solidFill>
                  <a:srgbClr val="8C1D40"/>
                </a:solidFill>
                <a:latin typeface="Calibri" pitchFamily="34" charset="0"/>
                <a:ea typeface="Calibri" pitchFamily="34" charset="-122"/>
                <a:cs typeface="Calibri" pitchFamily="34" charset="-120"/>
              </a:rPr>
              <a:t>Our answer: </a:t>
            </a:r>
            <a:r>
              <a:rPr lang="en-US" sz="1050" dirty="0">
                <a:solidFill>
                  <a:srgbClr val="1F1A1C"/>
                </a:solidFill>
                <a:latin typeface="Calibri" pitchFamily="34" charset="0"/>
                <a:ea typeface="Calibri" pitchFamily="34" charset="-122"/>
                <a:cs typeface="Calibri" pitchFamily="34" charset="-120"/>
              </a:rPr>
              <a:t>Debounce, duplicate-peril lock and magic-byte checks absorb the surge silently.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marL="0" indent="0">
              <a:buNone/>
            </a:pPr>
            <a:r>
              <a:rPr lang="en-US" sz="2600" b="1" dirty="0">
                <a:solidFill>
                  <a:srgbClr val="1F1A1C"/>
                </a:solidFill>
                <a:latin typeface="Cambria" pitchFamily="34" charset="0"/>
                <a:ea typeface="Cambria" pitchFamily="34" charset="-122"/>
                <a:cs typeface="Cambria" pitchFamily="34" charset="-120"/>
              </a:rPr>
              <a:t>Beyond a Standard CRUD Project</a:t>
            </a:r>
            <a:endParaRPr lang="en-US" sz="26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marL="0" indent="0">
              <a:buNone/>
            </a:pPr>
            <a:r>
              <a:rPr lang="en-US" sz="1300" dirty="0">
                <a:solidFill>
                  <a:srgbClr val="6B6467"/>
                </a:solidFill>
                <a:latin typeface="Calibri" pitchFamily="34" charset="0"/>
                <a:ea typeface="Calibri" pitchFamily="34" charset="-122"/>
                <a:cs typeface="Calibri" pitchFamily="34" charset="-120"/>
              </a:rPr>
              <a:t>Enterprise capabilities this platform implements.</a:t>
            </a:r>
            <a:endParaRPr lang="en-US" sz="1300" dirty="0"/>
          </a:p>
        </p:txBody>
      </p:sp>
      <p:sp>
        <p:nvSpPr>
          <p:cNvPr id="4" name="Text 2"/>
          <p:cNvSpPr txBox="1"/>
          <p:nvPr/>
        </p:nvSpPr>
        <p:spPr>
          <a:xfrm>
            <a:off x="457200" y="4828032"/>
            <a:ext cx="5486400" cy="201168"/>
          </a:xfrm>
          <a:prstGeom prst="rect">
            <a:avLst/>
          </a:prstGeom>
          <a:noFill/>
          <a:ln/>
        </p:spPr>
        <p:txBody>
          <a:bodyPr wrap="square" lIns="0" tIns="0" rIns="0" bIns="0" rtlCol="0" anchor="ctr"/>
          <a:lstStyle/>
          <a:p>
            <a:pPr marL="0" indent="0">
              <a:buNone/>
            </a:pPr>
            <a:r>
              <a:rPr lang="en-US" sz="900" dirty="0">
                <a:solidFill>
                  <a:srgbClr val="6B6467"/>
                </a:solidFill>
                <a:latin typeface="Calibri" pitchFamily="34" charset="0"/>
                <a:ea typeface="Calibri" pitchFamily="34" charset="-122"/>
                <a:cs typeface="Calibri" pitchFamily="34" charset="-120"/>
              </a:rPr>
              <a:t>Vacation Home Insurance Platform  |  Capstone Project</a:t>
            </a:r>
            <a:endParaRPr lang="en-US" sz="900" dirty="0"/>
          </a:p>
        </p:txBody>
      </p:sp>
      <p:sp>
        <p:nvSpPr>
          <p:cNvPr id="5" name="Text 3"/>
          <p:cNvSpPr txBox="1"/>
          <p:nvPr/>
        </p:nvSpPr>
        <p:spPr>
          <a:xfrm>
            <a:off x="8229600" y="4828032"/>
            <a:ext cx="457200" cy="201168"/>
          </a:xfrm>
          <a:prstGeom prst="rect">
            <a:avLst/>
          </a:prstGeom>
          <a:noFill/>
          <a:ln/>
        </p:spPr>
        <p:txBody>
          <a:bodyPr wrap="square" lIns="0" tIns="0" rIns="0" bIns="0" rtlCol="0" anchor="ctr"/>
          <a:lstStyle/>
          <a:p>
            <a:pPr marL="0" indent="0" algn="r">
              <a:buNone/>
            </a:pPr>
            <a:r>
              <a:rPr lang="en-US" sz="900" dirty="0">
                <a:solidFill>
                  <a:srgbClr val="6B6467"/>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200400"/>
        </p:xfrm>
        <a:graphic>
          <a:graphicData uri="http://schemas.openxmlformats.org/drawingml/2006/table">
            <a:tbl>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Capability</a:t>
                      </a:r>
                      <a:endParaRPr lang="en-US" sz="12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1F1A1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Standard project</a:t>
                      </a:r>
                      <a:endParaRPr lang="en-US" sz="12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6B646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This platform</a:t>
                      </a:r>
                      <a:endParaRPr lang="en-US" sz="12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8C1D40"/>
                    </a:solidFill>
                  </a:tcPr>
                </a:tc>
                <a:extLst>
                  <a:ext uri="{0D108BD9-81ED-4DB2-BD59-A6C34878D82A}">
                    <a16:rowId xmlns:a16="http://schemas.microsoft.com/office/drawing/2014/main" val="10000"/>
                  </a:ext>
                </a:extLst>
              </a:tr>
              <a:tr h="457200">
                <a:tc>
                  <a:txBody>
                    <a:bodyPr/>
                    <a:lstStyle/>
                    <a:p>
                      <a:pPr marL="0" indent="0">
                        <a:buNone/>
                      </a:pPr>
                      <a:r>
                        <a:rPr lang="en-US" sz="1100" b="1" dirty="0">
                          <a:solidFill>
                            <a:srgbClr val="1F1A1C"/>
                          </a:solidFill>
                          <a:latin typeface="Calibri" pitchFamily="34" charset="0"/>
                          <a:ea typeface="Calibri" pitchFamily="34" charset="-122"/>
                          <a:cs typeface="Calibri" pitchFamily="34" charset="-120"/>
                        </a:rPr>
                        <a:t>Database architecture</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100" dirty="0">
                          <a:solidFill>
                            <a:srgbClr val="6B6467"/>
                          </a:solidFill>
                          <a:latin typeface="Calibri" pitchFamily="34" charset="0"/>
                          <a:ea typeface="Calibri" pitchFamily="34" charset="-122"/>
                          <a:cs typeface="Calibri" pitchFamily="34" charset="-120"/>
                        </a:rPr>
                        <a:t>Shared single DB with cross-table joins</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100" b="1" dirty="0">
                          <a:solidFill>
                            <a:srgbClr val="5E1230"/>
                          </a:solidFill>
                          <a:latin typeface="Calibri" pitchFamily="34" charset="0"/>
                          <a:ea typeface="Calibri" pitchFamily="34" charset="-122"/>
                          <a:cs typeface="Calibri" pitchFamily="34" charset="-120"/>
                        </a:rPr>
                        <a:t>Database-per-service: 5 isolated DBs, internal service tokens</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E8EE"/>
                    </a:solidFill>
                  </a:tcPr>
                </a:tc>
                <a:extLst>
                  <a:ext uri="{0D108BD9-81ED-4DB2-BD59-A6C34878D82A}">
                    <a16:rowId xmlns:a16="http://schemas.microsoft.com/office/drawing/2014/main" val="10001"/>
                  </a:ext>
                </a:extLst>
              </a:tr>
              <a:tr h="457200">
                <a:tc>
                  <a:txBody>
                    <a:bodyPr/>
                    <a:lstStyle/>
                    <a:p>
                      <a:pPr marL="0" indent="0">
                        <a:buNone/>
                      </a:pPr>
                      <a:r>
                        <a:rPr lang="en-US" sz="1100" b="1" dirty="0">
                          <a:solidFill>
                            <a:srgbClr val="1F1A1C"/>
                          </a:solidFill>
                          <a:latin typeface="Calibri" pitchFamily="34" charset="0"/>
                          <a:ea typeface="Calibri" pitchFamily="34" charset="-122"/>
                          <a:cs typeface="Calibri" pitchFamily="34" charset="-120"/>
                        </a:rPr>
                        <a:t>Underwriting</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100" dirty="0">
                          <a:solidFill>
                            <a:srgbClr val="6B6467"/>
                          </a:solidFill>
                          <a:latin typeface="Calibri" pitchFamily="34" charset="0"/>
                          <a:ea typeface="Calibri" pitchFamily="34" charset="-122"/>
                          <a:cs typeface="Calibri" pitchFamily="34" charset="-120"/>
                        </a:rPr>
                        <a:t>Static forms, manual admin review</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FFFFF"/>
                    </a:solidFill>
                  </a:tcPr>
                </a:tc>
                <a:tc>
                  <a:txBody>
                    <a:bodyPr/>
                    <a:lstStyle/>
                    <a:p>
                      <a:pPr marL="0" indent="0">
                        <a:buNone/>
                      </a:pPr>
                      <a:r>
                        <a:rPr lang="en-US" sz="1100" b="1" dirty="0">
                          <a:solidFill>
                            <a:srgbClr val="5E1230"/>
                          </a:solidFill>
                          <a:latin typeface="Calibri" pitchFamily="34" charset="0"/>
                          <a:ea typeface="Calibri" pitchFamily="34" charset="-122"/>
                          <a:cs typeface="Calibri" pitchFamily="34" charset="-120"/>
                        </a:rPr>
                        <a:t>Hybrid STP: scoring 0–100, High-Risk Gate ≥ 70</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E8EE"/>
                    </a:solidFill>
                  </a:tcPr>
                </a:tc>
                <a:extLst>
                  <a:ext uri="{0D108BD9-81ED-4DB2-BD59-A6C34878D82A}">
                    <a16:rowId xmlns:a16="http://schemas.microsoft.com/office/drawing/2014/main" val="10002"/>
                  </a:ext>
                </a:extLst>
              </a:tr>
              <a:tr h="457200">
                <a:tc>
                  <a:txBody>
                    <a:bodyPr/>
                    <a:lstStyle/>
                    <a:p>
                      <a:pPr marL="0" indent="0">
                        <a:buNone/>
                      </a:pPr>
                      <a:r>
                        <a:rPr lang="en-US" sz="1100" b="1" dirty="0">
                          <a:solidFill>
                            <a:srgbClr val="1F1A1C"/>
                          </a:solidFill>
                          <a:latin typeface="Calibri" pitchFamily="34" charset="0"/>
                          <a:ea typeface="Calibri" pitchFamily="34" charset="-122"/>
                          <a:cs typeface="Calibri" pitchFamily="34" charset="-120"/>
                        </a:rPr>
                        <a:t>Claim settlement</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100" dirty="0">
                          <a:solidFill>
                            <a:srgbClr val="6B6467"/>
                          </a:solidFill>
                          <a:latin typeface="Calibri" pitchFamily="34" charset="0"/>
                          <a:ea typeface="Calibri" pitchFamily="34" charset="-122"/>
                          <a:cs typeface="Calibri" pitchFamily="34" charset="-120"/>
                        </a:rPr>
                        <a:t>Arbitrary lump-sum approvals</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100" b="1" dirty="0">
                          <a:solidFill>
                            <a:srgbClr val="5E1230"/>
                          </a:solidFill>
                          <a:latin typeface="Calibri" pitchFamily="34" charset="0"/>
                          <a:ea typeface="Calibri" pitchFamily="34" charset="-122"/>
                          <a:cs typeface="Calibri" pitchFamily="34" charset="-120"/>
                        </a:rPr>
                        <a:t>Per-coverage encumbrance: limit ceilings in code</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E8EE"/>
                    </a:solidFill>
                  </a:tcPr>
                </a:tc>
                <a:extLst>
                  <a:ext uri="{0D108BD9-81ED-4DB2-BD59-A6C34878D82A}">
                    <a16:rowId xmlns:a16="http://schemas.microsoft.com/office/drawing/2014/main" val="10003"/>
                  </a:ext>
                </a:extLst>
              </a:tr>
              <a:tr h="457200">
                <a:tc>
                  <a:txBody>
                    <a:bodyPr/>
                    <a:lstStyle/>
                    <a:p>
                      <a:pPr marL="0" indent="0">
                        <a:buNone/>
                      </a:pPr>
                      <a:r>
                        <a:rPr lang="en-US" sz="1100" b="1" dirty="0">
                          <a:solidFill>
                            <a:srgbClr val="1F1A1C"/>
                          </a:solidFill>
                          <a:latin typeface="Calibri" pitchFamily="34" charset="0"/>
                          <a:ea typeface="Calibri" pitchFamily="34" charset="-122"/>
                          <a:cs typeface="Calibri" pitchFamily="34" charset="-120"/>
                        </a:rPr>
                        <a:t>Data integrity</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100" dirty="0">
                          <a:solidFill>
                            <a:srgbClr val="6B6467"/>
                          </a:solidFill>
                          <a:latin typeface="Calibri" pitchFamily="34" charset="0"/>
                          <a:ea typeface="Calibri" pitchFamily="34" charset="-122"/>
                          <a:cs typeface="Calibri" pitchFamily="34" charset="-120"/>
                        </a:rPr>
                        <a:t>Mutable foreign keys</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FFFFF"/>
                    </a:solidFill>
                  </a:tcPr>
                </a:tc>
                <a:tc>
                  <a:txBody>
                    <a:bodyPr/>
                    <a:lstStyle/>
                    <a:p>
                      <a:pPr marL="0" indent="0">
                        <a:buNone/>
                      </a:pPr>
                      <a:r>
                        <a:rPr lang="en-US" sz="1100" b="1" dirty="0">
                          <a:solidFill>
                            <a:srgbClr val="5E1230"/>
                          </a:solidFill>
                          <a:latin typeface="Calibri" pitchFamily="34" charset="0"/>
                          <a:ea typeface="Calibri" pitchFamily="34" charset="-122"/>
                          <a:cs typeface="Calibri" pitchFamily="34" charset="-120"/>
                        </a:rPr>
                        <a:t>Snapshots; PROPERTY_SNAPSHOT_CHANGED tamper detection</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E8EE"/>
                    </a:solidFill>
                  </a:tcPr>
                </a:tc>
                <a:extLst>
                  <a:ext uri="{0D108BD9-81ED-4DB2-BD59-A6C34878D82A}">
                    <a16:rowId xmlns:a16="http://schemas.microsoft.com/office/drawing/2014/main" val="10004"/>
                  </a:ext>
                </a:extLst>
              </a:tr>
              <a:tr h="457200">
                <a:tc>
                  <a:txBody>
                    <a:bodyPr/>
                    <a:lstStyle/>
                    <a:p>
                      <a:pPr marL="0" indent="0">
                        <a:buNone/>
                      </a:pPr>
                      <a:r>
                        <a:rPr lang="en-US" sz="1100" b="1" dirty="0">
                          <a:solidFill>
                            <a:srgbClr val="1F1A1C"/>
                          </a:solidFill>
                          <a:latin typeface="Calibri" pitchFamily="34" charset="0"/>
                          <a:ea typeface="Calibri" pitchFamily="34" charset="-122"/>
                          <a:cs typeface="Calibri" pitchFamily="34" charset="-120"/>
                        </a:rPr>
                        <a:t>Concurrency</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100" dirty="0">
                          <a:solidFill>
                            <a:srgbClr val="6B6467"/>
                          </a:solidFill>
                          <a:latin typeface="Calibri" pitchFamily="34" charset="0"/>
                          <a:ea typeface="Calibri" pitchFamily="34" charset="-122"/>
                          <a:cs typeface="Calibri" pitchFamily="34" charset="-120"/>
                        </a:rPr>
                        <a:t>Last write wins</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100" b="1" dirty="0">
                          <a:solidFill>
                            <a:srgbClr val="5E1230"/>
                          </a:solidFill>
                          <a:latin typeface="Calibri" pitchFamily="34" charset="0"/>
                          <a:ea typeface="Calibri" pitchFamily="34" charset="-122"/>
                          <a:cs typeface="Calibri" pitchFamily="34" charset="-120"/>
                        </a:rPr>
                        <a:t>Optimistic concurrency via SQL rowversion</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E8EE"/>
                    </a:solidFill>
                  </a:tcPr>
                </a:tc>
                <a:extLst>
                  <a:ext uri="{0D108BD9-81ED-4DB2-BD59-A6C34878D82A}">
                    <a16:rowId xmlns:a16="http://schemas.microsoft.com/office/drawing/2014/main" val="10005"/>
                  </a:ext>
                </a:extLst>
              </a:tr>
              <a:tr h="457200">
                <a:tc>
                  <a:txBody>
                    <a:bodyPr/>
                    <a:lstStyle/>
                    <a:p>
                      <a:pPr marL="0" indent="0">
                        <a:buNone/>
                      </a:pPr>
                      <a:r>
                        <a:rPr lang="en-US" sz="1100" b="1" dirty="0">
                          <a:solidFill>
                            <a:srgbClr val="1F1A1C"/>
                          </a:solidFill>
                          <a:latin typeface="Calibri" pitchFamily="34" charset="0"/>
                          <a:ea typeface="Calibri" pitchFamily="34" charset="-122"/>
                          <a:cs typeface="Calibri" pitchFamily="34" charset="-120"/>
                        </a:rPr>
                        <a:t>AI architecture</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100" dirty="0">
                          <a:solidFill>
                            <a:srgbClr val="6B6467"/>
                          </a:solidFill>
                          <a:latin typeface="Calibri" pitchFamily="34" charset="0"/>
                          <a:ea typeface="Calibri" pitchFamily="34" charset="-122"/>
                          <a:cs typeface="Calibri" pitchFamily="34" charset="-120"/>
                        </a:rPr>
                        <a:t>Ungrounded consumer chatbot</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FFFFF"/>
                    </a:solidFill>
                  </a:tcPr>
                </a:tc>
                <a:tc>
                  <a:txBody>
                    <a:bodyPr/>
                    <a:lstStyle/>
                    <a:p>
                      <a:pPr marL="0" indent="0">
                        <a:buNone/>
                      </a:pPr>
                      <a:r>
                        <a:rPr lang="en-US" sz="1100" b="1" dirty="0">
                          <a:solidFill>
                            <a:srgbClr val="5E1230"/>
                          </a:solidFill>
                          <a:latin typeface="Calibri" pitchFamily="34" charset="0"/>
                          <a:ea typeface="Calibri" pitchFamily="34" charset="-122"/>
                          <a:cs typeface="Calibri" pitchFamily="34" charset="-120"/>
                        </a:rPr>
                        <a:t>Governed RAG, no DB write access, zero settlement authority</a:t>
                      </a:r>
                      <a:endParaRPr lang="en-US" sz="1100" dirty="0">
                        <a:latin typeface="Calibri" charset="0"/>
                        <a:ea typeface="Calibri" charset="0"/>
                        <a:cs typeface="Calibri" charset="0"/>
                      </a:endParaRPr>
                    </a:p>
                  </a:txBody>
                  <a:tcPr marL="109728" marR="109728"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E8EE"/>
                    </a:solidFill>
                  </a:tcPr>
                </a:tc>
                <a:extLst>
                  <a:ext uri="{0D108BD9-81ED-4DB2-BD59-A6C34878D82A}">
                    <a16:rowId xmlns:a16="http://schemas.microsoft.com/office/drawing/2014/main" val="10006"/>
                  </a:ext>
                </a:extLst>
              </a:tr>
            </a:tbl>
          </a:graphicData>
        </a:graphic>
      </p:graphicFrame>
      <p:sp>
        <p:nvSpPr>
          <p:cNvPr id="6" name="Text 4"/>
          <p:cNvSpPr txBox="1"/>
          <p:nvPr/>
        </p:nvSpPr>
        <p:spPr>
          <a:xfrm>
            <a:off x="457200" y="4480560"/>
            <a:ext cx="8229600" cy="274320"/>
          </a:xfrm>
          <a:prstGeom prst="rect">
            <a:avLst/>
          </a:prstGeom>
          <a:noFill/>
          <a:ln/>
        </p:spPr>
        <p:txBody>
          <a:bodyPr wrap="square" lIns="0" tIns="0" rIns="0" bIns="0" rtlCol="0" anchor="t"/>
          <a:lstStyle/>
          <a:p>
            <a:pPr marL="0" indent="0">
              <a:buNone/>
            </a:pPr>
            <a:r>
              <a:rPr lang="en-US" sz="1250" b="1" i="1" dirty="0">
                <a:solidFill>
                  <a:srgbClr val="8C1D40"/>
                </a:solidFill>
                <a:latin typeface="Calibri" pitchFamily="34" charset="0"/>
                <a:ea typeface="Calibri" pitchFamily="34" charset="-122"/>
                <a:cs typeface="Calibri" pitchFamily="34" charset="-120"/>
              </a:rPr>
              <a:t>An actuarial state machine: risk math, immutability, encumbrance and governance, not just rows in a table.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marL="0" indent="0">
              <a:buNone/>
            </a:pPr>
            <a:r>
              <a:rPr lang="en-US" sz="2600" b="1" dirty="0">
                <a:solidFill>
                  <a:srgbClr val="1F1A1C"/>
                </a:solidFill>
                <a:latin typeface="Cambria" pitchFamily="34" charset="0"/>
                <a:ea typeface="Cambria" pitchFamily="34" charset="-122"/>
                <a:cs typeface="Cambria" pitchFamily="34" charset="-120"/>
              </a:rPr>
              <a:t>The Impact: Before vs After</a:t>
            </a:r>
            <a:endParaRPr lang="en-US" sz="26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marL="0" indent="0">
              <a:buNone/>
            </a:pPr>
            <a:r>
              <a:rPr lang="en-US" sz="1300" dirty="0">
                <a:solidFill>
                  <a:srgbClr val="6B6467"/>
                </a:solidFill>
                <a:latin typeface="Calibri" pitchFamily="34" charset="0"/>
                <a:ea typeface="Calibri" pitchFamily="34" charset="-122"/>
                <a:cs typeface="Calibri" pitchFamily="34" charset="-120"/>
              </a:rPr>
              <a:t>Measurable operational transformation.</a:t>
            </a:r>
            <a:endParaRPr lang="en-US" sz="1300" dirty="0"/>
          </a:p>
        </p:txBody>
      </p:sp>
      <p:sp>
        <p:nvSpPr>
          <p:cNvPr id="4" name="Text 2"/>
          <p:cNvSpPr txBox="1"/>
          <p:nvPr/>
        </p:nvSpPr>
        <p:spPr>
          <a:xfrm>
            <a:off x="457200" y="4828032"/>
            <a:ext cx="5486400" cy="201168"/>
          </a:xfrm>
          <a:prstGeom prst="rect">
            <a:avLst/>
          </a:prstGeom>
          <a:noFill/>
          <a:ln/>
        </p:spPr>
        <p:txBody>
          <a:bodyPr wrap="square" lIns="0" tIns="0" rIns="0" bIns="0" rtlCol="0" anchor="ctr"/>
          <a:lstStyle/>
          <a:p>
            <a:pPr marL="0" indent="0">
              <a:buNone/>
            </a:pPr>
            <a:r>
              <a:rPr lang="en-US" sz="900" dirty="0">
                <a:solidFill>
                  <a:srgbClr val="6B6467"/>
                </a:solidFill>
                <a:latin typeface="Calibri" pitchFamily="34" charset="0"/>
                <a:ea typeface="Calibri" pitchFamily="34" charset="-122"/>
                <a:cs typeface="Calibri" pitchFamily="34" charset="-120"/>
              </a:rPr>
              <a:t>Vacation Home Insurance Platform  |  Capstone Project</a:t>
            </a:r>
            <a:endParaRPr lang="en-US" sz="900" dirty="0"/>
          </a:p>
        </p:txBody>
      </p:sp>
      <p:sp>
        <p:nvSpPr>
          <p:cNvPr id="5" name="Text 3"/>
          <p:cNvSpPr txBox="1"/>
          <p:nvPr/>
        </p:nvSpPr>
        <p:spPr>
          <a:xfrm>
            <a:off x="8229600" y="4828032"/>
            <a:ext cx="457200" cy="201168"/>
          </a:xfrm>
          <a:prstGeom prst="rect">
            <a:avLst/>
          </a:prstGeom>
          <a:noFill/>
          <a:ln/>
        </p:spPr>
        <p:txBody>
          <a:bodyPr wrap="square" lIns="0" tIns="0" rIns="0" bIns="0" rtlCol="0" anchor="ctr"/>
          <a:lstStyle/>
          <a:p>
            <a:pPr marL="0" indent="0" algn="r">
              <a:buNone/>
            </a:pPr>
            <a:r>
              <a:rPr lang="en-US" sz="900" dirty="0">
                <a:solidFill>
                  <a:srgbClr val="6B6467"/>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457200" y="1143000"/>
            <a:ext cx="1956816" cy="914400"/>
          </a:xfrm>
          <a:prstGeom prst="rect">
            <a:avLst/>
          </a:prstGeom>
          <a:solidFill>
            <a:srgbClr val="F7E8EE"/>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8" name="Text 5"/>
          <p:cNvSpPr txBox="1"/>
          <p:nvPr/>
        </p:nvSpPr>
        <p:spPr>
          <a:xfrm>
            <a:off x="457200" y="1188720"/>
            <a:ext cx="1956816" cy="548640"/>
          </a:xfrm>
          <a:prstGeom prst="rect">
            <a:avLst/>
          </a:prstGeom>
          <a:noFill/>
          <a:ln/>
        </p:spPr>
        <p:txBody>
          <a:bodyPr wrap="square" lIns="0" tIns="0" rIns="0" bIns="0" rtlCol="0" anchor="t"/>
          <a:lstStyle/>
          <a:p>
            <a:pPr marL="0" indent="0" algn="ctr">
              <a:buNone/>
            </a:pPr>
            <a:r>
              <a:rPr lang="en-US" sz="3000" b="1" dirty="0">
                <a:solidFill>
                  <a:srgbClr val="8C1D40"/>
                </a:solidFill>
                <a:latin typeface="Cambria" pitchFamily="34" charset="0"/>
                <a:ea typeface="Cambria" pitchFamily="34" charset="-122"/>
                <a:cs typeface="Cambria" pitchFamily="34" charset="-120"/>
              </a:rPr>
              <a:t>&lt;2s</a:t>
            </a:r>
            <a:endParaRPr lang="en-US" sz="3000" dirty="0"/>
          </a:p>
        </p:txBody>
      </p:sp>
      <p:sp>
        <p:nvSpPr>
          <p:cNvPr id="9" name="Text 6"/>
          <p:cNvSpPr txBox="1"/>
          <p:nvPr/>
        </p:nvSpPr>
        <p:spPr>
          <a:xfrm>
            <a:off x="457200" y="1737360"/>
            <a:ext cx="1956816" cy="274320"/>
          </a:xfrm>
          <a:prstGeom prst="rect">
            <a:avLst/>
          </a:prstGeom>
          <a:noFill/>
          <a:ln/>
        </p:spPr>
        <p:txBody>
          <a:bodyPr wrap="square" lIns="0" tIns="0" rIns="0" bIns="0" rtlCol="0" anchor="t"/>
          <a:lstStyle/>
          <a:p>
            <a:pPr marL="0" indent="0" algn="ctr">
              <a:buNone/>
            </a:pPr>
            <a:r>
              <a:rPr lang="en-US" sz="1100" dirty="0">
                <a:solidFill>
                  <a:srgbClr val="1F1A1C"/>
                </a:solidFill>
                <a:latin typeface="Calibri" pitchFamily="34" charset="0"/>
                <a:ea typeface="Calibri" pitchFamily="34" charset="-122"/>
                <a:cs typeface="Calibri" pitchFamily="34" charset="-120"/>
              </a:rPr>
              <a:t>Quote for Low/Medium risk</a:t>
            </a:r>
            <a:endParaRPr lang="en-US" sz="1100" dirty="0"/>
          </a:p>
        </p:txBody>
      </p:sp>
      <p:sp>
        <p:nvSpPr>
          <p:cNvPr id="10" name="Shape 7"/>
          <p:cNvSpPr/>
          <p:nvPr/>
        </p:nvSpPr>
        <p:spPr>
          <a:xfrm>
            <a:off x="2542032" y="1143000"/>
            <a:ext cx="1956816" cy="914400"/>
          </a:xfrm>
          <a:prstGeom prst="rect">
            <a:avLst/>
          </a:prstGeom>
          <a:solidFill>
            <a:srgbClr val="F7E8EE"/>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1" name="Text 8"/>
          <p:cNvSpPr txBox="1"/>
          <p:nvPr/>
        </p:nvSpPr>
        <p:spPr>
          <a:xfrm>
            <a:off x="2542032" y="1188720"/>
            <a:ext cx="1956816" cy="548640"/>
          </a:xfrm>
          <a:prstGeom prst="rect">
            <a:avLst/>
          </a:prstGeom>
          <a:noFill/>
          <a:ln/>
        </p:spPr>
        <p:txBody>
          <a:bodyPr wrap="square" lIns="0" tIns="0" rIns="0" bIns="0" rtlCol="0" anchor="t"/>
          <a:lstStyle/>
          <a:p>
            <a:pPr marL="0" indent="0" algn="ctr">
              <a:buNone/>
            </a:pPr>
            <a:r>
              <a:rPr lang="en-US" sz="3000" b="1" dirty="0">
                <a:solidFill>
                  <a:srgbClr val="8C1D40"/>
                </a:solidFill>
                <a:latin typeface="Cambria" pitchFamily="34" charset="0"/>
                <a:ea typeface="Cambria" pitchFamily="34" charset="-122"/>
                <a:cs typeface="Cambria" pitchFamily="34" charset="-120"/>
              </a:rPr>
              <a:t>&lt;4s</a:t>
            </a:r>
            <a:endParaRPr lang="en-US" sz="3000" dirty="0"/>
          </a:p>
        </p:txBody>
      </p:sp>
      <p:sp>
        <p:nvSpPr>
          <p:cNvPr id="12" name="Text 9"/>
          <p:cNvSpPr txBox="1"/>
          <p:nvPr/>
        </p:nvSpPr>
        <p:spPr>
          <a:xfrm>
            <a:off x="2542032" y="1737360"/>
            <a:ext cx="1956816" cy="274320"/>
          </a:xfrm>
          <a:prstGeom prst="rect">
            <a:avLst/>
          </a:prstGeom>
          <a:noFill/>
          <a:ln/>
        </p:spPr>
        <p:txBody>
          <a:bodyPr wrap="square" lIns="0" tIns="0" rIns="0" bIns="0" rtlCol="0" anchor="t"/>
          <a:lstStyle/>
          <a:p>
            <a:pPr marL="0" indent="0" algn="ctr">
              <a:buNone/>
            </a:pPr>
            <a:r>
              <a:rPr lang="en-US" sz="1100" dirty="0">
                <a:solidFill>
                  <a:srgbClr val="1F1A1C"/>
                </a:solidFill>
                <a:latin typeface="Calibri" pitchFamily="34" charset="0"/>
                <a:ea typeface="Calibri" pitchFamily="34" charset="-122"/>
                <a:cs typeface="Calibri" pitchFamily="34" charset="-120"/>
              </a:rPr>
              <a:t>AI evidence review</a:t>
            </a:r>
            <a:endParaRPr lang="en-US" sz="1100" dirty="0"/>
          </a:p>
        </p:txBody>
      </p:sp>
      <p:sp>
        <p:nvSpPr>
          <p:cNvPr id="13" name="Shape 10"/>
          <p:cNvSpPr/>
          <p:nvPr/>
        </p:nvSpPr>
        <p:spPr>
          <a:xfrm>
            <a:off x="4626864" y="1143000"/>
            <a:ext cx="1956816" cy="914400"/>
          </a:xfrm>
          <a:prstGeom prst="rect">
            <a:avLst/>
          </a:prstGeom>
          <a:solidFill>
            <a:srgbClr val="F7E8EE"/>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4" name="Text 11"/>
          <p:cNvSpPr txBox="1"/>
          <p:nvPr/>
        </p:nvSpPr>
        <p:spPr>
          <a:xfrm>
            <a:off x="4626864" y="1188720"/>
            <a:ext cx="1956816" cy="548640"/>
          </a:xfrm>
          <a:prstGeom prst="rect">
            <a:avLst/>
          </a:prstGeom>
          <a:noFill/>
          <a:ln/>
        </p:spPr>
        <p:txBody>
          <a:bodyPr wrap="square" lIns="0" tIns="0" rIns="0" bIns="0" rtlCol="0" anchor="t"/>
          <a:lstStyle/>
          <a:p>
            <a:pPr marL="0" indent="0" algn="ctr">
              <a:buNone/>
            </a:pPr>
            <a:r>
              <a:rPr lang="en-US" sz="3000" b="1" dirty="0">
                <a:solidFill>
                  <a:srgbClr val="8C1D40"/>
                </a:solidFill>
                <a:latin typeface="Cambria" pitchFamily="34" charset="0"/>
                <a:ea typeface="Cambria" pitchFamily="34" charset="-122"/>
                <a:cs typeface="Cambria" pitchFamily="34" charset="-120"/>
              </a:rPr>
              <a:t>0</a:t>
            </a:r>
            <a:endParaRPr lang="en-US" sz="3000" dirty="0"/>
          </a:p>
        </p:txBody>
      </p:sp>
      <p:sp>
        <p:nvSpPr>
          <p:cNvPr id="15" name="Text 12"/>
          <p:cNvSpPr txBox="1"/>
          <p:nvPr/>
        </p:nvSpPr>
        <p:spPr>
          <a:xfrm>
            <a:off x="4626864" y="1737360"/>
            <a:ext cx="1956816" cy="274320"/>
          </a:xfrm>
          <a:prstGeom prst="rect">
            <a:avLst/>
          </a:prstGeom>
          <a:noFill/>
          <a:ln/>
        </p:spPr>
        <p:txBody>
          <a:bodyPr wrap="square" lIns="0" tIns="0" rIns="0" bIns="0" rtlCol="0" anchor="t"/>
          <a:lstStyle/>
          <a:p>
            <a:pPr marL="0" indent="0" algn="ctr">
              <a:buNone/>
            </a:pPr>
            <a:r>
              <a:rPr lang="en-US" sz="1100" dirty="0">
                <a:solidFill>
                  <a:srgbClr val="1F1A1C"/>
                </a:solidFill>
                <a:latin typeface="Calibri" pitchFamily="34" charset="0"/>
                <a:ea typeface="Calibri" pitchFamily="34" charset="-122"/>
                <a:cs typeface="Calibri" pitchFamily="34" charset="-120"/>
              </a:rPr>
              <a:t>Overpayment leakage</a:t>
            </a:r>
            <a:endParaRPr lang="en-US" sz="1100" dirty="0"/>
          </a:p>
        </p:txBody>
      </p:sp>
      <p:sp>
        <p:nvSpPr>
          <p:cNvPr id="16" name="Shape 13"/>
          <p:cNvSpPr/>
          <p:nvPr/>
        </p:nvSpPr>
        <p:spPr>
          <a:xfrm>
            <a:off x="6711696" y="1143000"/>
            <a:ext cx="1956816" cy="914400"/>
          </a:xfrm>
          <a:prstGeom prst="rect">
            <a:avLst/>
          </a:prstGeom>
          <a:solidFill>
            <a:srgbClr val="F7E8EE"/>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7" name="Text 14"/>
          <p:cNvSpPr txBox="1"/>
          <p:nvPr/>
        </p:nvSpPr>
        <p:spPr>
          <a:xfrm>
            <a:off x="6711696" y="1188720"/>
            <a:ext cx="1956816" cy="548640"/>
          </a:xfrm>
          <a:prstGeom prst="rect">
            <a:avLst/>
          </a:prstGeom>
          <a:noFill/>
          <a:ln/>
        </p:spPr>
        <p:txBody>
          <a:bodyPr wrap="square" lIns="0" tIns="0" rIns="0" bIns="0" rtlCol="0" anchor="t"/>
          <a:lstStyle/>
          <a:p>
            <a:pPr marL="0" indent="0" algn="ctr">
              <a:buNone/>
            </a:pPr>
            <a:r>
              <a:rPr lang="en-US" sz="3000" b="1" dirty="0">
                <a:solidFill>
                  <a:srgbClr val="8C1D40"/>
                </a:solidFill>
                <a:latin typeface="Cambria" pitchFamily="34" charset="0"/>
                <a:ea typeface="Cambria" pitchFamily="34" charset="-122"/>
                <a:cs typeface="Cambria" pitchFamily="34" charset="-120"/>
              </a:rPr>
              <a:t>30+</a:t>
            </a:r>
            <a:endParaRPr lang="en-US" sz="3000" dirty="0"/>
          </a:p>
        </p:txBody>
      </p:sp>
      <p:sp>
        <p:nvSpPr>
          <p:cNvPr id="18" name="Text 15"/>
          <p:cNvSpPr txBox="1"/>
          <p:nvPr/>
        </p:nvSpPr>
        <p:spPr>
          <a:xfrm>
            <a:off x="6711696" y="1737360"/>
            <a:ext cx="1956816" cy="274320"/>
          </a:xfrm>
          <a:prstGeom prst="rect">
            <a:avLst/>
          </a:prstGeom>
          <a:noFill/>
          <a:ln/>
        </p:spPr>
        <p:txBody>
          <a:bodyPr wrap="square" lIns="0" tIns="0" rIns="0" bIns="0" rtlCol="0" anchor="t"/>
          <a:lstStyle/>
          <a:p>
            <a:pPr marL="0" indent="0" algn="ctr">
              <a:buNone/>
            </a:pPr>
            <a:r>
              <a:rPr lang="en-US" sz="1100" dirty="0">
                <a:solidFill>
                  <a:srgbClr val="1F1A1C"/>
                </a:solidFill>
                <a:latin typeface="Calibri" pitchFamily="34" charset="0"/>
                <a:ea typeface="Calibri" pitchFamily="34" charset="-122"/>
                <a:cs typeface="Calibri" pitchFamily="34" charset="-120"/>
              </a:rPr>
              <a:t>Policy fields frozen</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8229600" cy="2368296"/>
        </p:xfrm>
        <a:graphic>
          <a:graphicData uri="http://schemas.openxmlformats.org/drawingml/2006/table">
            <a:tbl>
              <a:tblPr/>
              <a:tblGrid>
                <a:gridCol w="20116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383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1F1A1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Traditional workflow</a:t>
                      </a:r>
                      <a:endParaRPr lang="en-US" sz="120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6B646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This platform</a:t>
                      </a:r>
                      <a:endParaRPr lang="en-US" sz="120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8C1D40"/>
                    </a:solidFill>
                  </a:tcPr>
                </a:tc>
                <a:extLst>
                  <a:ext uri="{0D108BD9-81ED-4DB2-BD59-A6C34878D82A}">
                    <a16:rowId xmlns:a16="http://schemas.microsoft.com/office/drawing/2014/main" val="10000"/>
                  </a:ext>
                </a:extLst>
              </a:tr>
              <a:tr h="338328">
                <a:tc>
                  <a:txBody>
                    <a:bodyPr/>
                    <a:lstStyle/>
                    <a:p>
                      <a:pPr marL="0" indent="0">
                        <a:buNone/>
                      </a:pPr>
                      <a:r>
                        <a:rPr lang="en-US" sz="1050" b="1" dirty="0">
                          <a:solidFill>
                            <a:srgbClr val="1F1A1C"/>
                          </a:solidFill>
                          <a:latin typeface="Calibri" pitchFamily="34" charset="0"/>
                          <a:ea typeface="Calibri" pitchFamily="34" charset="-122"/>
                          <a:cs typeface="Calibri" pitchFamily="34" charset="-120"/>
                        </a:rPr>
                        <a:t>Quote turnaround</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050" dirty="0">
                          <a:solidFill>
                            <a:srgbClr val="6B6467"/>
                          </a:solidFill>
                          <a:latin typeface="Calibri" pitchFamily="34" charset="0"/>
                          <a:ea typeface="Calibri" pitchFamily="34" charset="-122"/>
                          <a:cs typeface="Calibri" pitchFamily="34" charset="-120"/>
                        </a:rPr>
                        <a:t>2–4 business days, manual email review</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050" b="1" dirty="0">
                          <a:solidFill>
                            <a:srgbClr val="5E1230"/>
                          </a:solidFill>
                          <a:latin typeface="Calibri" pitchFamily="34" charset="0"/>
                          <a:ea typeface="Calibri" pitchFamily="34" charset="-122"/>
                          <a:cs typeface="Calibri" pitchFamily="34" charset="-120"/>
                        </a:rPr>
                        <a:t>&lt; 2 seconds (Low/Medium); High routed instantly</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E8EE"/>
                    </a:solidFill>
                  </a:tcPr>
                </a:tc>
                <a:extLst>
                  <a:ext uri="{0D108BD9-81ED-4DB2-BD59-A6C34878D82A}">
                    <a16:rowId xmlns:a16="http://schemas.microsoft.com/office/drawing/2014/main" val="10001"/>
                  </a:ext>
                </a:extLst>
              </a:tr>
              <a:tr h="338328">
                <a:tc>
                  <a:txBody>
                    <a:bodyPr/>
                    <a:lstStyle/>
                    <a:p>
                      <a:pPr marL="0" indent="0">
                        <a:buNone/>
                      </a:pPr>
                      <a:r>
                        <a:rPr lang="en-US" sz="1050" b="1" dirty="0">
                          <a:solidFill>
                            <a:srgbClr val="1F1A1C"/>
                          </a:solidFill>
                          <a:latin typeface="Calibri" pitchFamily="34" charset="0"/>
                          <a:ea typeface="Calibri" pitchFamily="34" charset="-122"/>
                          <a:cs typeface="Calibri" pitchFamily="34" charset="-120"/>
                        </a:rPr>
                        <a:t>Underwriting accuracy</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050" dirty="0">
                          <a:solidFill>
                            <a:srgbClr val="6B6467"/>
                          </a:solidFill>
                          <a:latin typeface="Calibri" pitchFamily="34" charset="0"/>
                          <a:ea typeface="Calibri" pitchFamily="34" charset="-122"/>
                          <a:cs typeface="Calibri" pitchFamily="34" charset="-120"/>
                        </a:rPr>
                        <a:t>Subjective, inconsistent guesses</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FFFFF"/>
                    </a:solidFill>
                  </a:tcPr>
                </a:tc>
                <a:tc>
                  <a:txBody>
                    <a:bodyPr/>
                    <a:lstStyle/>
                    <a:p>
                      <a:pPr marL="0" indent="0">
                        <a:buNone/>
                      </a:pPr>
                      <a:r>
                        <a:rPr lang="en-US" sz="1050" b="1" dirty="0">
                          <a:solidFill>
                            <a:srgbClr val="5E1230"/>
                          </a:solidFill>
                          <a:latin typeface="Calibri" pitchFamily="34" charset="0"/>
                          <a:ea typeface="Calibri" pitchFamily="34" charset="-122"/>
                          <a:cs typeface="Calibri" pitchFamily="34" charset="-120"/>
                        </a:rPr>
                        <a:t>Deterministic 6-factor score; 1.0× / 1.25× / 1.50× loading</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E8EE"/>
                    </a:solidFill>
                  </a:tcPr>
                </a:tc>
                <a:extLst>
                  <a:ext uri="{0D108BD9-81ED-4DB2-BD59-A6C34878D82A}">
                    <a16:rowId xmlns:a16="http://schemas.microsoft.com/office/drawing/2014/main" val="10002"/>
                  </a:ext>
                </a:extLst>
              </a:tr>
              <a:tr h="338328">
                <a:tc>
                  <a:txBody>
                    <a:bodyPr/>
                    <a:lstStyle/>
                    <a:p>
                      <a:pPr marL="0" indent="0">
                        <a:buNone/>
                      </a:pPr>
                      <a:r>
                        <a:rPr lang="en-US" sz="1050" b="1" dirty="0">
                          <a:solidFill>
                            <a:srgbClr val="1F1A1C"/>
                          </a:solidFill>
                          <a:latin typeface="Calibri" pitchFamily="34" charset="0"/>
                          <a:ea typeface="Calibri" pitchFamily="34" charset="-122"/>
                          <a:cs typeface="Calibri" pitchFamily="34" charset="-120"/>
                        </a:rPr>
                        <a:t>High-risk triage</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050" dirty="0">
                          <a:solidFill>
                            <a:srgbClr val="6B6467"/>
                          </a:solidFill>
                          <a:latin typeface="Calibri" pitchFamily="34" charset="0"/>
                          <a:ea typeface="Calibri" pitchFamily="34" charset="-122"/>
                          <a:cs typeface="Calibri" pitchFamily="34" charset="-120"/>
                        </a:rPr>
                        <a:t>Email chains, lost spreadsheets</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050" b="1" dirty="0">
                          <a:solidFill>
                            <a:srgbClr val="5E1230"/>
                          </a:solidFill>
                          <a:latin typeface="Calibri" pitchFamily="34" charset="0"/>
                          <a:ea typeface="Calibri" pitchFamily="34" charset="-122"/>
                          <a:cs typeface="Calibri" pitchFamily="34" charset="-120"/>
                        </a:rPr>
                        <a:t>Underwriter queue with audit history &amp; price revisions</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E8EE"/>
                    </a:solidFill>
                  </a:tcPr>
                </a:tc>
                <a:extLst>
                  <a:ext uri="{0D108BD9-81ED-4DB2-BD59-A6C34878D82A}">
                    <a16:rowId xmlns:a16="http://schemas.microsoft.com/office/drawing/2014/main" val="10003"/>
                  </a:ext>
                </a:extLst>
              </a:tr>
              <a:tr h="338328">
                <a:tc>
                  <a:txBody>
                    <a:bodyPr/>
                    <a:lstStyle/>
                    <a:p>
                      <a:pPr marL="0" indent="0">
                        <a:buNone/>
                      </a:pPr>
                      <a:r>
                        <a:rPr lang="en-US" sz="1050" b="1" dirty="0">
                          <a:solidFill>
                            <a:srgbClr val="1F1A1C"/>
                          </a:solidFill>
                          <a:latin typeface="Calibri" pitchFamily="34" charset="0"/>
                          <a:ea typeface="Calibri" pitchFamily="34" charset="-122"/>
                          <a:cs typeface="Calibri" pitchFamily="34" charset="-120"/>
                        </a:rPr>
                        <a:t>Claim evidence review</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050" dirty="0">
                          <a:solidFill>
                            <a:srgbClr val="6B6467"/>
                          </a:solidFill>
                          <a:latin typeface="Calibri" pitchFamily="34" charset="0"/>
                          <a:ea typeface="Calibri" pitchFamily="34" charset="-122"/>
                          <a:cs typeface="Calibri" pitchFamily="34" charset="-120"/>
                        </a:rPr>
                        <a:t>45–60 min reading 50-page bills</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FFFFF"/>
                    </a:solidFill>
                  </a:tcPr>
                </a:tc>
                <a:tc>
                  <a:txBody>
                    <a:bodyPr/>
                    <a:lstStyle/>
                    <a:p>
                      <a:pPr marL="0" indent="0">
                        <a:buNone/>
                      </a:pPr>
                      <a:r>
                        <a:rPr lang="en-US" sz="1050" b="1" dirty="0">
                          <a:solidFill>
                            <a:srgbClr val="5E1230"/>
                          </a:solidFill>
                          <a:latin typeface="Calibri" pitchFamily="34" charset="0"/>
                          <a:ea typeface="Calibri" pitchFamily="34" charset="-122"/>
                          <a:cs typeface="Calibri" pitchFamily="34" charset="-120"/>
                        </a:rPr>
                        <a:t>&lt; 4 seconds via Gemini RAG with citations</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E8EE"/>
                    </a:solidFill>
                  </a:tcPr>
                </a:tc>
                <a:extLst>
                  <a:ext uri="{0D108BD9-81ED-4DB2-BD59-A6C34878D82A}">
                    <a16:rowId xmlns:a16="http://schemas.microsoft.com/office/drawing/2014/main" val="10004"/>
                  </a:ext>
                </a:extLst>
              </a:tr>
              <a:tr h="338328">
                <a:tc>
                  <a:txBody>
                    <a:bodyPr/>
                    <a:lstStyle/>
                    <a:p>
                      <a:pPr marL="0" indent="0">
                        <a:buNone/>
                      </a:pPr>
                      <a:r>
                        <a:rPr lang="en-US" sz="1050" b="1" dirty="0">
                          <a:solidFill>
                            <a:srgbClr val="1F1A1C"/>
                          </a:solidFill>
                          <a:latin typeface="Calibri" pitchFamily="34" charset="0"/>
                          <a:ea typeface="Calibri" pitchFamily="34" charset="-122"/>
                          <a:cs typeface="Calibri" pitchFamily="34" charset="-120"/>
                        </a:rPr>
                        <a:t>Payment leakage</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050" dirty="0">
                          <a:solidFill>
                            <a:srgbClr val="6B6467"/>
                          </a:solidFill>
                          <a:latin typeface="Calibri" pitchFamily="34" charset="0"/>
                          <a:ea typeface="Calibri" pitchFamily="34" charset="-122"/>
                          <a:cs typeface="Calibri" pitchFamily="34" charset="-120"/>
                        </a:rPr>
                        <a:t>High: sub-limits miscalculated</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050" b="1" dirty="0">
                          <a:solidFill>
                            <a:srgbClr val="5E1230"/>
                          </a:solidFill>
                          <a:latin typeface="Calibri" pitchFamily="34" charset="0"/>
                          <a:ea typeface="Calibri" pitchFamily="34" charset="-122"/>
                          <a:cs typeface="Calibri" pitchFamily="34" charset="-120"/>
                        </a:rPr>
                        <a:t>Zero: Approved ≤ RemainingLimit enforced in code</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E8EE"/>
                    </a:solidFill>
                  </a:tcPr>
                </a:tc>
                <a:extLst>
                  <a:ext uri="{0D108BD9-81ED-4DB2-BD59-A6C34878D82A}">
                    <a16:rowId xmlns:a16="http://schemas.microsoft.com/office/drawing/2014/main" val="10005"/>
                  </a:ext>
                </a:extLst>
              </a:tr>
              <a:tr h="338328">
                <a:tc>
                  <a:txBody>
                    <a:bodyPr/>
                    <a:lstStyle/>
                    <a:p>
                      <a:pPr marL="0" indent="0">
                        <a:buNone/>
                      </a:pPr>
                      <a:r>
                        <a:rPr lang="en-US" sz="1050" b="1" dirty="0">
                          <a:solidFill>
                            <a:srgbClr val="1F1A1C"/>
                          </a:solidFill>
                          <a:latin typeface="Calibri" pitchFamily="34" charset="0"/>
                          <a:ea typeface="Calibri" pitchFamily="34" charset="-122"/>
                          <a:cs typeface="Calibri" pitchFamily="34" charset="-120"/>
                        </a:rPr>
                        <a:t>Duplicate claims &amp; disputes</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F5F6"/>
                    </a:solidFill>
                  </a:tcPr>
                </a:tc>
                <a:tc>
                  <a:txBody>
                    <a:bodyPr/>
                    <a:lstStyle/>
                    <a:p>
                      <a:pPr marL="0" indent="0">
                        <a:buNone/>
                      </a:pPr>
                      <a:r>
                        <a:rPr lang="en-US" sz="1050" dirty="0">
                          <a:solidFill>
                            <a:srgbClr val="6B6467"/>
                          </a:solidFill>
                          <a:latin typeface="Calibri" pitchFamily="34" charset="0"/>
                          <a:ea typeface="Calibri" pitchFamily="34" charset="-122"/>
                          <a:cs typeface="Calibri" pitchFamily="34" charset="-120"/>
                        </a:rPr>
                        <a:t>Common; retroactive disputes</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FFFFF"/>
                    </a:solidFill>
                  </a:tcPr>
                </a:tc>
                <a:tc>
                  <a:txBody>
                    <a:bodyPr/>
                    <a:lstStyle/>
                    <a:p>
                      <a:pPr marL="0" indent="0">
                        <a:buNone/>
                      </a:pPr>
                      <a:r>
                        <a:rPr lang="en-US" sz="1050" b="1" dirty="0">
                          <a:solidFill>
                            <a:srgbClr val="5E1230"/>
                          </a:solidFill>
                          <a:latin typeface="Calibri" pitchFamily="34" charset="0"/>
                          <a:ea typeface="Calibri" pitchFamily="34" charset="-122"/>
                          <a:cs typeface="Calibri" pitchFamily="34" charset="-120"/>
                        </a:rPr>
                        <a:t>Debounce + peril lock; 30+ fields frozen in PolicyDb</a:t>
                      </a:r>
                      <a:endParaRPr lang="en-US" sz="1050" dirty="0">
                        <a:latin typeface="Calibri" charset="0"/>
                        <a:ea typeface="Calibri" charset="0"/>
                        <a:cs typeface="Calibri" charset="0"/>
                      </a:endParaRPr>
                    </a:p>
                  </a:txBody>
                  <a:tcPr marT="0" marB="0" anchor="ctr">
                    <a:lnL w="9525" cap="flat" cmpd="sng" algn="ctr">
                      <a:solidFill>
                        <a:srgbClr val="E3DADE"/>
                      </a:solidFill>
                      <a:prstDash val="solid"/>
                      <a:round/>
                      <a:headEnd type="none" w="med" len="med"/>
                      <a:tailEnd type="none" w="med" len="med"/>
                    </a:lnL>
                    <a:lnR w="9525" cap="flat" cmpd="sng" algn="ctr">
                      <a:solidFill>
                        <a:srgbClr val="E3DADE"/>
                      </a:solidFill>
                      <a:prstDash val="solid"/>
                      <a:round/>
                      <a:headEnd type="none" w="med" len="med"/>
                      <a:tailEnd type="none" w="med" len="med"/>
                    </a:lnR>
                    <a:lnT w="9525" cap="flat" cmpd="sng" algn="ctr">
                      <a:solidFill>
                        <a:srgbClr val="E3DADE"/>
                      </a:solidFill>
                      <a:prstDash val="solid"/>
                      <a:round/>
                      <a:headEnd type="none" w="med" len="med"/>
                      <a:tailEnd type="none" w="med" len="med"/>
                    </a:lnT>
                    <a:lnB w="9525" cap="flat" cmpd="sng" algn="ctr">
                      <a:solidFill>
                        <a:srgbClr val="E3DADE"/>
                      </a:solidFill>
                      <a:prstDash val="solid"/>
                      <a:round/>
                      <a:headEnd type="none" w="med" len="med"/>
                      <a:tailEnd type="none" w="med" len="med"/>
                    </a:lnB>
                    <a:solidFill>
                      <a:srgbClr val="F7E8EE"/>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marL="0" indent="0">
              <a:buNone/>
            </a:pPr>
            <a:r>
              <a:rPr lang="en-US" sz="2600" b="1" dirty="0">
                <a:solidFill>
                  <a:srgbClr val="1F1A1C"/>
                </a:solidFill>
                <a:latin typeface="Cambria" pitchFamily="34" charset="0"/>
                <a:ea typeface="Cambria" pitchFamily="34" charset="-122"/>
                <a:cs typeface="Cambria" pitchFamily="34" charset="-120"/>
              </a:rPr>
              <a:t>End-to-End Business Lifecycle</a:t>
            </a:r>
            <a:endParaRPr lang="en-US" sz="26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marL="0" indent="0">
              <a:buNone/>
            </a:pPr>
            <a:r>
              <a:rPr lang="en-US" sz="1300" dirty="0">
                <a:solidFill>
                  <a:srgbClr val="6B6467"/>
                </a:solidFill>
                <a:latin typeface="Calibri" pitchFamily="34" charset="0"/>
                <a:ea typeface="Calibri" pitchFamily="34" charset="-122"/>
                <a:cs typeface="Calibri" pitchFamily="34" charset="-120"/>
              </a:rPr>
              <a:t>The 10-step customer, underwriter and adjuster journey.</a:t>
            </a:r>
            <a:endParaRPr lang="en-US" sz="1300" dirty="0"/>
          </a:p>
        </p:txBody>
      </p:sp>
      <p:sp>
        <p:nvSpPr>
          <p:cNvPr id="4" name="Text 2"/>
          <p:cNvSpPr txBox="1"/>
          <p:nvPr/>
        </p:nvSpPr>
        <p:spPr>
          <a:xfrm>
            <a:off x="457200" y="4828032"/>
            <a:ext cx="5486400" cy="201168"/>
          </a:xfrm>
          <a:prstGeom prst="rect">
            <a:avLst/>
          </a:prstGeom>
          <a:noFill/>
          <a:ln/>
        </p:spPr>
        <p:txBody>
          <a:bodyPr wrap="square" lIns="0" tIns="0" rIns="0" bIns="0" rtlCol="0" anchor="ctr"/>
          <a:lstStyle/>
          <a:p>
            <a:pPr marL="0" indent="0">
              <a:buNone/>
            </a:pPr>
            <a:r>
              <a:rPr lang="en-US" sz="900" dirty="0">
                <a:solidFill>
                  <a:srgbClr val="6B6467"/>
                </a:solidFill>
                <a:latin typeface="Calibri" pitchFamily="34" charset="0"/>
                <a:ea typeface="Calibri" pitchFamily="34" charset="-122"/>
                <a:cs typeface="Calibri" pitchFamily="34" charset="-120"/>
              </a:rPr>
              <a:t>Vacation Home Insurance Platform  |  Capstone Project</a:t>
            </a:r>
            <a:endParaRPr lang="en-US" sz="900" dirty="0"/>
          </a:p>
        </p:txBody>
      </p:sp>
      <p:sp>
        <p:nvSpPr>
          <p:cNvPr id="5" name="Text 3"/>
          <p:cNvSpPr txBox="1"/>
          <p:nvPr/>
        </p:nvSpPr>
        <p:spPr>
          <a:xfrm>
            <a:off x="8229600" y="4828032"/>
            <a:ext cx="457200" cy="201168"/>
          </a:xfrm>
          <a:prstGeom prst="rect">
            <a:avLst/>
          </a:prstGeom>
          <a:noFill/>
          <a:ln/>
        </p:spPr>
        <p:txBody>
          <a:bodyPr wrap="square" lIns="0" tIns="0" rIns="0" bIns="0" rtlCol="0" anchor="ctr"/>
          <a:lstStyle/>
          <a:p>
            <a:pPr marL="0" indent="0" algn="r">
              <a:buNone/>
            </a:pPr>
            <a:r>
              <a:rPr lang="en-US" sz="900" dirty="0">
                <a:solidFill>
                  <a:srgbClr val="6B6467"/>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457200" y="1188720"/>
            <a:ext cx="1554480" cy="16002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8" name="Shape 5"/>
          <p:cNvSpPr/>
          <p:nvPr/>
        </p:nvSpPr>
        <p:spPr>
          <a:xfrm>
            <a:off x="566928" y="1298448"/>
            <a:ext cx="347472" cy="347472"/>
          </a:xfrm>
          <a:prstGeom prst="ellipse">
            <a:avLst/>
          </a:prstGeom>
          <a:solidFill>
            <a:srgbClr val="8C1D40"/>
          </a:solidFill>
          <a:ln w="12700">
            <a:solidFill>
              <a:srgbClr val="8C1D40"/>
            </a:solidFill>
            <a:prstDash val="solid"/>
          </a:ln>
        </p:spPr>
        <p:txBody>
          <a:bodyPr/>
          <a:lstStyle/>
          <a:p>
            <a:endParaRPr lang="en-IN"/>
          </a:p>
        </p:txBody>
      </p:sp>
      <p:sp>
        <p:nvSpPr>
          <p:cNvPr id="9" name="Text 6"/>
          <p:cNvSpPr txBox="1"/>
          <p:nvPr/>
        </p:nvSpPr>
        <p:spPr>
          <a:xfrm>
            <a:off x="566928" y="129844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548640" y="1719072"/>
            <a:ext cx="137160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Registration</a:t>
            </a:r>
            <a:endParaRPr lang="en-US" sz="1250" dirty="0"/>
          </a:p>
        </p:txBody>
      </p:sp>
      <p:sp>
        <p:nvSpPr>
          <p:cNvPr id="11" name="Text 8"/>
          <p:cNvSpPr txBox="1"/>
          <p:nvPr/>
        </p:nvSpPr>
        <p:spPr>
          <a:xfrm>
            <a:off x="548640" y="1993392"/>
            <a:ext cx="1371600" cy="77724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Auth API creates user; Customer API provisions profile</a:t>
            </a:r>
            <a:endParaRPr lang="en-US" sz="1050" dirty="0"/>
          </a:p>
        </p:txBody>
      </p:sp>
      <p:sp>
        <p:nvSpPr>
          <p:cNvPr id="12" name="Shape 9"/>
          <p:cNvSpPr/>
          <p:nvPr/>
        </p:nvSpPr>
        <p:spPr>
          <a:xfrm>
            <a:off x="2121408" y="1188720"/>
            <a:ext cx="1554480" cy="16002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3" name="Shape 10"/>
          <p:cNvSpPr/>
          <p:nvPr/>
        </p:nvSpPr>
        <p:spPr>
          <a:xfrm>
            <a:off x="2231136" y="1298448"/>
            <a:ext cx="347472" cy="347472"/>
          </a:xfrm>
          <a:prstGeom prst="ellipse">
            <a:avLst/>
          </a:prstGeom>
          <a:solidFill>
            <a:srgbClr val="8C1D40"/>
          </a:solidFill>
          <a:ln w="12700">
            <a:solidFill>
              <a:srgbClr val="8C1D40"/>
            </a:solidFill>
            <a:prstDash val="solid"/>
          </a:ln>
        </p:spPr>
        <p:txBody>
          <a:bodyPr/>
          <a:lstStyle/>
          <a:p>
            <a:endParaRPr lang="en-IN"/>
          </a:p>
        </p:txBody>
      </p:sp>
      <p:sp>
        <p:nvSpPr>
          <p:cNvPr id="14" name="Text 11"/>
          <p:cNvSpPr txBox="1"/>
          <p:nvPr/>
        </p:nvSpPr>
        <p:spPr>
          <a:xfrm>
            <a:off x="2231136" y="129844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txBox="1"/>
          <p:nvPr/>
        </p:nvSpPr>
        <p:spPr>
          <a:xfrm>
            <a:off x="2212848" y="1719072"/>
            <a:ext cx="137160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Property setup</a:t>
            </a:r>
            <a:endParaRPr lang="en-US" sz="1250" dirty="0"/>
          </a:p>
        </p:txBody>
      </p:sp>
      <p:sp>
        <p:nvSpPr>
          <p:cNvPr id="16" name="Text 13"/>
          <p:cNvSpPr txBox="1"/>
          <p:nvPr/>
        </p:nvSpPr>
        <p:spPr>
          <a:xfrm>
            <a:off x="2212848" y="1993392"/>
            <a:ext cx="1371600" cy="77724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₹1.5 Cr Goa villa; Low Occupancy, cyclone zone</a:t>
            </a:r>
            <a:endParaRPr lang="en-US" sz="1050" dirty="0"/>
          </a:p>
        </p:txBody>
      </p:sp>
      <p:sp>
        <p:nvSpPr>
          <p:cNvPr id="17" name="Shape 14"/>
          <p:cNvSpPr/>
          <p:nvPr/>
        </p:nvSpPr>
        <p:spPr>
          <a:xfrm>
            <a:off x="3785616" y="1188720"/>
            <a:ext cx="1554480" cy="16002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8" name="Shape 15"/>
          <p:cNvSpPr/>
          <p:nvPr/>
        </p:nvSpPr>
        <p:spPr>
          <a:xfrm>
            <a:off x="3895344" y="1298448"/>
            <a:ext cx="347472" cy="347472"/>
          </a:xfrm>
          <a:prstGeom prst="ellipse">
            <a:avLst/>
          </a:prstGeom>
          <a:solidFill>
            <a:srgbClr val="8C1D40"/>
          </a:solidFill>
          <a:ln w="12700">
            <a:solidFill>
              <a:srgbClr val="8C1D40"/>
            </a:solidFill>
            <a:prstDash val="solid"/>
          </a:ln>
        </p:spPr>
        <p:txBody>
          <a:bodyPr/>
          <a:lstStyle/>
          <a:p>
            <a:endParaRPr lang="en-IN"/>
          </a:p>
        </p:txBody>
      </p:sp>
      <p:sp>
        <p:nvSpPr>
          <p:cNvPr id="19" name="Text 16"/>
          <p:cNvSpPr txBox="1"/>
          <p:nvPr/>
        </p:nvSpPr>
        <p:spPr>
          <a:xfrm>
            <a:off x="3895344" y="129844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txBox="1"/>
          <p:nvPr/>
        </p:nvSpPr>
        <p:spPr>
          <a:xfrm>
            <a:off x="3877056" y="1719072"/>
            <a:ext cx="137160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Product choice</a:t>
            </a:r>
            <a:endParaRPr lang="en-US" sz="1250" dirty="0"/>
          </a:p>
        </p:txBody>
      </p:sp>
      <p:sp>
        <p:nvSpPr>
          <p:cNvPr id="21" name="Text 18"/>
          <p:cNvSpPr txBox="1"/>
          <p:nvPr/>
        </p:nvSpPr>
        <p:spPr>
          <a:xfrm>
            <a:off x="3877056" y="1993392"/>
            <a:ext cx="1371600" cy="77724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Comprehensive Protection: dwelling, structures, contents</a:t>
            </a:r>
            <a:endParaRPr lang="en-US" sz="1050" dirty="0"/>
          </a:p>
        </p:txBody>
      </p:sp>
      <p:sp>
        <p:nvSpPr>
          <p:cNvPr id="22" name="Shape 19"/>
          <p:cNvSpPr/>
          <p:nvPr/>
        </p:nvSpPr>
        <p:spPr>
          <a:xfrm>
            <a:off x="5449824" y="1188720"/>
            <a:ext cx="1554480" cy="16002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3" name="Shape 20"/>
          <p:cNvSpPr/>
          <p:nvPr/>
        </p:nvSpPr>
        <p:spPr>
          <a:xfrm>
            <a:off x="5559552" y="1298448"/>
            <a:ext cx="347472" cy="347472"/>
          </a:xfrm>
          <a:prstGeom prst="ellipse">
            <a:avLst/>
          </a:prstGeom>
          <a:solidFill>
            <a:srgbClr val="8C1D40"/>
          </a:solidFill>
          <a:ln w="12700">
            <a:solidFill>
              <a:srgbClr val="8C1D40"/>
            </a:solidFill>
            <a:prstDash val="solid"/>
          </a:ln>
        </p:spPr>
        <p:txBody>
          <a:bodyPr/>
          <a:lstStyle/>
          <a:p>
            <a:endParaRPr lang="en-IN"/>
          </a:p>
        </p:txBody>
      </p:sp>
      <p:sp>
        <p:nvSpPr>
          <p:cNvPr id="24" name="Text 21"/>
          <p:cNvSpPr txBox="1"/>
          <p:nvPr/>
        </p:nvSpPr>
        <p:spPr>
          <a:xfrm>
            <a:off x="5559552" y="129844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2"/>
          <p:cNvSpPr txBox="1"/>
          <p:nvPr/>
        </p:nvSpPr>
        <p:spPr>
          <a:xfrm>
            <a:off x="5541264" y="1719072"/>
            <a:ext cx="137160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Risk &amp; quote</a:t>
            </a:r>
            <a:endParaRPr lang="en-US" sz="1250" dirty="0"/>
          </a:p>
        </p:txBody>
      </p:sp>
      <p:sp>
        <p:nvSpPr>
          <p:cNvPr id="26" name="Text 23"/>
          <p:cNvSpPr txBox="1"/>
          <p:nvPr/>
        </p:nvSpPr>
        <p:spPr>
          <a:xfrm>
            <a:off x="5541264" y="1993392"/>
            <a:ext cx="1371600" cy="77724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60 pts Medium; ₹75,000 × 1.25 + ₹425 + ₹335 = ₹94,510/yr</a:t>
            </a:r>
            <a:endParaRPr lang="en-US" sz="1050" dirty="0"/>
          </a:p>
        </p:txBody>
      </p:sp>
      <p:sp>
        <p:nvSpPr>
          <p:cNvPr id="27" name="Shape 24"/>
          <p:cNvSpPr/>
          <p:nvPr/>
        </p:nvSpPr>
        <p:spPr>
          <a:xfrm>
            <a:off x="7114032" y="1188720"/>
            <a:ext cx="1554480" cy="16002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8" name="Shape 25"/>
          <p:cNvSpPr/>
          <p:nvPr/>
        </p:nvSpPr>
        <p:spPr>
          <a:xfrm>
            <a:off x="7223760" y="1298448"/>
            <a:ext cx="347472" cy="347472"/>
          </a:xfrm>
          <a:prstGeom prst="ellipse">
            <a:avLst/>
          </a:prstGeom>
          <a:solidFill>
            <a:srgbClr val="8C1D40"/>
          </a:solidFill>
          <a:ln w="12700">
            <a:solidFill>
              <a:srgbClr val="8C1D40"/>
            </a:solidFill>
            <a:prstDash val="solid"/>
          </a:ln>
        </p:spPr>
        <p:txBody>
          <a:bodyPr/>
          <a:lstStyle/>
          <a:p>
            <a:endParaRPr lang="en-IN"/>
          </a:p>
        </p:txBody>
      </p:sp>
      <p:sp>
        <p:nvSpPr>
          <p:cNvPr id="29" name="Text 26"/>
          <p:cNvSpPr txBox="1"/>
          <p:nvPr/>
        </p:nvSpPr>
        <p:spPr>
          <a:xfrm>
            <a:off x="7223760" y="129844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7"/>
          <p:cNvSpPr txBox="1"/>
          <p:nvPr/>
        </p:nvSpPr>
        <p:spPr>
          <a:xfrm>
            <a:off x="7205472" y="1719072"/>
            <a:ext cx="137160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Policy issuance</a:t>
            </a:r>
            <a:endParaRPr lang="en-US" sz="1250" dirty="0"/>
          </a:p>
        </p:txBody>
      </p:sp>
      <p:sp>
        <p:nvSpPr>
          <p:cNvPr id="31" name="Text 28"/>
          <p:cNvSpPr txBox="1"/>
          <p:nvPr/>
        </p:nvSpPr>
        <p:spPr>
          <a:xfrm>
            <a:off x="7205472" y="1993392"/>
            <a:ext cx="1371600" cy="77724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Idempotent payment; POL-2026-XXXXXX; signed INR PDF</a:t>
            </a:r>
            <a:endParaRPr lang="en-US" sz="1050" dirty="0"/>
          </a:p>
        </p:txBody>
      </p:sp>
      <p:sp>
        <p:nvSpPr>
          <p:cNvPr id="32" name="Shape 29"/>
          <p:cNvSpPr/>
          <p:nvPr/>
        </p:nvSpPr>
        <p:spPr>
          <a:xfrm>
            <a:off x="457200" y="2971800"/>
            <a:ext cx="1554480" cy="16002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33" name="Shape 30"/>
          <p:cNvSpPr/>
          <p:nvPr/>
        </p:nvSpPr>
        <p:spPr>
          <a:xfrm>
            <a:off x="566928" y="3081528"/>
            <a:ext cx="347472" cy="347472"/>
          </a:xfrm>
          <a:prstGeom prst="ellipse">
            <a:avLst/>
          </a:prstGeom>
          <a:solidFill>
            <a:srgbClr val="5E1230"/>
          </a:solidFill>
          <a:ln w="12700">
            <a:solidFill>
              <a:srgbClr val="8C1D40"/>
            </a:solidFill>
            <a:prstDash val="solid"/>
          </a:ln>
        </p:spPr>
        <p:txBody>
          <a:bodyPr/>
          <a:lstStyle/>
          <a:p>
            <a:endParaRPr lang="en-IN"/>
          </a:p>
        </p:txBody>
      </p:sp>
      <p:sp>
        <p:nvSpPr>
          <p:cNvPr id="34" name="Text 31"/>
          <p:cNvSpPr txBox="1"/>
          <p:nvPr/>
        </p:nvSpPr>
        <p:spPr>
          <a:xfrm>
            <a:off x="566928" y="308152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5" name="Text 32"/>
          <p:cNvSpPr txBox="1"/>
          <p:nvPr/>
        </p:nvSpPr>
        <p:spPr>
          <a:xfrm>
            <a:off x="548640" y="3502152"/>
            <a:ext cx="137160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Loss incident</a:t>
            </a:r>
            <a:endParaRPr lang="en-US" sz="1250" dirty="0"/>
          </a:p>
        </p:txBody>
      </p:sp>
      <p:sp>
        <p:nvSpPr>
          <p:cNvPr id="36" name="Text 33"/>
          <p:cNvSpPr txBox="1"/>
          <p:nvPr/>
        </p:nvSpPr>
        <p:spPr>
          <a:xfrm>
            <a:off x="548640" y="3776472"/>
            <a:ext cx="1371600" cy="77724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Cyclone claim + repair PDF; guards pass → SUBMITTED</a:t>
            </a:r>
            <a:endParaRPr lang="en-US" sz="1050" dirty="0"/>
          </a:p>
        </p:txBody>
      </p:sp>
      <p:sp>
        <p:nvSpPr>
          <p:cNvPr id="37" name="Shape 34"/>
          <p:cNvSpPr/>
          <p:nvPr/>
        </p:nvSpPr>
        <p:spPr>
          <a:xfrm>
            <a:off x="2121408" y="2971800"/>
            <a:ext cx="1554480" cy="16002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38" name="Shape 35"/>
          <p:cNvSpPr/>
          <p:nvPr/>
        </p:nvSpPr>
        <p:spPr>
          <a:xfrm>
            <a:off x="2231136" y="3081528"/>
            <a:ext cx="347472" cy="347472"/>
          </a:xfrm>
          <a:prstGeom prst="ellipse">
            <a:avLst/>
          </a:prstGeom>
          <a:solidFill>
            <a:srgbClr val="5E1230"/>
          </a:solidFill>
          <a:ln w="12700">
            <a:solidFill>
              <a:srgbClr val="8C1D40"/>
            </a:solidFill>
            <a:prstDash val="solid"/>
          </a:ln>
        </p:spPr>
        <p:txBody>
          <a:bodyPr/>
          <a:lstStyle/>
          <a:p>
            <a:endParaRPr lang="en-IN"/>
          </a:p>
        </p:txBody>
      </p:sp>
      <p:sp>
        <p:nvSpPr>
          <p:cNvPr id="39" name="Text 36"/>
          <p:cNvSpPr txBox="1"/>
          <p:nvPr/>
        </p:nvSpPr>
        <p:spPr>
          <a:xfrm>
            <a:off x="2231136" y="308152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0" name="Text 37"/>
          <p:cNvSpPr txBox="1"/>
          <p:nvPr/>
        </p:nvSpPr>
        <p:spPr>
          <a:xfrm>
            <a:off x="2212848" y="3502152"/>
            <a:ext cx="137160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Staff triage</a:t>
            </a:r>
            <a:endParaRPr lang="en-US" sz="1250" dirty="0"/>
          </a:p>
        </p:txBody>
      </p:sp>
      <p:sp>
        <p:nvSpPr>
          <p:cNvPr id="41" name="Text 38"/>
          <p:cNvSpPr txBox="1"/>
          <p:nvPr/>
        </p:nvSpPr>
        <p:spPr>
          <a:xfrm>
            <a:off x="2212848" y="3776472"/>
            <a:ext cx="1371600" cy="77724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Admin assigns Adjuster Priya → UNDER REVIEW</a:t>
            </a:r>
            <a:endParaRPr lang="en-US" sz="1050" dirty="0"/>
          </a:p>
        </p:txBody>
      </p:sp>
      <p:sp>
        <p:nvSpPr>
          <p:cNvPr id="42" name="Shape 39"/>
          <p:cNvSpPr/>
          <p:nvPr/>
        </p:nvSpPr>
        <p:spPr>
          <a:xfrm>
            <a:off x="3785616" y="2971800"/>
            <a:ext cx="1554480" cy="16002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43" name="Shape 40"/>
          <p:cNvSpPr/>
          <p:nvPr/>
        </p:nvSpPr>
        <p:spPr>
          <a:xfrm>
            <a:off x="3895344" y="3081528"/>
            <a:ext cx="347472" cy="347472"/>
          </a:xfrm>
          <a:prstGeom prst="ellipse">
            <a:avLst/>
          </a:prstGeom>
          <a:solidFill>
            <a:srgbClr val="5E1230"/>
          </a:solidFill>
          <a:ln w="12700">
            <a:solidFill>
              <a:srgbClr val="8C1D40"/>
            </a:solidFill>
            <a:prstDash val="solid"/>
          </a:ln>
        </p:spPr>
        <p:txBody>
          <a:bodyPr/>
          <a:lstStyle/>
          <a:p>
            <a:endParaRPr lang="en-IN"/>
          </a:p>
        </p:txBody>
      </p:sp>
      <p:sp>
        <p:nvSpPr>
          <p:cNvPr id="44" name="Text 41"/>
          <p:cNvSpPr txBox="1"/>
          <p:nvPr/>
        </p:nvSpPr>
        <p:spPr>
          <a:xfrm>
            <a:off x="3895344" y="308152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5" name="Text 42"/>
          <p:cNvSpPr txBox="1"/>
          <p:nvPr/>
        </p:nvSpPr>
        <p:spPr>
          <a:xfrm>
            <a:off x="3877056" y="3502152"/>
            <a:ext cx="137160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AI analysis</a:t>
            </a:r>
            <a:endParaRPr lang="en-US" sz="1250" dirty="0"/>
          </a:p>
        </p:txBody>
      </p:sp>
      <p:sp>
        <p:nvSpPr>
          <p:cNvPr id="46" name="Text 43"/>
          <p:cNvSpPr txBox="1"/>
          <p:nvPr/>
        </p:nvSpPr>
        <p:spPr>
          <a:xfrm>
            <a:off x="3877056" y="3776472"/>
            <a:ext cx="1371600" cy="77724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Gemini extracts line items from the 50-page estimate</a:t>
            </a:r>
            <a:endParaRPr lang="en-US" sz="1050" dirty="0"/>
          </a:p>
        </p:txBody>
      </p:sp>
      <p:sp>
        <p:nvSpPr>
          <p:cNvPr id="47" name="Shape 44"/>
          <p:cNvSpPr/>
          <p:nvPr/>
        </p:nvSpPr>
        <p:spPr>
          <a:xfrm>
            <a:off x="5449824" y="2971800"/>
            <a:ext cx="1554480" cy="16002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48" name="Shape 45"/>
          <p:cNvSpPr/>
          <p:nvPr/>
        </p:nvSpPr>
        <p:spPr>
          <a:xfrm>
            <a:off x="5559552" y="3081528"/>
            <a:ext cx="347472" cy="347472"/>
          </a:xfrm>
          <a:prstGeom prst="ellipse">
            <a:avLst/>
          </a:prstGeom>
          <a:solidFill>
            <a:srgbClr val="5E1230"/>
          </a:solidFill>
          <a:ln w="12700">
            <a:solidFill>
              <a:srgbClr val="8C1D40"/>
            </a:solidFill>
            <a:prstDash val="solid"/>
          </a:ln>
        </p:spPr>
        <p:txBody>
          <a:bodyPr/>
          <a:lstStyle/>
          <a:p>
            <a:endParaRPr lang="en-IN"/>
          </a:p>
        </p:txBody>
      </p:sp>
      <p:sp>
        <p:nvSpPr>
          <p:cNvPr id="49" name="Text 46"/>
          <p:cNvSpPr txBox="1"/>
          <p:nvPr/>
        </p:nvSpPr>
        <p:spPr>
          <a:xfrm>
            <a:off x="5559552" y="308152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50" name="Text 47"/>
          <p:cNvSpPr txBox="1"/>
          <p:nvPr/>
        </p:nvSpPr>
        <p:spPr>
          <a:xfrm>
            <a:off x="5541264" y="3502152"/>
            <a:ext cx="137160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Adjudication</a:t>
            </a:r>
            <a:endParaRPr lang="en-US" sz="1250" dirty="0"/>
          </a:p>
        </p:txBody>
      </p:sp>
      <p:sp>
        <p:nvSpPr>
          <p:cNvPr id="51" name="Text 48"/>
          <p:cNvSpPr txBox="1"/>
          <p:nvPr/>
        </p:nvSpPr>
        <p:spPr>
          <a:xfrm>
            <a:off x="5541264" y="3776472"/>
            <a:ext cx="1371600" cy="77724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Dwelling ₹2.8L + Other Structures ₹1.7L → APPROVED</a:t>
            </a:r>
            <a:endParaRPr lang="en-US" sz="1050" dirty="0"/>
          </a:p>
        </p:txBody>
      </p:sp>
      <p:sp>
        <p:nvSpPr>
          <p:cNvPr id="52" name="Shape 49"/>
          <p:cNvSpPr/>
          <p:nvPr/>
        </p:nvSpPr>
        <p:spPr>
          <a:xfrm>
            <a:off x="7114032" y="2971800"/>
            <a:ext cx="1554480" cy="16002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53" name="Shape 50"/>
          <p:cNvSpPr/>
          <p:nvPr/>
        </p:nvSpPr>
        <p:spPr>
          <a:xfrm>
            <a:off x="7223760" y="3081528"/>
            <a:ext cx="347472" cy="347472"/>
          </a:xfrm>
          <a:prstGeom prst="ellipse">
            <a:avLst/>
          </a:prstGeom>
          <a:solidFill>
            <a:srgbClr val="5E1230"/>
          </a:solidFill>
          <a:ln w="12700">
            <a:solidFill>
              <a:srgbClr val="8C1D40"/>
            </a:solidFill>
            <a:prstDash val="solid"/>
          </a:ln>
        </p:spPr>
        <p:txBody>
          <a:bodyPr/>
          <a:lstStyle/>
          <a:p>
            <a:endParaRPr lang="en-IN"/>
          </a:p>
        </p:txBody>
      </p:sp>
      <p:sp>
        <p:nvSpPr>
          <p:cNvPr id="54" name="Text 51"/>
          <p:cNvSpPr txBox="1"/>
          <p:nvPr/>
        </p:nvSpPr>
        <p:spPr>
          <a:xfrm>
            <a:off x="7223760" y="308152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55" name="Text 52"/>
          <p:cNvSpPr txBox="1"/>
          <p:nvPr/>
        </p:nvSpPr>
        <p:spPr>
          <a:xfrm>
            <a:off x="7205472" y="3502152"/>
            <a:ext cx="137160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Settlement</a:t>
            </a:r>
            <a:endParaRPr lang="en-US" sz="1250" dirty="0"/>
          </a:p>
        </p:txBody>
      </p:sp>
      <p:sp>
        <p:nvSpPr>
          <p:cNvPr id="56" name="Text 53"/>
          <p:cNvSpPr txBox="1"/>
          <p:nvPr/>
        </p:nvSpPr>
        <p:spPr>
          <a:xfrm>
            <a:off x="7205472" y="3776472"/>
            <a:ext cx="1371600" cy="777240"/>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UTR recorded → PAID → file CLOSED</a:t>
            </a:r>
            <a:endParaRPr lang="en-US" sz="1050" dirty="0"/>
          </a:p>
        </p:txBody>
      </p:sp>
      <p:sp>
        <p:nvSpPr>
          <p:cNvPr id="57" name="Text 54"/>
          <p:cNvSpPr txBox="1"/>
          <p:nvPr/>
        </p:nvSpPr>
        <p:spPr>
          <a:xfrm>
            <a:off x="457200" y="4626864"/>
            <a:ext cx="8229600" cy="182880"/>
          </a:xfrm>
          <a:prstGeom prst="rect">
            <a:avLst/>
          </a:prstGeom>
          <a:noFill/>
          <a:ln/>
        </p:spPr>
        <p:txBody>
          <a:bodyPr wrap="square" lIns="0" tIns="0" rIns="0" bIns="0" rtlCol="0" anchor="t"/>
          <a:lstStyle/>
          <a:p>
            <a:pPr marL="0" indent="0">
              <a:buNone/>
            </a:pPr>
            <a:r>
              <a:rPr lang="en-US" sz="1000" i="1" dirty="0">
                <a:solidFill>
                  <a:srgbClr val="6B6467"/>
                </a:solidFill>
                <a:latin typeface="Calibri" pitchFamily="34" charset="0"/>
                <a:ea typeface="Calibri" pitchFamily="34" charset="-122"/>
                <a:cs typeface="Calibri" pitchFamily="34" charset="-120"/>
              </a:rPr>
              <a:t>Customer (1–6)  ·  Admin &amp; Adjuster (7–10)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marL="0" indent="0">
              <a:buNone/>
            </a:pPr>
            <a:r>
              <a:rPr lang="en-US" sz="2600" b="1" dirty="0">
                <a:solidFill>
                  <a:srgbClr val="1F1A1C"/>
                </a:solidFill>
                <a:latin typeface="Cambria" pitchFamily="34" charset="0"/>
                <a:ea typeface="Cambria" pitchFamily="34" charset="-122"/>
                <a:cs typeface="Cambria" pitchFamily="34" charset="-120"/>
              </a:rPr>
              <a:t>Security &amp; Fraud Defense</a:t>
            </a:r>
            <a:endParaRPr lang="en-US" sz="26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marL="0" indent="0">
              <a:buNone/>
            </a:pPr>
            <a:r>
              <a:rPr lang="en-US" sz="1300" dirty="0">
                <a:solidFill>
                  <a:srgbClr val="6B6467"/>
                </a:solidFill>
                <a:latin typeface="Calibri" pitchFamily="34" charset="0"/>
                <a:ea typeface="Calibri" pitchFamily="34" charset="-122"/>
                <a:cs typeface="Calibri" pitchFamily="34" charset="-120"/>
              </a:rPr>
              <a:t>Defense-in-depth from the login screen to the uploaded file.</a:t>
            </a:r>
            <a:endParaRPr lang="en-US" sz="1300" dirty="0"/>
          </a:p>
        </p:txBody>
      </p:sp>
      <p:sp>
        <p:nvSpPr>
          <p:cNvPr id="4" name="Text 2"/>
          <p:cNvSpPr txBox="1"/>
          <p:nvPr/>
        </p:nvSpPr>
        <p:spPr>
          <a:xfrm>
            <a:off x="457200" y="4828032"/>
            <a:ext cx="5486400" cy="201168"/>
          </a:xfrm>
          <a:prstGeom prst="rect">
            <a:avLst/>
          </a:prstGeom>
          <a:noFill/>
          <a:ln/>
        </p:spPr>
        <p:txBody>
          <a:bodyPr wrap="square" lIns="0" tIns="0" rIns="0" bIns="0" rtlCol="0" anchor="ctr"/>
          <a:lstStyle/>
          <a:p>
            <a:pPr marL="0" indent="0">
              <a:buNone/>
            </a:pPr>
            <a:r>
              <a:rPr lang="en-US" sz="900" dirty="0">
                <a:solidFill>
                  <a:srgbClr val="6B6467"/>
                </a:solidFill>
                <a:latin typeface="Calibri" pitchFamily="34" charset="0"/>
                <a:ea typeface="Calibri" pitchFamily="34" charset="-122"/>
                <a:cs typeface="Calibri" pitchFamily="34" charset="-120"/>
              </a:rPr>
              <a:t>Vacation Home Insurance Platform  |  Capstone Project</a:t>
            </a:r>
            <a:endParaRPr lang="en-US" sz="900" dirty="0"/>
          </a:p>
        </p:txBody>
      </p:sp>
      <p:sp>
        <p:nvSpPr>
          <p:cNvPr id="5" name="Text 3"/>
          <p:cNvSpPr txBox="1"/>
          <p:nvPr/>
        </p:nvSpPr>
        <p:spPr>
          <a:xfrm>
            <a:off x="8229600" y="4828032"/>
            <a:ext cx="457200" cy="201168"/>
          </a:xfrm>
          <a:prstGeom prst="rect">
            <a:avLst/>
          </a:prstGeom>
          <a:noFill/>
          <a:ln/>
        </p:spPr>
        <p:txBody>
          <a:bodyPr wrap="square" lIns="0" tIns="0" rIns="0" bIns="0" rtlCol="0" anchor="ctr"/>
          <a:lstStyle/>
          <a:p>
            <a:pPr marL="0" indent="0" algn="r">
              <a:buNone/>
            </a:pPr>
            <a:r>
              <a:rPr lang="en-US" sz="900" dirty="0">
                <a:solidFill>
                  <a:srgbClr val="6B6467"/>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457200" y="1188720"/>
            <a:ext cx="4023360" cy="411480"/>
          </a:xfrm>
          <a:prstGeom prst="rect">
            <a:avLst/>
          </a:prstGeom>
          <a:solidFill>
            <a:srgbClr val="1F1A1C"/>
          </a:solidFill>
          <a:ln w="12700">
            <a:solidFill>
              <a:srgbClr val="1F1A1C"/>
            </a:solidFill>
            <a:prstDash val="solid"/>
          </a:ln>
        </p:spPr>
        <p:txBody>
          <a:bodyPr/>
          <a:lstStyle/>
          <a:p>
            <a:endParaRPr lang="en-IN"/>
          </a:p>
        </p:txBody>
      </p:sp>
      <p:sp>
        <p:nvSpPr>
          <p:cNvPr id="8" name="Text 5"/>
          <p:cNvSpPr txBox="1"/>
          <p:nvPr/>
        </p:nvSpPr>
        <p:spPr>
          <a:xfrm>
            <a:off x="457200" y="1188720"/>
            <a:ext cx="4023360" cy="4114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Zero-Trust Identity</a:t>
            </a:r>
            <a:endParaRPr lang="en-US" sz="1350" dirty="0"/>
          </a:p>
        </p:txBody>
      </p:sp>
      <p:sp>
        <p:nvSpPr>
          <p:cNvPr id="9" name="Shape 6"/>
          <p:cNvSpPr/>
          <p:nvPr/>
        </p:nvSpPr>
        <p:spPr>
          <a:xfrm>
            <a:off x="4663440" y="1188720"/>
            <a:ext cx="4023360" cy="411480"/>
          </a:xfrm>
          <a:prstGeom prst="rect">
            <a:avLst/>
          </a:prstGeom>
          <a:solidFill>
            <a:srgbClr val="8C1D40"/>
          </a:solidFill>
          <a:ln w="12700">
            <a:solidFill>
              <a:srgbClr val="8C1D40"/>
            </a:solidFill>
            <a:prstDash val="solid"/>
          </a:ln>
        </p:spPr>
        <p:txBody>
          <a:bodyPr/>
          <a:lstStyle/>
          <a:p>
            <a:endParaRPr lang="en-IN"/>
          </a:p>
        </p:txBody>
      </p:sp>
      <p:sp>
        <p:nvSpPr>
          <p:cNvPr id="10" name="Text 7"/>
          <p:cNvSpPr txBox="1"/>
          <p:nvPr/>
        </p:nvSpPr>
        <p:spPr>
          <a:xfrm>
            <a:off x="4663440" y="1188720"/>
            <a:ext cx="4023360" cy="41148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Claim Fraud Prevention</a:t>
            </a:r>
            <a:endParaRPr lang="en-US" sz="1350" dirty="0"/>
          </a:p>
        </p:txBody>
      </p:sp>
      <p:sp>
        <p:nvSpPr>
          <p:cNvPr id="11" name="Shape 8"/>
          <p:cNvSpPr/>
          <p:nvPr/>
        </p:nvSpPr>
        <p:spPr>
          <a:xfrm>
            <a:off x="457200" y="1737360"/>
            <a:ext cx="4023360" cy="86868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2" name="Shape 9"/>
          <p:cNvSpPr/>
          <p:nvPr/>
        </p:nvSpPr>
        <p:spPr>
          <a:xfrm>
            <a:off x="566928" y="1938528"/>
            <a:ext cx="457200" cy="457200"/>
          </a:xfrm>
          <a:prstGeom prst="ellipse">
            <a:avLst/>
          </a:prstGeom>
          <a:solidFill>
            <a:srgbClr val="F7E8EE"/>
          </a:solidFill>
          <a:ln w="12700">
            <a:solidFill>
              <a:srgbClr val="F7E8EE"/>
            </a:solidFill>
            <a:prstDash val="solid"/>
          </a:ln>
        </p:spPr>
        <p:txBody>
          <a:bodyPr/>
          <a:lstStyle/>
          <a:p>
            <a:endParaRPr lang="en-IN"/>
          </a:p>
        </p:txBody>
      </p:sp>
      <p:pic>
        <p:nvPicPr>
          <p:cNvPr id="13" name="Image 0" descr="preencoded.png"/>
          <p:cNvPicPr>
            <a:picLocks noChangeAspect="1"/>
          </p:cNvPicPr>
          <p:nvPr/>
        </p:nvPicPr>
        <p:blipFill>
          <a:blip r:embed="rId3"/>
          <a:stretch>
            <a:fillRect/>
          </a:stretch>
        </p:blipFill>
        <p:spPr>
          <a:xfrm>
            <a:off x="681228" y="2052828"/>
            <a:ext cx="228600" cy="228600"/>
          </a:xfrm>
          <a:prstGeom prst="rect">
            <a:avLst/>
          </a:prstGeom>
        </p:spPr>
      </p:pic>
      <p:sp>
        <p:nvSpPr>
          <p:cNvPr id="14" name="Text 10"/>
          <p:cNvSpPr txBox="1"/>
          <p:nvPr/>
        </p:nvSpPr>
        <p:spPr>
          <a:xfrm>
            <a:off x="1143000" y="1810512"/>
            <a:ext cx="324612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3-outcome login</a:t>
            </a:r>
            <a:endParaRPr lang="en-US" sz="1250" dirty="0"/>
          </a:p>
        </p:txBody>
      </p:sp>
      <p:sp>
        <p:nvSpPr>
          <p:cNvPr id="15" name="Text 11"/>
          <p:cNvSpPr txBox="1"/>
          <p:nvPr/>
        </p:nvSpPr>
        <p:spPr>
          <a:xfrm>
            <a:off x="1143000" y="2066544"/>
            <a:ext cx="3246120" cy="530352"/>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Normal (60m), TOTP MFA challenge (5m), restricted manager (10m: /status and /reapply only).</a:t>
            </a:r>
            <a:endParaRPr lang="en-US" sz="1050" dirty="0"/>
          </a:p>
        </p:txBody>
      </p:sp>
      <p:sp>
        <p:nvSpPr>
          <p:cNvPr id="16" name="Shape 12"/>
          <p:cNvSpPr/>
          <p:nvPr/>
        </p:nvSpPr>
        <p:spPr>
          <a:xfrm>
            <a:off x="4663440" y="1737360"/>
            <a:ext cx="4023360" cy="86868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7" name="Shape 13"/>
          <p:cNvSpPr/>
          <p:nvPr/>
        </p:nvSpPr>
        <p:spPr>
          <a:xfrm>
            <a:off x="4773168" y="1938528"/>
            <a:ext cx="457200" cy="457200"/>
          </a:xfrm>
          <a:prstGeom prst="ellipse">
            <a:avLst/>
          </a:prstGeom>
          <a:solidFill>
            <a:srgbClr val="F7E8EE"/>
          </a:solidFill>
          <a:ln w="12700">
            <a:solidFill>
              <a:srgbClr val="F7E8EE"/>
            </a:solidFill>
            <a:prstDash val="solid"/>
          </a:ln>
        </p:spPr>
        <p:txBody>
          <a:bodyPr/>
          <a:lstStyle/>
          <a:p>
            <a:endParaRPr lang="en-IN"/>
          </a:p>
        </p:txBody>
      </p:sp>
      <p:pic>
        <p:nvPicPr>
          <p:cNvPr id="18" name="Image 1" descr="preencoded.png"/>
          <p:cNvPicPr>
            <a:picLocks noChangeAspect="1"/>
          </p:cNvPicPr>
          <p:nvPr/>
        </p:nvPicPr>
        <p:blipFill>
          <a:blip r:embed="rId4"/>
          <a:stretch>
            <a:fillRect/>
          </a:stretch>
        </p:blipFill>
        <p:spPr>
          <a:xfrm>
            <a:off x="4887468" y="2052828"/>
            <a:ext cx="228600" cy="228600"/>
          </a:xfrm>
          <a:prstGeom prst="rect">
            <a:avLst/>
          </a:prstGeom>
        </p:spPr>
      </p:pic>
      <p:sp>
        <p:nvSpPr>
          <p:cNvPr id="19" name="Text 14"/>
          <p:cNvSpPr txBox="1"/>
          <p:nvPr/>
        </p:nvSpPr>
        <p:spPr>
          <a:xfrm>
            <a:off x="5349240" y="1810512"/>
            <a:ext cx="324612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2-minute debounce</a:t>
            </a:r>
            <a:endParaRPr lang="en-US" sz="1250" dirty="0"/>
          </a:p>
        </p:txBody>
      </p:sp>
      <p:sp>
        <p:nvSpPr>
          <p:cNvPr id="20" name="Text 15"/>
          <p:cNvSpPr txBox="1"/>
          <p:nvPr/>
        </p:nvSpPr>
        <p:spPr>
          <a:xfrm>
            <a:off x="5349240" y="2066544"/>
            <a:ext cx="3246120" cy="530352"/>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Rejects duplicate submissions on the same policy within 120 seconds.</a:t>
            </a:r>
            <a:endParaRPr lang="en-US" sz="1050" dirty="0"/>
          </a:p>
        </p:txBody>
      </p:sp>
      <p:sp>
        <p:nvSpPr>
          <p:cNvPr id="21" name="Shape 16"/>
          <p:cNvSpPr/>
          <p:nvPr/>
        </p:nvSpPr>
        <p:spPr>
          <a:xfrm>
            <a:off x="457200" y="2697480"/>
            <a:ext cx="4023360" cy="86868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2" name="Shape 17"/>
          <p:cNvSpPr/>
          <p:nvPr/>
        </p:nvSpPr>
        <p:spPr>
          <a:xfrm>
            <a:off x="566928" y="2898648"/>
            <a:ext cx="457200" cy="457200"/>
          </a:xfrm>
          <a:prstGeom prst="ellipse">
            <a:avLst/>
          </a:prstGeom>
          <a:solidFill>
            <a:srgbClr val="F7E8EE"/>
          </a:solidFill>
          <a:ln w="12700">
            <a:solidFill>
              <a:srgbClr val="F7E8EE"/>
            </a:solidFill>
            <a:prstDash val="solid"/>
          </a:ln>
        </p:spPr>
        <p:txBody>
          <a:bodyPr/>
          <a:lstStyle/>
          <a:p>
            <a:endParaRPr lang="en-IN"/>
          </a:p>
        </p:txBody>
      </p:sp>
      <p:pic>
        <p:nvPicPr>
          <p:cNvPr id="23" name="Image 2" descr="preencoded.png"/>
          <p:cNvPicPr>
            <a:picLocks noChangeAspect="1"/>
          </p:cNvPicPr>
          <p:nvPr/>
        </p:nvPicPr>
        <p:blipFill>
          <a:blip r:embed="rId5"/>
          <a:stretch>
            <a:fillRect/>
          </a:stretch>
        </p:blipFill>
        <p:spPr>
          <a:xfrm>
            <a:off x="681228" y="3012948"/>
            <a:ext cx="228600" cy="228600"/>
          </a:xfrm>
          <a:prstGeom prst="rect">
            <a:avLst/>
          </a:prstGeom>
        </p:spPr>
      </p:pic>
      <p:sp>
        <p:nvSpPr>
          <p:cNvPr id="24" name="Text 18"/>
          <p:cNvSpPr txBox="1"/>
          <p:nvPr/>
        </p:nvSpPr>
        <p:spPr>
          <a:xfrm>
            <a:off x="1143000" y="2770632"/>
            <a:ext cx="324612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Refresh token rotation</a:t>
            </a:r>
            <a:endParaRPr lang="en-US" sz="1250" dirty="0"/>
          </a:p>
        </p:txBody>
      </p:sp>
      <p:sp>
        <p:nvSpPr>
          <p:cNvPr id="25" name="Text 19"/>
          <p:cNvSpPr txBox="1"/>
          <p:nvPr/>
        </p:nvSpPr>
        <p:spPr>
          <a:xfrm>
            <a:off x="1143000" y="3026664"/>
            <a:ext cx="3246120" cy="530352"/>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Each use revokes the old token and issues a new pair; RowVersion blocks races.</a:t>
            </a:r>
            <a:endParaRPr lang="en-US" sz="1050" dirty="0"/>
          </a:p>
        </p:txBody>
      </p:sp>
      <p:sp>
        <p:nvSpPr>
          <p:cNvPr id="26" name="Shape 20"/>
          <p:cNvSpPr/>
          <p:nvPr/>
        </p:nvSpPr>
        <p:spPr>
          <a:xfrm>
            <a:off x="4663440" y="2697480"/>
            <a:ext cx="4023360" cy="86868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7" name="Shape 21"/>
          <p:cNvSpPr/>
          <p:nvPr/>
        </p:nvSpPr>
        <p:spPr>
          <a:xfrm>
            <a:off x="4773168" y="2898648"/>
            <a:ext cx="457200" cy="457200"/>
          </a:xfrm>
          <a:prstGeom prst="ellipse">
            <a:avLst/>
          </a:prstGeom>
          <a:solidFill>
            <a:srgbClr val="F7E8EE"/>
          </a:solidFill>
          <a:ln w="12700">
            <a:solidFill>
              <a:srgbClr val="F7E8EE"/>
            </a:solidFill>
            <a:prstDash val="solid"/>
          </a:ln>
        </p:spPr>
        <p:txBody>
          <a:bodyPr/>
          <a:lstStyle/>
          <a:p>
            <a:endParaRPr lang="en-IN"/>
          </a:p>
        </p:txBody>
      </p:sp>
      <p:pic>
        <p:nvPicPr>
          <p:cNvPr id="28" name="Image 3" descr="preencoded.png"/>
          <p:cNvPicPr>
            <a:picLocks noChangeAspect="1"/>
          </p:cNvPicPr>
          <p:nvPr/>
        </p:nvPicPr>
        <p:blipFill>
          <a:blip r:embed="rId6"/>
          <a:stretch>
            <a:fillRect/>
          </a:stretch>
        </p:blipFill>
        <p:spPr>
          <a:xfrm>
            <a:off x="4887468" y="3012948"/>
            <a:ext cx="228600" cy="228600"/>
          </a:xfrm>
          <a:prstGeom prst="rect">
            <a:avLst/>
          </a:prstGeom>
        </p:spPr>
      </p:pic>
      <p:sp>
        <p:nvSpPr>
          <p:cNvPr id="29" name="Text 22"/>
          <p:cNvSpPr txBox="1"/>
          <p:nvPr/>
        </p:nvSpPr>
        <p:spPr>
          <a:xfrm>
            <a:off x="5349240" y="2770632"/>
            <a:ext cx="324612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Same-day peril lock</a:t>
            </a:r>
            <a:endParaRPr lang="en-US" sz="1250" dirty="0"/>
          </a:p>
        </p:txBody>
      </p:sp>
      <p:sp>
        <p:nvSpPr>
          <p:cNvPr id="30" name="Text 23"/>
          <p:cNvSpPr txBox="1"/>
          <p:nvPr/>
        </p:nvSpPr>
        <p:spPr>
          <a:xfrm>
            <a:off x="5349240" y="3026664"/>
            <a:ext cx="3246120" cy="530352"/>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Blocks concurrent claims for the same disaster date.</a:t>
            </a:r>
            <a:endParaRPr lang="en-US" sz="1050" dirty="0"/>
          </a:p>
        </p:txBody>
      </p:sp>
      <p:sp>
        <p:nvSpPr>
          <p:cNvPr id="31" name="Shape 24"/>
          <p:cNvSpPr/>
          <p:nvPr/>
        </p:nvSpPr>
        <p:spPr>
          <a:xfrm>
            <a:off x="457200" y="3657600"/>
            <a:ext cx="4023360" cy="86868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32" name="Shape 25"/>
          <p:cNvSpPr/>
          <p:nvPr/>
        </p:nvSpPr>
        <p:spPr>
          <a:xfrm>
            <a:off x="566928" y="3858768"/>
            <a:ext cx="457200" cy="457200"/>
          </a:xfrm>
          <a:prstGeom prst="ellipse">
            <a:avLst/>
          </a:prstGeom>
          <a:solidFill>
            <a:srgbClr val="F7E8EE"/>
          </a:solidFill>
          <a:ln w="12700">
            <a:solidFill>
              <a:srgbClr val="F7E8EE"/>
            </a:solidFill>
            <a:prstDash val="solid"/>
          </a:ln>
        </p:spPr>
        <p:txBody>
          <a:bodyPr/>
          <a:lstStyle/>
          <a:p>
            <a:endParaRPr lang="en-IN"/>
          </a:p>
        </p:txBody>
      </p:sp>
      <p:pic>
        <p:nvPicPr>
          <p:cNvPr id="33" name="Image 4" descr="preencoded.png"/>
          <p:cNvPicPr>
            <a:picLocks noChangeAspect="1"/>
          </p:cNvPicPr>
          <p:nvPr/>
        </p:nvPicPr>
        <p:blipFill>
          <a:blip r:embed="rId7"/>
          <a:stretch>
            <a:fillRect/>
          </a:stretch>
        </p:blipFill>
        <p:spPr>
          <a:xfrm>
            <a:off x="681228" y="3973068"/>
            <a:ext cx="228600" cy="228600"/>
          </a:xfrm>
          <a:prstGeom prst="rect">
            <a:avLst/>
          </a:prstGeom>
        </p:spPr>
      </p:pic>
      <p:sp>
        <p:nvSpPr>
          <p:cNvPr id="34" name="Text 26"/>
          <p:cNvSpPr txBox="1"/>
          <p:nvPr/>
        </p:nvSpPr>
        <p:spPr>
          <a:xfrm>
            <a:off x="1143000" y="3730752"/>
            <a:ext cx="324612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Anti-IDOR &amp; hashing</a:t>
            </a:r>
            <a:endParaRPr lang="en-US" sz="1250" dirty="0"/>
          </a:p>
        </p:txBody>
      </p:sp>
      <p:sp>
        <p:nvSpPr>
          <p:cNvPr id="35" name="Text 27"/>
          <p:cNvSpPr txBox="1"/>
          <p:nvPr/>
        </p:nvSpPr>
        <p:spPr>
          <a:xfrm>
            <a:off x="1143000" y="3986784"/>
            <a:ext cx="3246120" cy="530352"/>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Identity only from signed JWT sub; refresh/reset tokens stored as SHA-256 hashes.</a:t>
            </a:r>
            <a:endParaRPr lang="en-US" sz="1050" dirty="0"/>
          </a:p>
        </p:txBody>
      </p:sp>
      <p:sp>
        <p:nvSpPr>
          <p:cNvPr id="36" name="Shape 28"/>
          <p:cNvSpPr/>
          <p:nvPr/>
        </p:nvSpPr>
        <p:spPr>
          <a:xfrm>
            <a:off x="4663440" y="3657600"/>
            <a:ext cx="4023360" cy="86868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37" name="Shape 29"/>
          <p:cNvSpPr/>
          <p:nvPr/>
        </p:nvSpPr>
        <p:spPr>
          <a:xfrm>
            <a:off x="4773168" y="3858768"/>
            <a:ext cx="457200" cy="457200"/>
          </a:xfrm>
          <a:prstGeom prst="ellipse">
            <a:avLst/>
          </a:prstGeom>
          <a:solidFill>
            <a:srgbClr val="F7E8EE"/>
          </a:solidFill>
          <a:ln w="12700">
            <a:solidFill>
              <a:srgbClr val="F7E8EE"/>
            </a:solidFill>
            <a:prstDash val="solid"/>
          </a:ln>
        </p:spPr>
        <p:txBody>
          <a:bodyPr/>
          <a:lstStyle/>
          <a:p>
            <a:endParaRPr lang="en-IN"/>
          </a:p>
        </p:txBody>
      </p:sp>
      <p:pic>
        <p:nvPicPr>
          <p:cNvPr id="38" name="Image 5" descr="preencoded.png"/>
          <p:cNvPicPr>
            <a:picLocks noChangeAspect="1"/>
          </p:cNvPicPr>
          <p:nvPr/>
        </p:nvPicPr>
        <p:blipFill>
          <a:blip r:embed="rId8"/>
          <a:stretch>
            <a:fillRect/>
          </a:stretch>
        </p:blipFill>
        <p:spPr>
          <a:xfrm>
            <a:off x="4887468" y="3973068"/>
            <a:ext cx="228600" cy="228600"/>
          </a:xfrm>
          <a:prstGeom prst="rect">
            <a:avLst/>
          </a:prstGeom>
        </p:spPr>
      </p:pic>
      <p:sp>
        <p:nvSpPr>
          <p:cNvPr id="39" name="Text 30"/>
          <p:cNvSpPr txBox="1"/>
          <p:nvPr/>
        </p:nvSpPr>
        <p:spPr>
          <a:xfrm>
            <a:off x="5349240" y="3730752"/>
            <a:ext cx="3246120" cy="256032"/>
          </a:xfrm>
          <a:prstGeom prst="rect">
            <a:avLst/>
          </a:prstGeom>
          <a:noFill/>
          <a:ln/>
        </p:spPr>
        <p:txBody>
          <a:bodyPr wrap="square" lIns="0" tIns="0" rIns="0" bIns="0" rtlCol="0" anchor="t"/>
          <a:lstStyle/>
          <a:p>
            <a:pPr marL="0" indent="0">
              <a:buNone/>
            </a:pPr>
            <a:r>
              <a:rPr lang="en-US" sz="1250" b="1" dirty="0">
                <a:solidFill>
                  <a:srgbClr val="8C1D40"/>
                </a:solidFill>
                <a:latin typeface="Calibri" pitchFamily="34" charset="0"/>
                <a:ea typeface="Calibri" pitchFamily="34" charset="-122"/>
                <a:cs typeface="Calibri" pitchFamily="34" charset="-120"/>
              </a:rPr>
              <a:t>Magic-byte inspection</a:t>
            </a:r>
            <a:endParaRPr lang="en-US" sz="1250" dirty="0"/>
          </a:p>
        </p:txBody>
      </p:sp>
      <p:sp>
        <p:nvSpPr>
          <p:cNvPr id="40" name="Text 31"/>
          <p:cNvSpPr txBox="1"/>
          <p:nvPr/>
        </p:nvSpPr>
        <p:spPr>
          <a:xfrm>
            <a:off x="5349240" y="3986784"/>
            <a:ext cx="3246120" cy="530352"/>
          </a:xfrm>
          <a:prstGeom prst="rect">
            <a:avLst/>
          </a:prstGeom>
          <a:noFill/>
          <a:ln/>
        </p:spPr>
        <p:txBody>
          <a:bodyPr wrap="square" lIns="0" tIns="0" rIns="0" bIns="0" rtlCol="0" anchor="t"/>
          <a:lstStyle/>
          <a:p>
            <a:pPr marL="0" indent="0">
              <a:buNone/>
            </a:pPr>
            <a:r>
              <a:rPr lang="en-US" sz="1050" dirty="0">
                <a:solidFill>
                  <a:srgbClr val="6B6467"/>
                </a:solidFill>
                <a:latin typeface="Calibri" pitchFamily="34" charset="0"/>
                <a:ea typeface="Calibri" pitchFamily="34" charset="-122"/>
                <a:cs typeface="Calibri" pitchFamily="34" charset="-120"/>
              </a:rPr>
              <a:t>Checks raw headers (%PDF, JPEG FF D8, PNG) to stop disguised malware.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marL="0" indent="0">
              <a:buNone/>
            </a:pPr>
            <a:r>
              <a:rPr lang="en-US" sz="2600" b="1" dirty="0">
                <a:solidFill>
                  <a:srgbClr val="1F1A1C"/>
                </a:solidFill>
                <a:latin typeface="Cambria" pitchFamily="34" charset="0"/>
                <a:ea typeface="Cambria" pitchFamily="34" charset="-122"/>
                <a:cs typeface="Cambria" pitchFamily="34" charset="-120"/>
              </a:rPr>
              <a:t>Governed AI Claims Copilot</a:t>
            </a:r>
            <a:endParaRPr lang="en-US" sz="26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marL="0" indent="0">
              <a:buNone/>
            </a:pPr>
            <a:r>
              <a:rPr lang="en-US" sz="1300" dirty="0">
                <a:solidFill>
                  <a:srgbClr val="6B6467"/>
                </a:solidFill>
                <a:latin typeface="Calibri" pitchFamily="34" charset="0"/>
                <a:ea typeface="Calibri" pitchFamily="34" charset="-122"/>
                <a:cs typeface="Calibri" pitchFamily="34" charset="-120"/>
              </a:rPr>
              <a:t>Retrieval-Augmented Generation with zero settlement authority.</a:t>
            </a:r>
            <a:endParaRPr lang="en-US" sz="1300" dirty="0"/>
          </a:p>
        </p:txBody>
      </p:sp>
      <p:sp>
        <p:nvSpPr>
          <p:cNvPr id="4" name="Text 2"/>
          <p:cNvSpPr txBox="1"/>
          <p:nvPr/>
        </p:nvSpPr>
        <p:spPr>
          <a:xfrm>
            <a:off x="457200" y="4828032"/>
            <a:ext cx="5486400" cy="201168"/>
          </a:xfrm>
          <a:prstGeom prst="rect">
            <a:avLst/>
          </a:prstGeom>
          <a:noFill/>
          <a:ln/>
        </p:spPr>
        <p:txBody>
          <a:bodyPr wrap="square" lIns="0" tIns="0" rIns="0" bIns="0" rtlCol="0" anchor="ctr"/>
          <a:lstStyle/>
          <a:p>
            <a:pPr marL="0" indent="0">
              <a:buNone/>
            </a:pPr>
            <a:r>
              <a:rPr lang="en-US" sz="900" dirty="0">
                <a:solidFill>
                  <a:srgbClr val="6B6467"/>
                </a:solidFill>
                <a:latin typeface="Calibri" pitchFamily="34" charset="0"/>
                <a:ea typeface="Calibri" pitchFamily="34" charset="-122"/>
                <a:cs typeface="Calibri" pitchFamily="34" charset="-120"/>
              </a:rPr>
              <a:t>Vacation Home Insurance Platform  |  Capstone Project</a:t>
            </a:r>
            <a:endParaRPr lang="en-US" sz="900" dirty="0"/>
          </a:p>
        </p:txBody>
      </p:sp>
      <p:sp>
        <p:nvSpPr>
          <p:cNvPr id="5" name="Text 3"/>
          <p:cNvSpPr txBox="1"/>
          <p:nvPr/>
        </p:nvSpPr>
        <p:spPr>
          <a:xfrm>
            <a:off x="8229600" y="4828032"/>
            <a:ext cx="457200" cy="201168"/>
          </a:xfrm>
          <a:prstGeom prst="rect">
            <a:avLst/>
          </a:prstGeom>
          <a:noFill/>
          <a:ln/>
        </p:spPr>
        <p:txBody>
          <a:bodyPr wrap="square" lIns="0" tIns="0" rIns="0" bIns="0" rtlCol="0" anchor="ctr"/>
          <a:lstStyle/>
          <a:p>
            <a:pPr marL="0" indent="0" algn="r">
              <a:buNone/>
            </a:pPr>
            <a:r>
              <a:rPr lang="en-US" sz="900" dirty="0">
                <a:solidFill>
                  <a:srgbClr val="6B6467"/>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457200" y="1234440"/>
            <a:ext cx="1481328" cy="777240"/>
          </a:xfrm>
          <a:prstGeom prst="rect">
            <a:avLst/>
          </a:prstGeom>
          <a:solidFill>
            <a:srgbClr val="FFFFFF"/>
          </a:solidFill>
          <a:ln w="12700">
            <a:solidFill>
              <a:srgbClr val="8C1D40"/>
            </a:solidFill>
            <a:prstDash val="solid"/>
          </a:ln>
        </p:spPr>
        <p:txBody>
          <a:bodyPr/>
          <a:lstStyle/>
          <a:p>
            <a:endParaRPr lang="en-IN"/>
          </a:p>
        </p:txBody>
      </p:sp>
      <p:sp>
        <p:nvSpPr>
          <p:cNvPr id="8" name="Text 5"/>
          <p:cNvSpPr txBox="1"/>
          <p:nvPr/>
        </p:nvSpPr>
        <p:spPr>
          <a:xfrm>
            <a:off x="457200" y="1234440"/>
            <a:ext cx="1481328" cy="777240"/>
          </a:xfrm>
          <a:prstGeom prst="rect">
            <a:avLst/>
          </a:prstGeom>
          <a:noFill/>
          <a:ln/>
        </p:spPr>
        <p:txBody>
          <a:bodyPr wrap="square" lIns="0" tIns="0" rIns="0" bIns="0" rtlCol="0" anchor="ctr"/>
          <a:lstStyle/>
          <a:p>
            <a:pPr marL="0" indent="0" algn="ctr">
              <a:buNone/>
            </a:pPr>
            <a:r>
              <a:rPr lang="en-US" sz="1100" b="1" dirty="0">
                <a:solidFill>
                  <a:srgbClr val="1F1A1C"/>
                </a:solidFill>
                <a:latin typeface="Calibri" pitchFamily="34" charset="0"/>
                <a:ea typeface="Calibri" pitchFamily="34" charset="-122"/>
                <a:cs typeface="Calibri" pitchFamily="34" charset="-120"/>
              </a:rPr>
              <a:t>Contractor PDF</a:t>
            </a:r>
            <a:endParaRPr lang="en-US" sz="1100" dirty="0"/>
          </a:p>
          <a:p>
            <a:pPr marL="0" indent="0" algn="ctr">
              <a:buNone/>
            </a:pPr>
            <a:r>
              <a:rPr lang="en-US" sz="1100" b="1" dirty="0">
                <a:solidFill>
                  <a:srgbClr val="1F1A1C"/>
                </a:solidFill>
                <a:latin typeface="Calibri" pitchFamily="34" charset="0"/>
                <a:ea typeface="Calibri" pitchFamily="34" charset="-122"/>
                <a:cs typeface="Calibri" pitchFamily="34" charset="-120"/>
              </a:rPr>
              <a:t>(50 pages)</a:t>
            </a:r>
            <a:endParaRPr lang="en-US" sz="1100" dirty="0"/>
          </a:p>
        </p:txBody>
      </p:sp>
      <p:sp>
        <p:nvSpPr>
          <p:cNvPr id="9" name="Shape 6"/>
          <p:cNvSpPr/>
          <p:nvPr/>
        </p:nvSpPr>
        <p:spPr>
          <a:xfrm>
            <a:off x="1956816" y="1623060"/>
            <a:ext cx="146304" cy="0"/>
          </a:xfrm>
          <a:prstGeom prst="line">
            <a:avLst/>
          </a:prstGeom>
          <a:noFill/>
          <a:ln w="19050">
            <a:solidFill>
              <a:srgbClr val="6B6467"/>
            </a:solidFill>
            <a:prstDash val="solid"/>
            <a:tailEnd type="triangle"/>
          </a:ln>
        </p:spPr>
        <p:txBody>
          <a:bodyPr/>
          <a:lstStyle/>
          <a:p>
            <a:endParaRPr lang="en-IN"/>
          </a:p>
        </p:txBody>
      </p:sp>
      <p:sp>
        <p:nvSpPr>
          <p:cNvPr id="10" name="Shape 7"/>
          <p:cNvSpPr/>
          <p:nvPr/>
        </p:nvSpPr>
        <p:spPr>
          <a:xfrm>
            <a:off x="2121408" y="1234440"/>
            <a:ext cx="1481328" cy="777240"/>
          </a:xfrm>
          <a:prstGeom prst="rect">
            <a:avLst/>
          </a:prstGeom>
          <a:solidFill>
            <a:srgbClr val="FFFFFF"/>
          </a:solidFill>
          <a:ln w="12700">
            <a:solidFill>
              <a:srgbClr val="8C1D40"/>
            </a:solidFill>
            <a:prstDash val="solid"/>
          </a:ln>
        </p:spPr>
        <p:txBody>
          <a:bodyPr/>
          <a:lstStyle/>
          <a:p>
            <a:endParaRPr lang="en-IN"/>
          </a:p>
        </p:txBody>
      </p:sp>
      <p:sp>
        <p:nvSpPr>
          <p:cNvPr id="11" name="Text 8"/>
          <p:cNvSpPr txBox="1"/>
          <p:nvPr/>
        </p:nvSpPr>
        <p:spPr>
          <a:xfrm>
            <a:off x="2121408" y="1234440"/>
            <a:ext cx="1481328" cy="777240"/>
          </a:xfrm>
          <a:prstGeom prst="rect">
            <a:avLst/>
          </a:prstGeom>
          <a:noFill/>
          <a:ln/>
        </p:spPr>
        <p:txBody>
          <a:bodyPr wrap="square" lIns="0" tIns="0" rIns="0" bIns="0" rtlCol="0" anchor="ctr"/>
          <a:lstStyle/>
          <a:p>
            <a:pPr marL="0" indent="0" algn="ctr">
              <a:buNone/>
            </a:pPr>
            <a:r>
              <a:rPr lang="en-US" sz="1100" b="1" dirty="0">
                <a:solidFill>
                  <a:srgbClr val="1F1A1C"/>
                </a:solidFill>
                <a:latin typeface="Calibri" pitchFamily="34" charset="0"/>
                <a:ea typeface="Calibri" pitchFamily="34" charset="-122"/>
                <a:cs typeface="Calibri" pitchFamily="34" charset="-120"/>
              </a:rPr>
              <a:t>PdfPig text extraction</a:t>
            </a:r>
            <a:endParaRPr lang="en-US" sz="1100" dirty="0"/>
          </a:p>
        </p:txBody>
      </p:sp>
      <p:sp>
        <p:nvSpPr>
          <p:cNvPr id="12" name="Shape 9"/>
          <p:cNvSpPr/>
          <p:nvPr/>
        </p:nvSpPr>
        <p:spPr>
          <a:xfrm>
            <a:off x="3621024" y="1623060"/>
            <a:ext cx="146304" cy="0"/>
          </a:xfrm>
          <a:prstGeom prst="line">
            <a:avLst/>
          </a:prstGeom>
          <a:noFill/>
          <a:ln w="19050">
            <a:solidFill>
              <a:srgbClr val="6B6467"/>
            </a:solidFill>
            <a:prstDash val="solid"/>
            <a:tailEnd type="triangle"/>
          </a:ln>
        </p:spPr>
        <p:txBody>
          <a:bodyPr/>
          <a:lstStyle/>
          <a:p>
            <a:endParaRPr lang="en-IN"/>
          </a:p>
        </p:txBody>
      </p:sp>
      <p:sp>
        <p:nvSpPr>
          <p:cNvPr id="13" name="Shape 10"/>
          <p:cNvSpPr/>
          <p:nvPr/>
        </p:nvSpPr>
        <p:spPr>
          <a:xfrm>
            <a:off x="3785616" y="1234440"/>
            <a:ext cx="1481328" cy="777240"/>
          </a:xfrm>
          <a:prstGeom prst="rect">
            <a:avLst/>
          </a:prstGeom>
          <a:solidFill>
            <a:srgbClr val="FFFFFF"/>
          </a:solidFill>
          <a:ln w="12700">
            <a:solidFill>
              <a:srgbClr val="8C1D40"/>
            </a:solidFill>
            <a:prstDash val="solid"/>
          </a:ln>
        </p:spPr>
        <p:txBody>
          <a:bodyPr/>
          <a:lstStyle/>
          <a:p>
            <a:endParaRPr lang="en-IN"/>
          </a:p>
        </p:txBody>
      </p:sp>
      <p:sp>
        <p:nvSpPr>
          <p:cNvPr id="14" name="Text 11"/>
          <p:cNvSpPr txBox="1"/>
          <p:nvPr/>
        </p:nvSpPr>
        <p:spPr>
          <a:xfrm>
            <a:off x="3785616" y="1234440"/>
            <a:ext cx="1481328" cy="777240"/>
          </a:xfrm>
          <a:prstGeom prst="rect">
            <a:avLst/>
          </a:prstGeom>
          <a:noFill/>
          <a:ln/>
        </p:spPr>
        <p:txBody>
          <a:bodyPr wrap="square" lIns="0" tIns="0" rIns="0" bIns="0" rtlCol="0" anchor="ctr"/>
          <a:lstStyle/>
          <a:p>
            <a:pPr marL="0" indent="0" algn="ctr">
              <a:buNone/>
            </a:pPr>
            <a:r>
              <a:rPr lang="en-US" sz="1100" b="1" dirty="0">
                <a:solidFill>
                  <a:srgbClr val="1F1A1C"/>
                </a:solidFill>
                <a:latin typeface="Calibri" pitchFamily="34" charset="0"/>
                <a:ea typeface="Calibri" pitchFamily="34" charset="-122"/>
                <a:cs typeface="Calibri" pitchFamily="34" charset="-120"/>
              </a:rPr>
              <a:t>Embeddings + cosine search</a:t>
            </a:r>
            <a:endParaRPr lang="en-US" sz="1100" dirty="0"/>
          </a:p>
        </p:txBody>
      </p:sp>
      <p:sp>
        <p:nvSpPr>
          <p:cNvPr id="15" name="Shape 12"/>
          <p:cNvSpPr/>
          <p:nvPr/>
        </p:nvSpPr>
        <p:spPr>
          <a:xfrm>
            <a:off x="5285232" y="1623060"/>
            <a:ext cx="146304" cy="0"/>
          </a:xfrm>
          <a:prstGeom prst="line">
            <a:avLst/>
          </a:prstGeom>
          <a:noFill/>
          <a:ln w="19050">
            <a:solidFill>
              <a:srgbClr val="6B6467"/>
            </a:solidFill>
            <a:prstDash val="solid"/>
            <a:tailEnd type="triangle"/>
          </a:ln>
        </p:spPr>
        <p:txBody>
          <a:bodyPr/>
          <a:lstStyle/>
          <a:p>
            <a:endParaRPr lang="en-IN"/>
          </a:p>
        </p:txBody>
      </p:sp>
      <p:sp>
        <p:nvSpPr>
          <p:cNvPr id="16" name="Shape 13"/>
          <p:cNvSpPr/>
          <p:nvPr/>
        </p:nvSpPr>
        <p:spPr>
          <a:xfrm>
            <a:off x="5449824" y="1234440"/>
            <a:ext cx="1481328" cy="777240"/>
          </a:xfrm>
          <a:prstGeom prst="rect">
            <a:avLst/>
          </a:prstGeom>
          <a:solidFill>
            <a:srgbClr val="F7E8EE"/>
          </a:solidFill>
          <a:ln w="12700">
            <a:solidFill>
              <a:srgbClr val="8C1D40"/>
            </a:solidFill>
            <a:prstDash val="solid"/>
          </a:ln>
        </p:spPr>
        <p:txBody>
          <a:bodyPr/>
          <a:lstStyle/>
          <a:p>
            <a:endParaRPr lang="en-IN"/>
          </a:p>
        </p:txBody>
      </p:sp>
      <p:sp>
        <p:nvSpPr>
          <p:cNvPr id="17" name="Text 14"/>
          <p:cNvSpPr txBox="1"/>
          <p:nvPr/>
        </p:nvSpPr>
        <p:spPr>
          <a:xfrm>
            <a:off x="5449824" y="1234440"/>
            <a:ext cx="1481328" cy="777240"/>
          </a:xfrm>
          <a:prstGeom prst="rect">
            <a:avLst/>
          </a:prstGeom>
          <a:noFill/>
          <a:ln/>
        </p:spPr>
        <p:txBody>
          <a:bodyPr wrap="square" lIns="0" tIns="0" rIns="0" bIns="0" rtlCol="0" anchor="ctr"/>
          <a:lstStyle/>
          <a:p>
            <a:pPr marL="0" indent="0" algn="ctr">
              <a:buNone/>
            </a:pPr>
            <a:r>
              <a:rPr lang="en-US" sz="1100" b="1" dirty="0">
                <a:solidFill>
                  <a:srgbClr val="1F1A1C"/>
                </a:solidFill>
                <a:latin typeface="Calibri" pitchFamily="34" charset="0"/>
                <a:ea typeface="Calibri" pitchFamily="34" charset="-122"/>
                <a:cs typeface="Calibri" pitchFamily="34" charset="-120"/>
              </a:rPr>
              <a:t>Gemini 1.5 answer</a:t>
            </a:r>
            <a:endParaRPr lang="en-US" sz="1100" dirty="0"/>
          </a:p>
          <a:p>
            <a:pPr marL="0" indent="0" algn="ctr">
              <a:buNone/>
            </a:pPr>
            <a:r>
              <a:rPr lang="en-US" sz="1100" b="1" dirty="0">
                <a:solidFill>
                  <a:srgbClr val="1F1A1C"/>
                </a:solidFill>
                <a:latin typeface="Calibri" pitchFamily="34" charset="0"/>
                <a:ea typeface="Calibri" pitchFamily="34" charset="-122"/>
                <a:cs typeface="Calibri" pitchFamily="34" charset="-120"/>
              </a:rPr>
              <a:t>temp 0.2 · cited [1][2]</a:t>
            </a:r>
            <a:endParaRPr lang="en-US" sz="1100" dirty="0"/>
          </a:p>
        </p:txBody>
      </p:sp>
      <p:sp>
        <p:nvSpPr>
          <p:cNvPr id="18" name="Shape 15"/>
          <p:cNvSpPr/>
          <p:nvPr/>
        </p:nvSpPr>
        <p:spPr>
          <a:xfrm>
            <a:off x="6949440" y="1623060"/>
            <a:ext cx="146304" cy="0"/>
          </a:xfrm>
          <a:prstGeom prst="line">
            <a:avLst/>
          </a:prstGeom>
          <a:noFill/>
          <a:ln w="19050">
            <a:solidFill>
              <a:srgbClr val="6B6467"/>
            </a:solidFill>
            <a:prstDash val="solid"/>
            <a:tailEnd type="triangle"/>
          </a:ln>
        </p:spPr>
        <p:txBody>
          <a:bodyPr/>
          <a:lstStyle/>
          <a:p>
            <a:endParaRPr lang="en-IN"/>
          </a:p>
        </p:txBody>
      </p:sp>
      <p:sp>
        <p:nvSpPr>
          <p:cNvPr id="19" name="Shape 16"/>
          <p:cNvSpPr/>
          <p:nvPr/>
        </p:nvSpPr>
        <p:spPr>
          <a:xfrm>
            <a:off x="7114032" y="1234440"/>
            <a:ext cx="1481328" cy="777240"/>
          </a:xfrm>
          <a:prstGeom prst="rect">
            <a:avLst/>
          </a:prstGeom>
          <a:solidFill>
            <a:srgbClr val="8C1D40"/>
          </a:solidFill>
          <a:ln w="12700">
            <a:solidFill>
              <a:srgbClr val="8C1D40"/>
            </a:solidFill>
            <a:prstDash val="solid"/>
          </a:ln>
        </p:spPr>
        <p:txBody>
          <a:bodyPr/>
          <a:lstStyle/>
          <a:p>
            <a:endParaRPr lang="en-IN"/>
          </a:p>
        </p:txBody>
      </p:sp>
      <p:sp>
        <p:nvSpPr>
          <p:cNvPr id="20" name="Text 17"/>
          <p:cNvSpPr txBox="1"/>
          <p:nvPr/>
        </p:nvSpPr>
        <p:spPr>
          <a:xfrm>
            <a:off x="7114032" y="1234440"/>
            <a:ext cx="1481328"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Adjuster decides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Approve / Reject</a:t>
            </a:r>
            <a:endParaRPr lang="en-US" sz="1100" dirty="0"/>
          </a:p>
        </p:txBody>
      </p:sp>
      <p:sp>
        <p:nvSpPr>
          <p:cNvPr id="21" name="Text 18"/>
          <p:cNvSpPr txBox="1"/>
          <p:nvPr/>
        </p:nvSpPr>
        <p:spPr>
          <a:xfrm>
            <a:off x="457200" y="2103120"/>
            <a:ext cx="8229600" cy="228600"/>
          </a:xfrm>
          <a:prstGeom prst="rect">
            <a:avLst/>
          </a:prstGeom>
          <a:noFill/>
          <a:ln/>
        </p:spPr>
        <p:txBody>
          <a:bodyPr wrap="square" lIns="0" tIns="0" rIns="0" bIns="0" rtlCol="0" anchor="t"/>
          <a:lstStyle/>
          <a:p>
            <a:pPr marL="0" indent="0" algn="ctr">
              <a:buNone/>
            </a:pPr>
            <a:r>
              <a:rPr lang="en-US" sz="1050" i="1" dirty="0">
                <a:solidFill>
                  <a:srgbClr val="6B6467"/>
                </a:solidFill>
                <a:latin typeface="Calibri" pitchFamily="34" charset="0"/>
                <a:ea typeface="Calibri" pitchFamily="34" charset="-122"/>
                <a:cs typeface="Calibri" pitchFamily="34" charset="-120"/>
              </a:rPr>
              <a:t>No database write ever happens before the human decision.</a:t>
            </a:r>
            <a:endParaRPr lang="en-US" sz="1050" dirty="0"/>
          </a:p>
        </p:txBody>
      </p:sp>
      <p:sp>
        <p:nvSpPr>
          <p:cNvPr id="22" name="Shape 19"/>
          <p:cNvSpPr/>
          <p:nvPr/>
        </p:nvSpPr>
        <p:spPr>
          <a:xfrm>
            <a:off x="457200" y="2514600"/>
            <a:ext cx="2651760" cy="18288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3" name="Shape 20"/>
          <p:cNvSpPr/>
          <p:nvPr/>
        </p:nvSpPr>
        <p:spPr>
          <a:xfrm>
            <a:off x="594360" y="2651760"/>
            <a:ext cx="457200" cy="457200"/>
          </a:xfrm>
          <a:prstGeom prst="ellipse">
            <a:avLst/>
          </a:prstGeom>
          <a:solidFill>
            <a:srgbClr val="8C1D40"/>
          </a:solidFill>
          <a:ln w="12700">
            <a:solidFill>
              <a:srgbClr val="8C1D40"/>
            </a:solidFill>
            <a:prstDash val="solid"/>
          </a:ln>
        </p:spPr>
        <p:txBody>
          <a:bodyPr/>
          <a:lstStyle/>
          <a:p>
            <a:endParaRPr lang="en-IN"/>
          </a:p>
        </p:txBody>
      </p:sp>
      <p:pic>
        <p:nvPicPr>
          <p:cNvPr id="24" name="Image 0" descr="preencoded.png"/>
          <p:cNvPicPr>
            <a:picLocks noChangeAspect="1"/>
          </p:cNvPicPr>
          <p:nvPr/>
        </p:nvPicPr>
        <p:blipFill>
          <a:blip r:embed="rId3"/>
          <a:stretch>
            <a:fillRect/>
          </a:stretch>
        </p:blipFill>
        <p:spPr>
          <a:xfrm>
            <a:off x="708660" y="2766060"/>
            <a:ext cx="228600" cy="228600"/>
          </a:xfrm>
          <a:prstGeom prst="rect">
            <a:avLst/>
          </a:prstGeom>
        </p:spPr>
      </p:pic>
      <p:sp>
        <p:nvSpPr>
          <p:cNvPr id="25" name="Text 21"/>
          <p:cNvSpPr txBox="1"/>
          <p:nvPr/>
        </p:nvSpPr>
        <p:spPr>
          <a:xfrm>
            <a:off x="1143000" y="2651760"/>
            <a:ext cx="1874520" cy="457200"/>
          </a:xfrm>
          <a:prstGeom prst="rect">
            <a:avLst/>
          </a:prstGeom>
          <a:noFill/>
          <a:ln/>
        </p:spPr>
        <p:txBody>
          <a:bodyPr wrap="square" lIns="0" tIns="0" rIns="0" bIns="0" rtlCol="0" anchor="ctr"/>
          <a:lstStyle/>
          <a:p>
            <a:pPr marL="0" indent="0">
              <a:buNone/>
            </a:pPr>
            <a:r>
              <a:rPr lang="en-US" sz="1400" b="1" dirty="0">
                <a:solidFill>
                  <a:srgbClr val="1F1A1C"/>
                </a:solidFill>
                <a:latin typeface="Cambria" pitchFamily="34" charset="0"/>
                <a:ea typeface="Cambria" pitchFamily="34" charset="-122"/>
                <a:cs typeface="Cambria" pitchFamily="34" charset="-120"/>
              </a:rPr>
              <a:t>Grounded &amp; cited</a:t>
            </a:r>
            <a:endParaRPr lang="en-US" sz="1400" dirty="0"/>
          </a:p>
        </p:txBody>
      </p:sp>
      <p:sp>
        <p:nvSpPr>
          <p:cNvPr id="26" name="Text 22"/>
          <p:cNvSpPr txBox="1"/>
          <p:nvPr/>
        </p:nvSpPr>
        <p:spPr>
          <a:xfrm>
            <a:off x="594360" y="3246120"/>
            <a:ext cx="2377440" cy="100584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Answers come from indexed PDF passages and SQL claim context, with bracketed citations; low temperature (0.2), ThinkingBudget 128.</a:t>
            </a:r>
            <a:endParaRPr lang="en-US" sz="1150" dirty="0"/>
          </a:p>
        </p:txBody>
      </p:sp>
      <p:sp>
        <p:nvSpPr>
          <p:cNvPr id="27" name="Shape 23"/>
          <p:cNvSpPr/>
          <p:nvPr/>
        </p:nvSpPr>
        <p:spPr>
          <a:xfrm>
            <a:off x="3246120" y="2514600"/>
            <a:ext cx="2651760" cy="18288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8" name="Shape 24"/>
          <p:cNvSpPr/>
          <p:nvPr/>
        </p:nvSpPr>
        <p:spPr>
          <a:xfrm>
            <a:off x="3383280" y="2651760"/>
            <a:ext cx="457200" cy="457200"/>
          </a:xfrm>
          <a:prstGeom prst="ellipse">
            <a:avLst/>
          </a:prstGeom>
          <a:solidFill>
            <a:srgbClr val="8C1D40"/>
          </a:solidFill>
          <a:ln w="12700">
            <a:solidFill>
              <a:srgbClr val="8C1D40"/>
            </a:solidFill>
            <a:prstDash val="solid"/>
          </a:ln>
        </p:spPr>
        <p:txBody>
          <a:bodyPr/>
          <a:lstStyle/>
          <a:p>
            <a:endParaRPr lang="en-IN"/>
          </a:p>
        </p:txBody>
      </p:sp>
      <p:pic>
        <p:nvPicPr>
          <p:cNvPr id="29" name="Image 1" descr="preencoded.png"/>
          <p:cNvPicPr>
            <a:picLocks noChangeAspect="1"/>
          </p:cNvPicPr>
          <p:nvPr/>
        </p:nvPicPr>
        <p:blipFill>
          <a:blip r:embed="rId4"/>
          <a:stretch>
            <a:fillRect/>
          </a:stretch>
        </p:blipFill>
        <p:spPr>
          <a:xfrm>
            <a:off x="3497580" y="2766060"/>
            <a:ext cx="228600" cy="228600"/>
          </a:xfrm>
          <a:prstGeom prst="rect">
            <a:avLst/>
          </a:prstGeom>
        </p:spPr>
      </p:pic>
      <p:sp>
        <p:nvSpPr>
          <p:cNvPr id="30" name="Text 25"/>
          <p:cNvSpPr txBox="1"/>
          <p:nvPr/>
        </p:nvSpPr>
        <p:spPr>
          <a:xfrm>
            <a:off x="3931920" y="2651760"/>
            <a:ext cx="1874520" cy="457200"/>
          </a:xfrm>
          <a:prstGeom prst="rect">
            <a:avLst/>
          </a:prstGeom>
          <a:noFill/>
          <a:ln/>
        </p:spPr>
        <p:txBody>
          <a:bodyPr wrap="square" lIns="0" tIns="0" rIns="0" bIns="0" rtlCol="0" anchor="ctr"/>
          <a:lstStyle/>
          <a:p>
            <a:pPr marL="0" indent="0">
              <a:buNone/>
            </a:pPr>
            <a:r>
              <a:rPr lang="en-US" sz="1400" b="1" dirty="0">
                <a:solidFill>
                  <a:srgbClr val="1F1A1C"/>
                </a:solidFill>
                <a:latin typeface="Cambria" pitchFamily="34" charset="0"/>
                <a:ea typeface="Cambria" pitchFamily="34" charset="-122"/>
                <a:cs typeface="Cambria" pitchFamily="34" charset="-120"/>
              </a:rPr>
              <a:t>Read-only by design</a:t>
            </a:r>
            <a:endParaRPr lang="en-US" sz="1400" dirty="0"/>
          </a:p>
        </p:txBody>
      </p:sp>
      <p:sp>
        <p:nvSpPr>
          <p:cNvPr id="31" name="Text 26"/>
          <p:cNvSpPr txBox="1"/>
          <p:nvPr/>
        </p:nvSpPr>
        <p:spPr>
          <a:xfrm>
            <a:off x="3383280" y="3246120"/>
            <a:ext cx="2377440" cy="100584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IClaimRepository is omitted from the service. The prompt forbids approvals and financial commitments.</a:t>
            </a:r>
            <a:endParaRPr lang="en-US" sz="1150" dirty="0"/>
          </a:p>
        </p:txBody>
      </p:sp>
      <p:sp>
        <p:nvSpPr>
          <p:cNvPr id="32" name="Shape 27"/>
          <p:cNvSpPr/>
          <p:nvPr/>
        </p:nvSpPr>
        <p:spPr>
          <a:xfrm>
            <a:off x="6035040" y="2514600"/>
            <a:ext cx="2651760" cy="182880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33" name="Shape 28"/>
          <p:cNvSpPr/>
          <p:nvPr/>
        </p:nvSpPr>
        <p:spPr>
          <a:xfrm>
            <a:off x="6172200" y="2651760"/>
            <a:ext cx="457200" cy="457200"/>
          </a:xfrm>
          <a:prstGeom prst="ellipse">
            <a:avLst/>
          </a:prstGeom>
          <a:solidFill>
            <a:srgbClr val="8C1D40"/>
          </a:solidFill>
          <a:ln w="12700">
            <a:solidFill>
              <a:srgbClr val="8C1D40"/>
            </a:solidFill>
            <a:prstDash val="solid"/>
          </a:ln>
        </p:spPr>
        <p:txBody>
          <a:bodyPr/>
          <a:lstStyle/>
          <a:p>
            <a:endParaRPr lang="en-IN"/>
          </a:p>
        </p:txBody>
      </p:sp>
      <p:pic>
        <p:nvPicPr>
          <p:cNvPr id="34" name="Image 2" descr="preencoded.png"/>
          <p:cNvPicPr>
            <a:picLocks noChangeAspect="1"/>
          </p:cNvPicPr>
          <p:nvPr/>
        </p:nvPicPr>
        <p:blipFill>
          <a:blip r:embed="rId5"/>
          <a:stretch>
            <a:fillRect/>
          </a:stretch>
        </p:blipFill>
        <p:spPr>
          <a:xfrm>
            <a:off x="6286500" y="2766060"/>
            <a:ext cx="228600" cy="228600"/>
          </a:xfrm>
          <a:prstGeom prst="rect">
            <a:avLst/>
          </a:prstGeom>
        </p:spPr>
      </p:pic>
      <p:sp>
        <p:nvSpPr>
          <p:cNvPr id="35" name="Text 29"/>
          <p:cNvSpPr txBox="1"/>
          <p:nvPr/>
        </p:nvSpPr>
        <p:spPr>
          <a:xfrm>
            <a:off x="6720840" y="2651760"/>
            <a:ext cx="1874520" cy="457200"/>
          </a:xfrm>
          <a:prstGeom prst="rect">
            <a:avLst/>
          </a:prstGeom>
          <a:noFill/>
          <a:ln/>
        </p:spPr>
        <p:txBody>
          <a:bodyPr wrap="square" lIns="0" tIns="0" rIns="0" bIns="0" rtlCol="0" anchor="ctr"/>
          <a:lstStyle/>
          <a:p>
            <a:pPr marL="0" indent="0">
              <a:buNone/>
            </a:pPr>
            <a:r>
              <a:rPr lang="en-US" sz="1400" b="1" dirty="0">
                <a:solidFill>
                  <a:srgbClr val="1F1A1C"/>
                </a:solidFill>
                <a:latin typeface="Cambria" pitchFamily="34" charset="0"/>
                <a:ea typeface="Cambria" pitchFamily="34" charset="-122"/>
                <a:cs typeface="Cambria" pitchFamily="34" charset="-120"/>
              </a:rPr>
              <a:t>45 min to 4 sec</a:t>
            </a:r>
            <a:endParaRPr lang="en-US" sz="1400" dirty="0"/>
          </a:p>
        </p:txBody>
      </p:sp>
      <p:sp>
        <p:nvSpPr>
          <p:cNvPr id="36" name="Text 30"/>
          <p:cNvSpPr txBox="1"/>
          <p:nvPr/>
        </p:nvSpPr>
        <p:spPr>
          <a:xfrm>
            <a:off x="6172200" y="3246120"/>
            <a:ext cx="2377440" cy="100584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Adjuster evidence review time drops while 100% of legal authority stays with the human.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marL="0" indent="0">
              <a:buNone/>
            </a:pPr>
            <a:r>
              <a:rPr lang="en-US" sz="2600" b="1" dirty="0">
                <a:solidFill>
                  <a:srgbClr val="1F1A1C"/>
                </a:solidFill>
                <a:latin typeface="Cambria" pitchFamily="34" charset="0"/>
                <a:ea typeface="Cambria" pitchFamily="34" charset="-122"/>
                <a:cs typeface="Cambria" pitchFamily="34" charset="-120"/>
              </a:rPr>
              <a:t>Live Demonstration Agenda</a:t>
            </a:r>
            <a:endParaRPr lang="en-US" sz="26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marL="0" indent="0">
              <a:buNone/>
            </a:pPr>
            <a:r>
              <a:rPr lang="en-US" sz="1300" dirty="0">
                <a:solidFill>
                  <a:srgbClr val="6B6467"/>
                </a:solidFill>
                <a:latin typeface="Calibri" pitchFamily="34" charset="0"/>
                <a:ea typeface="Calibri" pitchFamily="34" charset="-122"/>
                <a:cs typeface="Calibri" pitchFamily="34" charset="-120"/>
              </a:rPr>
              <a:t>What the evaluation panel will witness.</a:t>
            </a:r>
            <a:endParaRPr lang="en-US" sz="1300" dirty="0"/>
          </a:p>
        </p:txBody>
      </p:sp>
      <p:sp>
        <p:nvSpPr>
          <p:cNvPr id="4" name="Text 2"/>
          <p:cNvSpPr txBox="1"/>
          <p:nvPr/>
        </p:nvSpPr>
        <p:spPr>
          <a:xfrm>
            <a:off x="457200" y="4828032"/>
            <a:ext cx="5486400" cy="201168"/>
          </a:xfrm>
          <a:prstGeom prst="rect">
            <a:avLst/>
          </a:prstGeom>
          <a:noFill/>
          <a:ln/>
        </p:spPr>
        <p:txBody>
          <a:bodyPr wrap="square" lIns="0" tIns="0" rIns="0" bIns="0" rtlCol="0" anchor="ctr"/>
          <a:lstStyle/>
          <a:p>
            <a:pPr marL="0" indent="0">
              <a:buNone/>
            </a:pPr>
            <a:r>
              <a:rPr lang="en-US" sz="900" dirty="0">
                <a:solidFill>
                  <a:srgbClr val="6B6467"/>
                </a:solidFill>
                <a:latin typeface="Calibri" pitchFamily="34" charset="0"/>
                <a:ea typeface="Calibri" pitchFamily="34" charset="-122"/>
                <a:cs typeface="Calibri" pitchFamily="34" charset="-120"/>
              </a:rPr>
              <a:t>Vacation Home Insurance Platform  |  Capstone Project</a:t>
            </a:r>
            <a:endParaRPr lang="en-US" sz="900" dirty="0"/>
          </a:p>
        </p:txBody>
      </p:sp>
      <p:sp>
        <p:nvSpPr>
          <p:cNvPr id="5" name="Text 3"/>
          <p:cNvSpPr txBox="1"/>
          <p:nvPr/>
        </p:nvSpPr>
        <p:spPr>
          <a:xfrm>
            <a:off x="8229600" y="4828032"/>
            <a:ext cx="457200" cy="201168"/>
          </a:xfrm>
          <a:prstGeom prst="rect">
            <a:avLst/>
          </a:prstGeom>
          <a:noFill/>
          <a:ln/>
        </p:spPr>
        <p:txBody>
          <a:bodyPr wrap="square" lIns="0" tIns="0" rIns="0" bIns="0" rtlCol="0" anchor="ctr"/>
          <a:lstStyle/>
          <a:p>
            <a:pPr marL="0" indent="0" algn="r">
              <a:buNone/>
            </a:pPr>
            <a:r>
              <a:rPr lang="en-US" sz="900" dirty="0">
                <a:solidFill>
                  <a:srgbClr val="6B6467"/>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457200" y="1188720"/>
            <a:ext cx="2651760" cy="14630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8" name="Shape 5"/>
          <p:cNvSpPr/>
          <p:nvPr/>
        </p:nvSpPr>
        <p:spPr>
          <a:xfrm>
            <a:off x="594360" y="1325880"/>
            <a:ext cx="411480" cy="411480"/>
          </a:xfrm>
          <a:prstGeom prst="ellipse">
            <a:avLst/>
          </a:prstGeom>
          <a:solidFill>
            <a:srgbClr val="8C1D40"/>
          </a:solidFill>
          <a:ln w="12700">
            <a:solidFill>
              <a:srgbClr val="8C1D40"/>
            </a:solidFill>
            <a:prstDash val="solid"/>
          </a:ln>
        </p:spPr>
        <p:txBody>
          <a:bodyPr/>
          <a:lstStyle/>
          <a:p>
            <a:endParaRPr lang="en-IN"/>
          </a:p>
        </p:txBody>
      </p:sp>
      <p:sp>
        <p:nvSpPr>
          <p:cNvPr id="9" name="Text 6"/>
          <p:cNvSpPr txBox="1"/>
          <p:nvPr/>
        </p:nvSpPr>
        <p:spPr>
          <a:xfrm>
            <a:off x="594360" y="1325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143000" y="1325880"/>
            <a:ext cx="1874520" cy="411480"/>
          </a:xfrm>
          <a:prstGeom prst="rect">
            <a:avLst/>
          </a:prstGeom>
          <a:noFill/>
          <a:ln/>
        </p:spPr>
        <p:txBody>
          <a:bodyPr wrap="square" lIns="0" tIns="0" rIns="0" bIns="0" rtlCol="0" anchor="ctr"/>
          <a:lstStyle/>
          <a:p>
            <a:pPr marL="0" indent="0">
              <a:buNone/>
            </a:pPr>
            <a:r>
              <a:rPr lang="en-US" sz="1350" b="1" dirty="0">
                <a:solidFill>
                  <a:srgbClr val="1F1A1C"/>
                </a:solidFill>
                <a:latin typeface="Calibri" pitchFamily="34" charset="0"/>
                <a:ea typeface="Calibri" pitchFamily="34" charset="-122"/>
                <a:cs typeface="Calibri" pitchFamily="34" charset="-120"/>
              </a:rPr>
              <a:t>Property &amp; quote</a:t>
            </a:r>
            <a:endParaRPr lang="en-US" sz="1350" dirty="0"/>
          </a:p>
        </p:txBody>
      </p:sp>
      <p:sp>
        <p:nvSpPr>
          <p:cNvPr id="11" name="Text 8"/>
          <p:cNvSpPr txBox="1"/>
          <p:nvPr/>
        </p:nvSpPr>
        <p:spPr>
          <a:xfrm>
            <a:off x="594360" y="1920240"/>
            <a:ext cx="2377440" cy="822960"/>
          </a:xfrm>
          <a:prstGeom prst="rect">
            <a:avLst/>
          </a:prstGeom>
          <a:noFill/>
          <a:ln/>
        </p:spPr>
        <p:txBody>
          <a:bodyPr wrap="square" lIns="0" tIns="0" rIns="0" bIns="0" rtlCol="0" anchor="t"/>
          <a:lstStyle/>
          <a:p>
            <a:pPr marL="0" indent="0">
              <a:buNone/>
            </a:pPr>
            <a:r>
              <a:rPr lang="en-US" sz="1200" dirty="0">
                <a:solidFill>
                  <a:srgbClr val="6B6467"/>
                </a:solidFill>
                <a:latin typeface="Calibri" pitchFamily="34" charset="0"/>
                <a:ea typeface="Calibri" pitchFamily="34" charset="-122"/>
                <a:cs typeface="Calibri" pitchFamily="34" charset="-120"/>
              </a:rPr>
              <a:t>Goa Coastal Villa ₹1,50,00,000; 60 pts; ₹94,510/yr</a:t>
            </a:r>
            <a:endParaRPr lang="en-US" sz="1200" dirty="0"/>
          </a:p>
        </p:txBody>
      </p:sp>
      <p:sp>
        <p:nvSpPr>
          <p:cNvPr id="12" name="Shape 9"/>
          <p:cNvSpPr/>
          <p:nvPr/>
        </p:nvSpPr>
        <p:spPr>
          <a:xfrm>
            <a:off x="3246120" y="1188720"/>
            <a:ext cx="2651760" cy="14630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3" name="Shape 10"/>
          <p:cNvSpPr/>
          <p:nvPr/>
        </p:nvSpPr>
        <p:spPr>
          <a:xfrm>
            <a:off x="3383280" y="1325880"/>
            <a:ext cx="411480" cy="411480"/>
          </a:xfrm>
          <a:prstGeom prst="ellipse">
            <a:avLst/>
          </a:prstGeom>
          <a:solidFill>
            <a:srgbClr val="8C1D40"/>
          </a:solidFill>
          <a:ln w="12700">
            <a:solidFill>
              <a:srgbClr val="8C1D40"/>
            </a:solidFill>
            <a:prstDash val="solid"/>
          </a:ln>
        </p:spPr>
        <p:txBody>
          <a:bodyPr/>
          <a:lstStyle/>
          <a:p>
            <a:endParaRPr lang="en-IN"/>
          </a:p>
        </p:txBody>
      </p:sp>
      <p:sp>
        <p:nvSpPr>
          <p:cNvPr id="14" name="Text 11"/>
          <p:cNvSpPr txBox="1"/>
          <p:nvPr/>
        </p:nvSpPr>
        <p:spPr>
          <a:xfrm>
            <a:off x="3383280" y="1325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txBox="1"/>
          <p:nvPr/>
        </p:nvSpPr>
        <p:spPr>
          <a:xfrm>
            <a:off x="3931920" y="1325880"/>
            <a:ext cx="1874520" cy="411480"/>
          </a:xfrm>
          <a:prstGeom prst="rect">
            <a:avLst/>
          </a:prstGeom>
          <a:noFill/>
          <a:ln/>
        </p:spPr>
        <p:txBody>
          <a:bodyPr wrap="square" lIns="0" tIns="0" rIns="0" bIns="0" rtlCol="0" anchor="ctr"/>
          <a:lstStyle/>
          <a:p>
            <a:pPr marL="0" indent="0">
              <a:buNone/>
            </a:pPr>
            <a:r>
              <a:rPr lang="en-US" sz="1350" b="1" dirty="0">
                <a:solidFill>
                  <a:srgbClr val="1F1A1C"/>
                </a:solidFill>
                <a:latin typeface="Calibri" pitchFamily="34" charset="0"/>
                <a:ea typeface="Calibri" pitchFamily="34" charset="-122"/>
                <a:cs typeface="Calibri" pitchFamily="34" charset="-120"/>
              </a:rPr>
              <a:t>High-risk gate</a:t>
            </a:r>
            <a:endParaRPr lang="en-US" sz="1350" dirty="0"/>
          </a:p>
        </p:txBody>
      </p:sp>
      <p:sp>
        <p:nvSpPr>
          <p:cNvPr id="16" name="Text 13"/>
          <p:cNvSpPr txBox="1"/>
          <p:nvPr/>
        </p:nvSpPr>
        <p:spPr>
          <a:xfrm>
            <a:off x="3383280" y="1920240"/>
            <a:ext cx="2377440" cy="822960"/>
          </a:xfrm>
          <a:prstGeom prst="rect">
            <a:avLst/>
          </a:prstGeom>
          <a:noFill/>
          <a:ln/>
        </p:spPr>
        <p:txBody>
          <a:bodyPr wrap="square" lIns="0" tIns="0" rIns="0" bIns="0" rtlCol="0" anchor="t"/>
          <a:lstStyle/>
          <a:p>
            <a:pPr marL="0" indent="0">
              <a:buNone/>
            </a:pPr>
            <a:r>
              <a:rPr lang="en-US" sz="1200" dirty="0">
                <a:solidFill>
                  <a:srgbClr val="6B6467"/>
                </a:solidFill>
                <a:latin typeface="Calibri" pitchFamily="34" charset="0"/>
                <a:ea typeface="Calibri" pitchFamily="34" charset="-122"/>
                <a:cs typeface="Calibri" pitchFamily="34" charset="-120"/>
              </a:rPr>
              <a:t>Score ≥ 70 → admin price revision with remarks</a:t>
            </a:r>
            <a:endParaRPr lang="en-US" sz="1200" dirty="0"/>
          </a:p>
        </p:txBody>
      </p:sp>
      <p:sp>
        <p:nvSpPr>
          <p:cNvPr id="17" name="Shape 14"/>
          <p:cNvSpPr/>
          <p:nvPr/>
        </p:nvSpPr>
        <p:spPr>
          <a:xfrm>
            <a:off x="6035040" y="1188720"/>
            <a:ext cx="2651760" cy="14630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8" name="Shape 15"/>
          <p:cNvSpPr/>
          <p:nvPr/>
        </p:nvSpPr>
        <p:spPr>
          <a:xfrm>
            <a:off x="6172200" y="1325880"/>
            <a:ext cx="411480" cy="411480"/>
          </a:xfrm>
          <a:prstGeom prst="ellipse">
            <a:avLst/>
          </a:prstGeom>
          <a:solidFill>
            <a:srgbClr val="8C1D40"/>
          </a:solidFill>
          <a:ln w="12700">
            <a:solidFill>
              <a:srgbClr val="8C1D40"/>
            </a:solidFill>
            <a:prstDash val="solid"/>
          </a:ln>
        </p:spPr>
        <p:txBody>
          <a:bodyPr/>
          <a:lstStyle/>
          <a:p>
            <a:endParaRPr lang="en-IN"/>
          </a:p>
        </p:txBody>
      </p:sp>
      <p:sp>
        <p:nvSpPr>
          <p:cNvPr id="19" name="Text 16"/>
          <p:cNvSpPr txBox="1"/>
          <p:nvPr/>
        </p:nvSpPr>
        <p:spPr>
          <a:xfrm>
            <a:off x="6172200" y="1325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6720840" y="1325880"/>
            <a:ext cx="1874520" cy="411480"/>
          </a:xfrm>
          <a:prstGeom prst="rect">
            <a:avLst/>
          </a:prstGeom>
          <a:noFill/>
          <a:ln/>
        </p:spPr>
        <p:txBody>
          <a:bodyPr wrap="square" lIns="0" tIns="0" rIns="0" bIns="0" rtlCol="0" anchor="ctr"/>
          <a:lstStyle/>
          <a:p>
            <a:pPr marL="0" indent="0">
              <a:buNone/>
            </a:pPr>
            <a:r>
              <a:rPr lang="en-US" sz="1350" b="1" dirty="0">
                <a:solidFill>
                  <a:srgbClr val="1F1A1C"/>
                </a:solidFill>
                <a:latin typeface="Calibri" pitchFamily="34" charset="0"/>
                <a:ea typeface="Calibri" pitchFamily="34" charset="-122"/>
                <a:cs typeface="Calibri" pitchFamily="34" charset="-120"/>
              </a:rPr>
              <a:t>Checkout &amp; PDF</a:t>
            </a:r>
            <a:endParaRPr lang="en-US" sz="1350" dirty="0"/>
          </a:p>
        </p:txBody>
      </p:sp>
      <p:sp>
        <p:nvSpPr>
          <p:cNvPr id="21" name="Text 18"/>
          <p:cNvSpPr txBox="1"/>
          <p:nvPr/>
        </p:nvSpPr>
        <p:spPr>
          <a:xfrm>
            <a:off x="6172200" y="1920240"/>
            <a:ext cx="2377440" cy="822960"/>
          </a:xfrm>
          <a:prstGeom prst="rect">
            <a:avLst/>
          </a:prstGeom>
          <a:noFill/>
          <a:ln/>
        </p:spPr>
        <p:txBody>
          <a:bodyPr wrap="square" lIns="0" tIns="0" rIns="0" bIns="0" rtlCol="0" anchor="t"/>
          <a:lstStyle/>
          <a:p>
            <a:pPr marL="0" indent="0">
              <a:buNone/>
            </a:pPr>
            <a:r>
              <a:rPr lang="en-US" sz="1200" dirty="0">
                <a:solidFill>
                  <a:srgbClr val="6B6467"/>
                </a:solidFill>
                <a:latin typeface="Calibri" pitchFamily="34" charset="0"/>
                <a:ea typeface="Calibri" pitchFamily="34" charset="-122"/>
                <a:cs typeface="Calibri" pitchFamily="34" charset="-120"/>
              </a:rPr>
              <a:t>Payment, 5-attempt lock, PdfSharp certificate</a:t>
            </a:r>
            <a:endParaRPr lang="en-US" sz="1200" dirty="0"/>
          </a:p>
        </p:txBody>
      </p:sp>
      <p:sp>
        <p:nvSpPr>
          <p:cNvPr id="22" name="Shape 19"/>
          <p:cNvSpPr/>
          <p:nvPr/>
        </p:nvSpPr>
        <p:spPr>
          <a:xfrm>
            <a:off x="457200" y="2788920"/>
            <a:ext cx="2651760" cy="14630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3" name="Shape 20"/>
          <p:cNvSpPr/>
          <p:nvPr/>
        </p:nvSpPr>
        <p:spPr>
          <a:xfrm>
            <a:off x="594360" y="2926080"/>
            <a:ext cx="411480" cy="411480"/>
          </a:xfrm>
          <a:prstGeom prst="ellipse">
            <a:avLst/>
          </a:prstGeom>
          <a:solidFill>
            <a:srgbClr val="5E1230"/>
          </a:solidFill>
          <a:ln w="12700">
            <a:solidFill>
              <a:srgbClr val="8C1D40"/>
            </a:solidFill>
            <a:prstDash val="solid"/>
          </a:ln>
        </p:spPr>
        <p:txBody>
          <a:bodyPr/>
          <a:lstStyle/>
          <a:p>
            <a:endParaRPr lang="en-IN"/>
          </a:p>
        </p:txBody>
      </p:sp>
      <p:sp>
        <p:nvSpPr>
          <p:cNvPr id="24" name="Text 21"/>
          <p:cNvSpPr txBox="1"/>
          <p:nvPr/>
        </p:nvSpPr>
        <p:spPr>
          <a:xfrm>
            <a:off x="594360" y="29260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2"/>
          <p:cNvSpPr txBox="1"/>
          <p:nvPr/>
        </p:nvSpPr>
        <p:spPr>
          <a:xfrm>
            <a:off x="1143000" y="2926080"/>
            <a:ext cx="1874520" cy="411480"/>
          </a:xfrm>
          <a:prstGeom prst="rect">
            <a:avLst/>
          </a:prstGeom>
          <a:noFill/>
          <a:ln/>
        </p:spPr>
        <p:txBody>
          <a:bodyPr wrap="square" lIns="0" tIns="0" rIns="0" bIns="0" rtlCol="0" anchor="ctr"/>
          <a:lstStyle/>
          <a:p>
            <a:pPr marL="0" indent="0">
              <a:buNone/>
            </a:pPr>
            <a:r>
              <a:rPr lang="en-US" sz="1350" b="1" dirty="0">
                <a:solidFill>
                  <a:srgbClr val="1F1A1C"/>
                </a:solidFill>
                <a:latin typeface="Calibri" pitchFamily="34" charset="0"/>
                <a:ea typeface="Calibri" pitchFamily="34" charset="-122"/>
                <a:cs typeface="Calibri" pitchFamily="34" charset="-120"/>
              </a:rPr>
              <a:t>Claim &amp; fraud guards</a:t>
            </a:r>
            <a:endParaRPr lang="en-US" sz="1350" dirty="0"/>
          </a:p>
        </p:txBody>
      </p:sp>
      <p:sp>
        <p:nvSpPr>
          <p:cNvPr id="26" name="Text 23"/>
          <p:cNvSpPr txBox="1"/>
          <p:nvPr/>
        </p:nvSpPr>
        <p:spPr>
          <a:xfrm>
            <a:off x="594360" y="3520440"/>
            <a:ext cx="2377440" cy="822960"/>
          </a:xfrm>
          <a:prstGeom prst="rect">
            <a:avLst/>
          </a:prstGeom>
          <a:noFill/>
          <a:ln/>
        </p:spPr>
        <p:txBody>
          <a:bodyPr wrap="square" lIns="0" tIns="0" rIns="0" bIns="0" rtlCol="0" anchor="t"/>
          <a:lstStyle/>
          <a:p>
            <a:pPr marL="0" indent="0">
              <a:buNone/>
            </a:pPr>
            <a:r>
              <a:rPr lang="en-US" sz="1200" dirty="0">
                <a:solidFill>
                  <a:srgbClr val="6B6467"/>
                </a:solidFill>
                <a:latin typeface="Calibri" pitchFamily="34" charset="0"/>
                <a:ea typeface="Calibri" pitchFamily="34" charset="-122"/>
                <a:cs typeface="Calibri" pitchFamily="34" charset="-120"/>
              </a:rPr>
              <a:t>₹4,50,000 claim; instant resubmit hits the debounce</a:t>
            </a:r>
            <a:endParaRPr lang="en-US" sz="1200" dirty="0"/>
          </a:p>
        </p:txBody>
      </p:sp>
      <p:sp>
        <p:nvSpPr>
          <p:cNvPr id="27" name="Shape 24"/>
          <p:cNvSpPr/>
          <p:nvPr/>
        </p:nvSpPr>
        <p:spPr>
          <a:xfrm>
            <a:off x="3246120" y="2788920"/>
            <a:ext cx="2651760" cy="14630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8" name="Shape 25"/>
          <p:cNvSpPr/>
          <p:nvPr/>
        </p:nvSpPr>
        <p:spPr>
          <a:xfrm>
            <a:off x="3383280" y="2926080"/>
            <a:ext cx="411480" cy="411480"/>
          </a:xfrm>
          <a:prstGeom prst="ellipse">
            <a:avLst/>
          </a:prstGeom>
          <a:solidFill>
            <a:srgbClr val="5E1230"/>
          </a:solidFill>
          <a:ln w="12700">
            <a:solidFill>
              <a:srgbClr val="8C1D40"/>
            </a:solidFill>
            <a:prstDash val="solid"/>
          </a:ln>
        </p:spPr>
        <p:txBody>
          <a:bodyPr/>
          <a:lstStyle/>
          <a:p>
            <a:endParaRPr lang="en-IN"/>
          </a:p>
        </p:txBody>
      </p:sp>
      <p:sp>
        <p:nvSpPr>
          <p:cNvPr id="29" name="Text 26"/>
          <p:cNvSpPr txBox="1"/>
          <p:nvPr/>
        </p:nvSpPr>
        <p:spPr>
          <a:xfrm>
            <a:off x="3383280" y="29260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7"/>
          <p:cNvSpPr txBox="1"/>
          <p:nvPr/>
        </p:nvSpPr>
        <p:spPr>
          <a:xfrm>
            <a:off x="3931920" y="2926080"/>
            <a:ext cx="1874520" cy="411480"/>
          </a:xfrm>
          <a:prstGeom prst="rect">
            <a:avLst/>
          </a:prstGeom>
          <a:noFill/>
          <a:ln/>
        </p:spPr>
        <p:txBody>
          <a:bodyPr wrap="square" lIns="0" tIns="0" rIns="0" bIns="0" rtlCol="0" anchor="ctr"/>
          <a:lstStyle/>
          <a:p>
            <a:pPr marL="0" indent="0">
              <a:buNone/>
            </a:pPr>
            <a:r>
              <a:rPr lang="en-US" sz="1350" b="1" dirty="0">
                <a:solidFill>
                  <a:srgbClr val="1F1A1C"/>
                </a:solidFill>
                <a:latin typeface="Calibri" pitchFamily="34" charset="0"/>
                <a:ea typeface="Calibri" pitchFamily="34" charset="-122"/>
                <a:cs typeface="Calibri" pitchFamily="34" charset="-120"/>
              </a:rPr>
              <a:t>Adjuster &amp; Gemini</a:t>
            </a:r>
            <a:endParaRPr lang="en-US" sz="1350" dirty="0"/>
          </a:p>
        </p:txBody>
      </p:sp>
      <p:sp>
        <p:nvSpPr>
          <p:cNvPr id="31" name="Text 28"/>
          <p:cNvSpPr txBox="1"/>
          <p:nvPr/>
        </p:nvSpPr>
        <p:spPr>
          <a:xfrm>
            <a:off x="3383280" y="3520440"/>
            <a:ext cx="2377440" cy="822960"/>
          </a:xfrm>
          <a:prstGeom prst="rect">
            <a:avLst/>
          </a:prstGeom>
          <a:noFill/>
          <a:ln/>
        </p:spPr>
        <p:txBody>
          <a:bodyPr wrap="square" lIns="0" tIns="0" rIns="0" bIns="0" rtlCol="0" anchor="t"/>
          <a:lstStyle/>
          <a:p>
            <a:pPr marL="0" indent="0">
              <a:buNone/>
            </a:pPr>
            <a:r>
              <a:rPr lang="en-US" sz="1200" dirty="0">
                <a:solidFill>
                  <a:srgbClr val="6B6467"/>
                </a:solidFill>
                <a:latin typeface="Calibri" pitchFamily="34" charset="0"/>
                <a:ea typeface="Calibri" pitchFamily="34" charset="-122"/>
                <a:cs typeface="Calibri" pitchFamily="34" charset="-120"/>
              </a:rPr>
              <a:t>Ask: summarize the estimate and find missing items</a:t>
            </a:r>
            <a:endParaRPr lang="en-US" sz="1200" dirty="0"/>
          </a:p>
        </p:txBody>
      </p:sp>
      <p:sp>
        <p:nvSpPr>
          <p:cNvPr id="32" name="Shape 29"/>
          <p:cNvSpPr/>
          <p:nvPr/>
        </p:nvSpPr>
        <p:spPr>
          <a:xfrm>
            <a:off x="6035040" y="2788920"/>
            <a:ext cx="2651760" cy="1463040"/>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33" name="Shape 30"/>
          <p:cNvSpPr/>
          <p:nvPr/>
        </p:nvSpPr>
        <p:spPr>
          <a:xfrm>
            <a:off x="6172200" y="2926080"/>
            <a:ext cx="411480" cy="411480"/>
          </a:xfrm>
          <a:prstGeom prst="ellipse">
            <a:avLst/>
          </a:prstGeom>
          <a:solidFill>
            <a:srgbClr val="5E1230"/>
          </a:solidFill>
          <a:ln w="12700">
            <a:solidFill>
              <a:srgbClr val="8C1D40"/>
            </a:solidFill>
            <a:prstDash val="solid"/>
          </a:ln>
        </p:spPr>
        <p:txBody>
          <a:bodyPr/>
          <a:lstStyle/>
          <a:p>
            <a:endParaRPr lang="en-IN"/>
          </a:p>
        </p:txBody>
      </p:sp>
      <p:sp>
        <p:nvSpPr>
          <p:cNvPr id="34" name="Text 31"/>
          <p:cNvSpPr txBox="1"/>
          <p:nvPr/>
        </p:nvSpPr>
        <p:spPr>
          <a:xfrm>
            <a:off x="6172200" y="29260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5" name="Text 32"/>
          <p:cNvSpPr txBox="1"/>
          <p:nvPr/>
        </p:nvSpPr>
        <p:spPr>
          <a:xfrm>
            <a:off x="6720840" y="2926080"/>
            <a:ext cx="1874520" cy="411480"/>
          </a:xfrm>
          <a:prstGeom prst="rect">
            <a:avLst/>
          </a:prstGeom>
          <a:noFill/>
          <a:ln/>
        </p:spPr>
        <p:txBody>
          <a:bodyPr wrap="square" lIns="0" tIns="0" rIns="0" bIns="0" rtlCol="0" anchor="ctr"/>
          <a:lstStyle/>
          <a:p>
            <a:pPr marL="0" indent="0">
              <a:buNone/>
            </a:pPr>
            <a:r>
              <a:rPr lang="en-US" sz="1350" b="1" dirty="0">
                <a:solidFill>
                  <a:srgbClr val="1F1A1C"/>
                </a:solidFill>
                <a:latin typeface="Calibri" pitchFamily="34" charset="0"/>
                <a:ea typeface="Calibri" pitchFamily="34" charset="-122"/>
                <a:cs typeface="Calibri" pitchFamily="34" charset="-120"/>
              </a:rPr>
              <a:t>Adjudicate &amp; close</a:t>
            </a:r>
            <a:endParaRPr lang="en-US" sz="1350" dirty="0"/>
          </a:p>
        </p:txBody>
      </p:sp>
      <p:sp>
        <p:nvSpPr>
          <p:cNvPr id="36" name="Text 33"/>
          <p:cNvSpPr txBox="1"/>
          <p:nvPr/>
        </p:nvSpPr>
        <p:spPr>
          <a:xfrm>
            <a:off x="6172200" y="3520440"/>
            <a:ext cx="2377440" cy="822960"/>
          </a:xfrm>
          <a:prstGeom prst="rect">
            <a:avLst/>
          </a:prstGeom>
          <a:noFill/>
          <a:ln/>
        </p:spPr>
        <p:txBody>
          <a:bodyPr wrap="square" lIns="0" tIns="0" rIns="0" bIns="0" rtlCol="0" anchor="t"/>
          <a:lstStyle/>
          <a:p>
            <a:pPr marL="0" indent="0">
              <a:buNone/>
            </a:pPr>
            <a:r>
              <a:rPr lang="en-US" sz="1200" dirty="0">
                <a:solidFill>
                  <a:srgbClr val="6B6467"/>
                </a:solidFill>
                <a:latin typeface="Calibri" pitchFamily="34" charset="0"/>
                <a:ea typeface="Calibri" pitchFamily="34" charset="-122"/>
                <a:cs typeface="Calibri" pitchFamily="34" charset="-120"/>
              </a:rPr>
              <a:t>₹2.8L + ₹1.7L; limit drops; UTR; CLOSED</a:t>
            </a:r>
            <a:endParaRPr lang="en-US" sz="1200" dirty="0"/>
          </a:p>
        </p:txBody>
      </p:sp>
      <p:sp>
        <p:nvSpPr>
          <p:cNvPr id="37" name="Text 34"/>
          <p:cNvSpPr txBox="1"/>
          <p:nvPr/>
        </p:nvSpPr>
        <p:spPr>
          <a:xfrm>
            <a:off x="457200" y="4434840"/>
            <a:ext cx="8229600" cy="201168"/>
          </a:xfrm>
          <a:prstGeom prst="rect">
            <a:avLst/>
          </a:prstGeom>
          <a:noFill/>
          <a:ln/>
        </p:spPr>
        <p:txBody>
          <a:bodyPr wrap="square" lIns="0" tIns="0" rIns="0" bIns="0" rtlCol="0" anchor="t"/>
          <a:lstStyle/>
          <a:p>
            <a:pPr marL="0" indent="0">
              <a:buNone/>
            </a:pPr>
            <a:r>
              <a:rPr lang="en-US" sz="1000" i="1" dirty="0">
                <a:solidFill>
                  <a:srgbClr val="6B6467"/>
                </a:solidFill>
                <a:latin typeface="Calibri" pitchFamily="34" charset="0"/>
                <a:ea typeface="Calibri" pitchFamily="34" charset="-122"/>
                <a:cs typeface="Calibri" pitchFamily="34" charset="-120"/>
              </a:rPr>
              <a:t>Phases 1–3: Customer &amp; Admin     Phases 4–6: Customer, then Claims Manager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3291840" cy="4206240"/>
          </a:xfrm>
          <a:prstGeom prst="rect">
            <a:avLst/>
          </a:prstGeom>
          <a:solidFill>
            <a:srgbClr val="8C1D40"/>
          </a:solidFill>
          <a:ln w="12700">
            <a:solidFill>
              <a:srgbClr val="8C1D40"/>
            </a:solidFill>
            <a:prstDash val="solid"/>
          </a:ln>
        </p:spPr>
        <p:txBody>
          <a:bodyPr/>
          <a:lstStyle/>
          <a:p>
            <a:endParaRPr lang="en-IN"/>
          </a:p>
        </p:txBody>
      </p:sp>
      <p:sp>
        <p:nvSpPr>
          <p:cNvPr id="3" name="Text 1"/>
          <p:cNvSpPr txBox="1"/>
          <p:nvPr/>
        </p:nvSpPr>
        <p:spPr>
          <a:xfrm>
            <a:off x="731520" y="1554480"/>
            <a:ext cx="2743200" cy="64008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4" name="Text 2"/>
          <p:cNvSpPr txBox="1"/>
          <p:nvPr/>
        </p:nvSpPr>
        <p:spPr>
          <a:xfrm>
            <a:off x="731520" y="2286000"/>
            <a:ext cx="2743200" cy="365760"/>
          </a:xfrm>
          <a:prstGeom prst="rect">
            <a:avLst/>
          </a:prstGeom>
          <a:noFill/>
          <a:ln/>
        </p:spPr>
        <p:txBody>
          <a:bodyPr wrap="square" lIns="0" tIns="0" rIns="0" bIns="0" rtlCol="0" anchor="t"/>
          <a:lstStyle/>
          <a:p>
            <a:pPr marL="0" indent="0">
              <a:buNone/>
            </a:pPr>
            <a:r>
              <a:rPr lang="en-US" sz="1500" dirty="0">
                <a:solidFill>
                  <a:srgbClr val="F7E8EE"/>
                </a:solidFill>
                <a:latin typeface="Calibri" pitchFamily="34" charset="0"/>
                <a:ea typeface="Calibri" pitchFamily="34" charset="-122"/>
                <a:cs typeface="Calibri" pitchFamily="34" charset="-120"/>
              </a:rPr>
              <a:t>Questions welcome</a:t>
            </a:r>
            <a:endParaRPr lang="en-US" sz="1500" dirty="0"/>
          </a:p>
        </p:txBody>
      </p:sp>
      <p:sp>
        <p:nvSpPr>
          <p:cNvPr id="5" name="Text 3"/>
          <p:cNvSpPr txBox="1"/>
          <p:nvPr/>
        </p:nvSpPr>
        <p:spPr>
          <a:xfrm>
            <a:off x="731520" y="4023360"/>
            <a:ext cx="2743200" cy="274320"/>
          </a:xfrm>
          <a:prstGeom prst="rect">
            <a:avLst/>
          </a:prstGeom>
          <a:noFill/>
          <a:ln/>
        </p:spPr>
        <p:txBody>
          <a:bodyPr wrap="square" lIns="0" tIns="0" rIns="0" bIns="0" rtlCol="0" anchor="t"/>
          <a:lstStyle/>
          <a:p>
            <a:pPr marL="0" indent="0">
              <a:buNone/>
            </a:pPr>
            <a:r>
              <a:rPr lang="en-US" sz="1100" dirty="0">
                <a:solidFill>
                  <a:srgbClr val="EBCFDA"/>
                </a:solidFill>
                <a:latin typeface="Calibri" pitchFamily="34" charset="0"/>
                <a:ea typeface="Calibri" pitchFamily="34" charset="-122"/>
                <a:cs typeface="Calibri" pitchFamily="34" charset="-120"/>
              </a:rPr>
              <a:t>[Presenter Name]  ·  [Team]</a:t>
            </a:r>
            <a:endParaRPr lang="en-US" sz="1100" dirty="0"/>
          </a:p>
        </p:txBody>
      </p:sp>
      <p:sp>
        <p:nvSpPr>
          <p:cNvPr id="6" name="Text 4"/>
          <p:cNvSpPr txBox="1"/>
          <p:nvPr/>
        </p:nvSpPr>
        <p:spPr>
          <a:xfrm>
            <a:off x="4114800" y="548640"/>
            <a:ext cx="4572000" cy="365760"/>
          </a:xfrm>
          <a:prstGeom prst="rect">
            <a:avLst/>
          </a:prstGeom>
          <a:noFill/>
          <a:ln/>
        </p:spPr>
        <p:txBody>
          <a:bodyPr wrap="square" lIns="0" tIns="0" rIns="0" bIns="0" rtlCol="0" anchor="t"/>
          <a:lstStyle/>
          <a:p>
            <a:pPr marL="0" indent="0">
              <a:buNone/>
            </a:pPr>
            <a:r>
              <a:rPr lang="en-US" sz="2200" b="1" dirty="0">
                <a:solidFill>
                  <a:srgbClr val="1F1A1C"/>
                </a:solidFill>
                <a:latin typeface="Cambria" pitchFamily="34" charset="0"/>
                <a:ea typeface="Cambria" pitchFamily="34" charset="-122"/>
                <a:cs typeface="Cambria" pitchFamily="34" charset="-120"/>
              </a:rPr>
              <a:t>Key takeaways</a:t>
            </a:r>
            <a:endParaRPr lang="en-US" sz="2200" dirty="0"/>
          </a:p>
        </p:txBody>
      </p:sp>
      <p:sp>
        <p:nvSpPr>
          <p:cNvPr id="7" name="Shape 5"/>
          <p:cNvSpPr/>
          <p:nvPr/>
        </p:nvSpPr>
        <p:spPr>
          <a:xfrm>
            <a:off x="4114800" y="1097280"/>
            <a:ext cx="4572000" cy="804672"/>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8" name="Shape 6"/>
          <p:cNvSpPr/>
          <p:nvPr/>
        </p:nvSpPr>
        <p:spPr>
          <a:xfrm>
            <a:off x="4224528" y="1280160"/>
            <a:ext cx="438912" cy="438912"/>
          </a:xfrm>
          <a:prstGeom prst="ellipse">
            <a:avLst/>
          </a:prstGeom>
          <a:solidFill>
            <a:srgbClr val="F7E8EE"/>
          </a:solidFill>
          <a:ln w="12700">
            <a:solidFill>
              <a:srgbClr val="F7E8EE"/>
            </a:solidFill>
            <a:prstDash val="solid"/>
          </a:ln>
        </p:spPr>
        <p:txBody>
          <a:bodyPr/>
          <a:lstStyle/>
          <a:p>
            <a:endParaRPr lang="en-IN"/>
          </a:p>
        </p:txBody>
      </p:sp>
      <p:pic>
        <p:nvPicPr>
          <p:cNvPr id="9" name="Image 0" descr="preencoded.png"/>
          <p:cNvPicPr>
            <a:picLocks noChangeAspect="1"/>
          </p:cNvPicPr>
          <p:nvPr/>
        </p:nvPicPr>
        <p:blipFill>
          <a:blip r:embed="rId3"/>
          <a:stretch>
            <a:fillRect/>
          </a:stretch>
        </p:blipFill>
        <p:spPr>
          <a:xfrm>
            <a:off x="4334256" y="1389888"/>
            <a:ext cx="219456" cy="219456"/>
          </a:xfrm>
          <a:prstGeom prst="rect">
            <a:avLst/>
          </a:prstGeom>
        </p:spPr>
      </p:pic>
      <p:sp>
        <p:nvSpPr>
          <p:cNvPr id="10" name="Text 7"/>
          <p:cNvSpPr txBox="1"/>
          <p:nvPr/>
        </p:nvSpPr>
        <p:spPr>
          <a:xfrm>
            <a:off x="4846320" y="1207008"/>
            <a:ext cx="3749040" cy="274320"/>
          </a:xfrm>
          <a:prstGeom prst="rect">
            <a:avLst/>
          </a:prstGeom>
          <a:noFill/>
          <a:ln/>
        </p:spPr>
        <p:txBody>
          <a:bodyPr wrap="square" lIns="0" tIns="0" rIns="0" bIns="0" rtlCol="0" anchor="t"/>
          <a:lstStyle/>
          <a:p>
            <a:pPr marL="0" indent="0">
              <a:buNone/>
            </a:pPr>
            <a:r>
              <a:rPr lang="en-US" sz="1350" b="1" dirty="0">
                <a:solidFill>
                  <a:srgbClr val="8C1D40"/>
                </a:solidFill>
                <a:latin typeface="Calibri" pitchFamily="34" charset="0"/>
                <a:ea typeface="Calibri" pitchFamily="34" charset="-122"/>
                <a:cs typeface="Calibri" pitchFamily="34" charset="-120"/>
              </a:rPr>
              <a:t>Priced for holiday homes</a:t>
            </a:r>
            <a:endParaRPr lang="en-US" sz="1350" dirty="0"/>
          </a:p>
        </p:txBody>
      </p:sp>
      <p:sp>
        <p:nvSpPr>
          <p:cNvPr id="11" name="Text 8"/>
          <p:cNvSpPr txBox="1"/>
          <p:nvPr/>
        </p:nvSpPr>
        <p:spPr>
          <a:xfrm>
            <a:off x="4846320" y="1490472"/>
            <a:ext cx="3749040" cy="36576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Vacancy and security are core actuarial inputs.</a:t>
            </a:r>
            <a:endParaRPr lang="en-US" sz="1150" dirty="0"/>
          </a:p>
        </p:txBody>
      </p:sp>
      <p:sp>
        <p:nvSpPr>
          <p:cNvPr id="12" name="Shape 9"/>
          <p:cNvSpPr/>
          <p:nvPr/>
        </p:nvSpPr>
        <p:spPr>
          <a:xfrm>
            <a:off x="4114800" y="1993392"/>
            <a:ext cx="4572000" cy="804672"/>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3" name="Shape 10"/>
          <p:cNvSpPr/>
          <p:nvPr/>
        </p:nvSpPr>
        <p:spPr>
          <a:xfrm>
            <a:off x="4224528" y="2176272"/>
            <a:ext cx="438912" cy="438912"/>
          </a:xfrm>
          <a:prstGeom prst="ellipse">
            <a:avLst/>
          </a:prstGeom>
          <a:solidFill>
            <a:srgbClr val="F7E8EE"/>
          </a:solidFill>
          <a:ln w="12700">
            <a:solidFill>
              <a:srgbClr val="F7E8EE"/>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4334256" y="2286000"/>
            <a:ext cx="219456" cy="219456"/>
          </a:xfrm>
          <a:prstGeom prst="rect">
            <a:avLst/>
          </a:prstGeom>
        </p:spPr>
      </p:pic>
      <p:sp>
        <p:nvSpPr>
          <p:cNvPr id="15" name="Text 11"/>
          <p:cNvSpPr txBox="1"/>
          <p:nvPr/>
        </p:nvSpPr>
        <p:spPr>
          <a:xfrm>
            <a:off x="4846320" y="2103120"/>
            <a:ext cx="3749040" cy="274320"/>
          </a:xfrm>
          <a:prstGeom prst="rect">
            <a:avLst/>
          </a:prstGeom>
          <a:noFill/>
          <a:ln/>
        </p:spPr>
        <p:txBody>
          <a:bodyPr wrap="square" lIns="0" tIns="0" rIns="0" bIns="0" rtlCol="0" anchor="t"/>
          <a:lstStyle/>
          <a:p>
            <a:pPr marL="0" indent="0">
              <a:buNone/>
            </a:pPr>
            <a:r>
              <a:rPr lang="en-US" sz="1350" b="1" dirty="0">
                <a:solidFill>
                  <a:srgbClr val="8C1D40"/>
                </a:solidFill>
                <a:latin typeface="Calibri" pitchFamily="34" charset="0"/>
                <a:ea typeface="Calibri" pitchFamily="34" charset="-122"/>
                <a:cs typeface="Calibri" pitchFamily="34" charset="-120"/>
              </a:rPr>
              <a:t>Zero claim leakage</a:t>
            </a:r>
            <a:endParaRPr lang="en-US" sz="1350" dirty="0"/>
          </a:p>
        </p:txBody>
      </p:sp>
      <p:sp>
        <p:nvSpPr>
          <p:cNvPr id="16" name="Text 12"/>
          <p:cNvSpPr txBox="1"/>
          <p:nvPr/>
        </p:nvSpPr>
        <p:spPr>
          <a:xfrm>
            <a:off x="4846320" y="2386584"/>
            <a:ext cx="3749040" cy="36576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Per-coverage ceilings enforced in code.</a:t>
            </a:r>
            <a:endParaRPr lang="en-US" sz="1150" dirty="0"/>
          </a:p>
        </p:txBody>
      </p:sp>
      <p:sp>
        <p:nvSpPr>
          <p:cNvPr id="17" name="Shape 13"/>
          <p:cNvSpPr/>
          <p:nvPr/>
        </p:nvSpPr>
        <p:spPr>
          <a:xfrm>
            <a:off x="4114800" y="2889504"/>
            <a:ext cx="4572000" cy="804672"/>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18" name="Shape 14"/>
          <p:cNvSpPr/>
          <p:nvPr/>
        </p:nvSpPr>
        <p:spPr>
          <a:xfrm>
            <a:off x="4224528" y="3072384"/>
            <a:ext cx="438912" cy="438912"/>
          </a:xfrm>
          <a:prstGeom prst="ellipse">
            <a:avLst/>
          </a:prstGeom>
          <a:solidFill>
            <a:srgbClr val="F7E8EE"/>
          </a:solidFill>
          <a:ln w="12700">
            <a:solidFill>
              <a:srgbClr val="F7E8EE"/>
            </a:solidFill>
            <a:prstDash val="solid"/>
          </a:ln>
        </p:spPr>
        <p:txBody>
          <a:bodyPr/>
          <a:lstStyle/>
          <a:p>
            <a:endParaRPr lang="en-IN"/>
          </a:p>
        </p:txBody>
      </p:sp>
      <p:pic>
        <p:nvPicPr>
          <p:cNvPr id="19" name="Image 2" descr="preencoded.png"/>
          <p:cNvPicPr>
            <a:picLocks noChangeAspect="1"/>
          </p:cNvPicPr>
          <p:nvPr/>
        </p:nvPicPr>
        <p:blipFill>
          <a:blip r:embed="rId5"/>
          <a:stretch>
            <a:fillRect/>
          </a:stretch>
        </p:blipFill>
        <p:spPr>
          <a:xfrm>
            <a:off x="4334256" y="3182112"/>
            <a:ext cx="219456" cy="219456"/>
          </a:xfrm>
          <a:prstGeom prst="rect">
            <a:avLst/>
          </a:prstGeom>
        </p:spPr>
      </p:pic>
      <p:sp>
        <p:nvSpPr>
          <p:cNvPr id="20" name="Text 15"/>
          <p:cNvSpPr txBox="1"/>
          <p:nvPr/>
        </p:nvSpPr>
        <p:spPr>
          <a:xfrm>
            <a:off x="4846320" y="2999232"/>
            <a:ext cx="3749040" cy="274320"/>
          </a:xfrm>
          <a:prstGeom prst="rect">
            <a:avLst/>
          </a:prstGeom>
          <a:noFill/>
          <a:ln/>
        </p:spPr>
        <p:txBody>
          <a:bodyPr wrap="square" lIns="0" tIns="0" rIns="0" bIns="0" rtlCol="0" anchor="t"/>
          <a:lstStyle/>
          <a:p>
            <a:pPr marL="0" indent="0">
              <a:buNone/>
            </a:pPr>
            <a:r>
              <a:rPr lang="en-US" sz="1350" b="1" dirty="0">
                <a:solidFill>
                  <a:srgbClr val="8C1D40"/>
                </a:solidFill>
                <a:latin typeface="Calibri" pitchFamily="34" charset="0"/>
                <a:ea typeface="Calibri" pitchFamily="34" charset="-122"/>
                <a:cs typeface="Calibri" pitchFamily="34" charset="-120"/>
              </a:rPr>
              <a:t>Governed AI</a:t>
            </a:r>
            <a:endParaRPr lang="en-US" sz="1350" dirty="0"/>
          </a:p>
        </p:txBody>
      </p:sp>
      <p:sp>
        <p:nvSpPr>
          <p:cNvPr id="21" name="Text 16"/>
          <p:cNvSpPr txBox="1"/>
          <p:nvPr/>
        </p:nvSpPr>
        <p:spPr>
          <a:xfrm>
            <a:off x="4846320" y="3282696"/>
            <a:ext cx="3749040" cy="36576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Gemini assists; humans decide.</a:t>
            </a:r>
            <a:endParaRPr lang="en-US" sz="1150" dirty="0"/>
          </a:p>
        </p:txBody>
      </p:sp>
      <p:sp>
        <p:nvSpPr>
          <p:cNvPr id="22" name="Shape 17"/>
          <p:cNvSpPr/>
          <p:nvPr/>
        </p:nvSpPr>
        <p:spPr>
          <a:xfrm>
            <a:off x="4114800" y="3785616"/>
            <a:ext cx="4572000" cy="804672"/>
          </a:xfrm>
          <a:prstGeom prst="rect">
            <a:avLst/>
          </a:prstGeom>
          <a:solidFill>
            <a:srgbClr val="FFFFFF"/>
          </a:solidFill>
          <a:ln w="9525">
            <a:solidFill>
              <a:srgbClr val="E3DADE"/>
            </a:solidFill>
            <a:prstDash val="solid"/>
          </a:ln>
          <a:effectLst>
            <a:outerShdw blurRad="76200" dist="19050" dir="5400000" algn="bl" rotWithShape="0">
              <a:srgbClr val="000000">
                <a:alpha val="10000"/>
              </a:srgbClr>
            </a:outerShdw>
          </a:effectLst>
        </p:spPr>
        <p:txBody>
          <a:bodyPr/>
          <a:lstStyle/>
          <a:p>
            <a:endParaRPr lang="en-IN"/>
          </a:p>
        </p:txBody>
      </p:sp>
      <p:sp>
        <p:nvSpPr>
          <p:cNvPr id="23" name="Shape 18"/>
          <p:cNvSpPr/>
          <p:nvPr/>
        </p:nvSpPr>
        <p:spPr>
          <a:xfrm>
            <a:off x="4224528" y="3968496"/>
            <a:ext cx="438912" cy="438912"/>
          </a:xfrm>
          <a:prstGeom prst="ellipse">
            <a:avLst/>
          </a:prstGeom>
          <a:solidFill>
            <a:srgbClr val="F7E8EE"/>
          </a:solidFill>
          <a:ln w="12700">
            <a:solidFill>
              <a:srgbClr val="F7E8EE"/>
            </a:solidFill>
            <a:prstDash val="solid"/>
          </a:ln>
        </p:spPr>
        <p:txBody>
          <a:bodyPr/>
          <a:lstStyle/>
          <a:p>
            <a:endParaRPr lang="en-IN"/>
          </a:p>
        </p:txBody>
      </p:sp>
      <p:pic>
        <p:nvPicPr>
          <p:cNvPr id="24" name="Image 3" descr="preencoded.png"/>
          <p:cNvPicPr>
            <a:picLocks noChangeAspect="1"/>
          </p:cNvPicPr>
          <p:nvPr/>
        </p:nvPicPr>
        <p:blipFill>
          <a:blip r:embed="rId6"/>
          <a:stretch>
            <a:fillRect/>
          </a:stretch>
        </p:blipFill>
        <p:spPr>
          <a:xfrm>
            <a:off x="4334256" y="4078224"/>
            <a:ext cx="219456" cy="219456"/>
          </a:xfrm>
          <a:prstGeom prst="rect">
            <a:avLst/>
          </a:prstGeom>
        </p:spPr>
      </p:pic>
      <p:sp>
        <p:nvSpPr>
          <p:cNvPr id="25" name="Text 19"/>
          <p:cNvSpPr txBox="1"/>
          <p:nvPr/>
        </p:nvSpPr>
        <p:spPr>
          <a:xfrm>
            <a:off x="4846320" y="3895344"/>
            <a:ext cx="3749040" cy="274320"/>
          </a:xfrm>
          <a:prstGeom prst="rect">
            <a:avLst/>
          </a:prstGeom>
          <a:noFill/>
          <a:ln/>
        </p:spPr>
        <p:txBody>
          <a:bodyPr wrap="square" lIns="0" tIns="0" rIns="0" bIns="0" rtlCol="0" anchor="t"/>
          <a:lstStyle/>
          <a:p>
            <a:pPr marL="0" indent="0">
              <a:buNone/>
            </a:pPr>
            <a:r>
              <a:rPr lang="en-US" sz="1350" b="1" dirty="0">
                <a:solidFill>
                  <a:srgbClr val="8C1D40"/>
                </a:solidFill>
                <a:latin typeface="Calibri" pitchFamily="34" charset="0"/>
                <a:ea typeface="Calibri" pitchFamily="34" charset="-122"/>
                <a:cs typeface="Calibri" pitchFamily="34" charset="-120"/>
              </a:rPr>
              <a:t>Resilient &amp; secure</a:t>
            </a:r>
            <a:endParaRPr lang="en-US" sz="1350" dirty="0"/>
          </a:p>
        </p:txBody>
      </p:sp>
      <p:sp>
        <p:nvSpPr>
          <p:cNvPr id="26" name="Text 20"/>
          <p:cNvSpPr txBox="1"/>
          <p:nvPr/>
        </p:nvSpPr>
        <p:spPr>
          <a:xfrm>
            <a:off x="4846320" y="4178808"/>
            <a:ext cx="3749040" cy="365760"/>
          </a:xfrm>
          <a:prstGeom prst="rect">
            <a:avLst/>
          </a:prstGeom>
          <a:noFill/>
          <a:ln/>
        </p:spPr>
        <p:txBody>
          <a:bodyPr wrap="square" lIns="0" tIns="0" rIns="0" bIns="0" rtlCol="0" anchor="t"/>
          <a:lstStyle/>
          <a:p>
            <a:pPr marL="0" indent="0">
              <a:buNone/>
            </a:pPr>
            <a:r>
              <a:rPr lang="en-US" sz="1150" dirty="0">
                <a:solidFill>
                  <a:srgbClr val="6B6467"/>
                </a:solidFill>
                <a:latin typeface="Calibri" pitchFamily="34" charset="0"/>
                <a:ea typeface="Calibri" pitchFamily="34" charset="-122"/>
                <a:cs typeface="Calibri" pitchFamily="34" charset="-120"/>
              </a:rPr>
              <a:t>Microservices, snapshots, zero-trust, fraud guards.</a:t>
            </a:r>
            <a:endParaRPr lang="en-US" sz="1150" dirty="0"/>
          </a:p>
        </p:txBody>
      </p:sp>
    </p:spTree>
  </p:cSld>
  <p:clrMapOvr>
    <a:masterClrMapping/>
  </p:clrMapOvr>
</p:sld>
</file>

<file path=ppt/theme/theme1.xml><?xml version="1.0" encoding="utf-8"?>
<a:theme xmlns:a="http://schemas.openxmlformats.org/drawingml/2006/main" name="VacationShield">
  <a:themeElements>
    <a:clrScheme name="VacationShield">
      <a:dk1>
        <a:srgbClr val="1F1A1C"/>
      </a:dk1>
      <a:lt1>
        <a:srgbClr val="FFFFFF"/>
      </a:lt1>
      <a:dk2>
        <a:srgbClr val="5E1230"/>
      </a:dk2>
      <a:lt2>
        <a:srgbClr val="F7F5F6"/>
      </a:lt2>
      <a:accent1>
        <a:srgbClr val="8C1D40"/>
      </a:accent1>
      <a:accent2>
        <a:srgbClr val="D6457A"/>
      </a:accent2>
      <a:accent3>
        <a:srgbClr val="8B3A1E"/>
      </a:accent3>
      <a:accent4>
        <a:srgbClr val="4A4A4A"/>
      </a:accent4>
      <a:accent5>
        <a:srgbClr val="3E6B2E"/>
      </a:accent5>
      <a:accent6>
        <a:srgbClr val="EBCFDA"/>
      </a:accent6>
      <a:hlink>
        <a:srgbClr val="8C1D40"/>
      </a:hlink>
      <a:folHlink>
        <a:srgbClr val="6B6467"/>
      </a:folHlink>
    </a:clrScheme>
    <a:fontScheme name="VacationSh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2305</Words>
  <Application>Microsoft Office PowerPoint</Application>
  <PresentationFormat>On-screen Show (16:9)</PresentationFormat>
  <Paragraphs>309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Cambria</vt:lpstr>
      <vt:lpstr>VacationShield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Vacation Home Insurance Platform</dc:title>
  <dc:subject>PptxGenJS Presentation</dc:subject>
  <dc:creator>PptxGenJS</dc:creator>
  <cp:lastModifiedBy>Venkata Swapanthi Bommidi</cp:lastModifiedBy>
  <cp:revision>2</cp:revision>
  <dcterms:created xsi:type="dcterms:W3CDTF">2026-10-26T19:21:11Z</dcterms:created>
  <dcterms:modified xsi:type="dcterms:W3CDTF">2026-10-26T19:39:37Z</dcterms:modified>
</cp:coreProperties>
</file>